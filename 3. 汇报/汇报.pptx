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8" r:id="rId2"/>
    <p:sldId id="260" r:id="rId3"/>
    <p:sldId id="259" r:id="rId4"/>
    <p:sldId id="270" r:id="rId5"/>
    <p:sldId id="303" r:id="rId6"/>
    <p:sldId id="304" r:id="rId7"/>
    <p:sldId id="305" r:id="rId8"/>
    <p:sldId id="273" r:id="rId9"/>
    <p:sldId id="276" r:id="rId10"/>
    <p:sldId id="277" r:id="rId11"/>
    <p:sldId id="278" r:id="rId12"/>
    <p:sldId id="279" r:id="rId13"/>
    <p:sldId id="281" r:id="rId14"/>
    <p:sldId id="280" r:id="rId15"/>
    <p:sldId id="263" r:id="rId16"/>
    <p:sldId id="282" r:id="rId17"/>
    <p:sldId id="284" r:id="rId18"/>
    <p:sldId id="285" r:id="rId19"/>
    <p:sldId id="286" r:id="rId20"/>
    <p:sldId id="287" r:id="rId21"/>
    <p:sldId id="261" r:id="rId22"/>
    <p:sldId id="288" r:id="rId23"/>
    <p:sldId id="289" r:id="rId24"/>
    <p:sldId id="295" r:id="rId25"/>
    <p:sldId id="291" r:id="rId26"/>
    <p:sldId id="294" r:id="rId27"/>
    <p:sldId id="293" r:id="rId28"/>
    <p:sldId id="292" r:id="rId29"/>
    <p:sldId id="262" r:id="rId30"/>
    <p:sldId id="296" r:id="rId31"/>
    <p:sldId id="301" r:id="rId32"/>
    <p:sldId id="300" r:id="rId33"/>
    <p:sldId id="302" r:id="rId34"/>
    <p:sldId id="297" r:id="rId35"/>
    <p:sldId id="298" r:id="rId36"/>
    <p:sldId id="299" r:id="rId37"/>
    <p:sldId id="271" r:id="rId3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19825"/>
    <a:srgbClr val="D55816"/>
    <a:srgbClr val="A5300F"/>
    <a:srgbClr val="CC0000"/>
    <a:srgbClr val="F99D0D"/>
    <a:srgbClr val="E60000"/>
    <a:srgbClr val="FF0000"/>
    <a:srgbClr val="FF5050"/>
    <a:srgbClr val="F2F2F2"/>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86" d="100"/>
          <a:sy n="86" d="100"/>
        </p:scale>
        <p:origin x="51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E75397F5-C23B-41E9-A487-6A65313438A6}" type="datetimeFigureOut">
              <a:rPr lang="zh-CN" altLang="en-US" smtClean="0"/>
              <a:t>2020/12/29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8DA4E9B-130C-4073-8B73-8EC4B3FDD8D4}"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75397F5-C23B-41E9-A487-6A65313438A6}" type="datetimeFigureOut">
              <a:rPr lang="zh-CN" altLang="en-US" smtClean="0"/>
              <a:t>2020/12/29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8DA4E9B-130C-4073-8B73-8EC4B3FDD8D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E75397F5-C23B-41E9-A487-6A65313438A6}" type="datetimeFigureOut">
              <a:rPr lang="zh-CN" altLang="en-US" smtClean="0"/>
              <a:t>2020/12/29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8DA4E9B-130C-4073-8B73-8EC4B3FDD8D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E75397F5-C23B-41E9-A487-6A65313438A6}" type="datetimeFigureOut">
              <a:rPr lang="zh-CN" altLang="en-US" smtClean="0"/>
              <a:t>2020/12/29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8DA4E9B-130C-4073-8B73-8EC4B3FDD8D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E75397F5-C23B-41E9-A487-6A65313438A6}" type="datetimeFigureOut">
              <a:rPr lang="zh-CN" altLang="en-US" smtClean="0"/>
              <a:t>2020/12/29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8DA4E9B-130C-4073-8B73-8EC4B3FDD8D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75397F5-C23B-41E9-A487-6A65313438A6}" type="datetimeFigureOut">
              <a:rPr lang="zh-CN" altLang="en-US" smtClean="0"/>
              <a:t>2020/12/29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8DA4E9B-130C-4073-8B73-8EC4B3FDD8D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75397F5-C23B-41E9-A487-6A65313438A6}" type="datetimeFigureOut">
              <a:rPr lang="zh-CN" altLang="en-US" smtClean="0"/>
              <a:t>2020/12/29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8DA4E9B-130C-4073-8B73-8EC4B3FDD8D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75397F5-C23B-41E9-A487-6A65313438A6}" type="datetimeFigureOut">
              <a:rPr lang="zh-CN" altLang="en-US" smtClean="0"/>
              <a:t>2020/12/29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8DA4E9B-130C-4073-8B73-8EC4B3FDD8D4}"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75397F5-C23B-41E9-A487-6A65313438A6}" type="datetimeFigureOut">
              <a:rPr lang="zh-CN" altLang="en-US" smtClean="0"/>
              <a:t>2020/12/29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8DA4E9B-130C-4073-8B73-8EC4B3FDD8D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75397F5-C23B-41E9-A487-6A65313438A6}" type="datetimeFigureOut">
              <a:rPr lang="zh-CN" altLang="en-US" smtClean="0"/>
              <a:t>2020/12/29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8DA4E9B-130C-4073-8B73-8EC4B3FDD8D4}"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75397F5-C23B-41E9-A487-6A65313438A6}" type="datetimeFigureOut">
              <a:rPr lang="zh-CN" altLang="en-US" smtClean="0"/>
              <a:t>2020/12/29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8DA4E9B-130C-4073-8B73-8EC4B3FDD8D4}"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5397F5-C23B-41E9-A487-6A65313438A6}" type="datetimeFigureOut">
              <a:rPr lang="zh-CN" altLang="en-US" smtClean="0"/>
              <a:t>2020/12/29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DA4E9B-130C-4073-8B73-8EC4B3FDD8D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5" Type="http://schemas.openxmlformats.org/officeDocument/2006/relationships/image" Target="../media/image13.jpe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图片 10" descr="图片包含 灯光, 橙子, 亮, 桌子&#10;&#10;描述已自动生成"/>
          <p:cNvPicPr>
            <a:picLocks noChangeAspect="1"/>
          </p:cNvPicPr>
          <p:nvPr/>
        </p:nvPicPr>
        <p:blipFill>
          <a:blip r:embed="rId2"/>
          <a:stretch>
            <a:fillRect/>
          </a:stretch>
        </p:blipFill>
        <p:spPr>
          <a:xfrm>
            <a:off x="0" y="0"/>
            <a:ext cx="12192000" cy="6313534"/>
          </a:xfrm>
          <a:prstGeom prst="rect">
            <a:avLst/>
          </a:prstGeom>
        </p:spPr>
      </p:pic>
      <p:sp>
        <p:nvSpPr>
          <p:cNvPr id="6" name="矩形 5"/>
          <p:cNvSpPr/>
          <p:nvPr/>
        </p:nvSpPr>
        <p:spPr>
          <a:xfrm>
            <a:off x="0" y="0"/>
            <a:ext cx="12192000" cy="6858000"/>
          </a:xfrm>
          <a:prstGeom prst="rect">
            <a:avLst/>
          </a:prstGeom>
          <a:gradFill flip="none" rotWithShape="1">
            <a:gsLst>
              <a:gs pos="0">
                <a:srgbClr val="CC0000">
                  <a:lumMod val="88000"/>
                  <a:lumOff val="12000"/>
                </a:srgbClr>
              </a:gs>
              <a:gs pos="49000">
                <a:srgbClr val="790033">
                  <a:alpha val="58000"/>
                </a:srgbClr>
              </a:gs>
              <a:gs pos="100000">
                <a:srgbClr val="000066">
                  <a:alpha val="54000"/>
                </a:srgbClr>
              </a:gs>
            </a:gsLst>
            <a:lin ang="135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pic>
        <p:nvPicPr>
          <p:cNvPr id="15" name="图片 14" descr="图片包含 游戏机, 蛋糕, 桌子, 食物&#10;&#10;描述已自动生成"/>
          <p:cNvPicPr>
            <a:picLocks noChangeAspect="1"/>
          </p:cNvPicPr>
          <p:nvPr/>
        </p:nvPicPr>
        <p:blipFill>
          <a:blip r:embed="rId3"/>
          <a:srcRect/>
          <a:stretch>
            <a:fillRect/>
          </a:stretch>
        </p:blipFill>
        <p:spPr>
          <a:xfrm>
            <a:off x="-235688" y="233680"/>
            <a:ext cx="12876027" cy="6624320"/>
          </a:xfrm>
          <a:custGeom>
            <a:avLst/>
            <a:gdLst>
              <a:gd name="connsiteX0" fmla="*/ 5897891 w 12876027"/>
              <a:gd name="connsiteY0" fmla="*/ 2222441 h 6624320"/>
              <a:gd name="connsiteX1" fmla="*/ 5897891 w 12876027"/>
              <a:gd name="connsiteY1" fmla="*/ 3540878 h 6624320"/>
              <a:gd name="connsiteX2" fmla="*/ 8132695 w 12876027"/>
              <a:gd name="connsiteY2" fmla="*/ 3540878 h 6624320"/>
              <a:gd name="connsiteX3" fmla="*/ 8132695 w 12876027"/>
              <a:gd name="connsiteY3" fmla="*/ 4315996 h 6624320"/>
              <a:gd name="connsiteX4" fmla="*/ 9751828 w 12876027"/>
              <a:gd name="connsiteY4" fmla="*/ 4315996 h 6624320"/>
              <a:gd name="connsiteX5" fmla="*/ 9751828 w 12876027"/>
              <a:gd name="connsiteY5" fmla="*/ 3188276 h 6624320"/>
              <a:gd name="connsiteX6" fmla="*/ 8242004 w 12876027"/>
              <a:gd name="connsiteY6" fmla="*/ 3188276 h 6624320"/>
              <a:gd name="connsiteX7" fmla="*/ 8242004 w 12876027"/>
              <a:gd name="connsiteY7" fmla="*/ 2222441 h 6624320"/>
              <a:gd name="connsiteX8" fmla="*/ 0 w 12876027"/>
              <a:gd name="connsiteY8" fmla="*/ 0 h 6624320"/>
              <a:gd name="connsiteX9" fmla="*/ 12876027 w 12876027"/>
              <a:gd name="connsiteY9" fmla="*/ 0 h 6624320"/>
              <a:gd name="connsiteX10" fmla="*/ 12876027 w 12876027"/>
              <a:gd name="connsiteY10" fmla="*/ 6624320 h 6624320"/>
              <a:gd name="connsiteX11" fmla="*/ 0 w 12876027"/>
              <a:gd name="connsiteY11" fmla="*/ 6624320 h 662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876027" h="6624320">
                <a:moveTo>
                  <a:pt x="5897891" y="2222441"/>
                </a:moveTo>
                <a:lnTo>
                  <a:pt x="5897891" y="3540878"/>
                </a:lnTo>
                <a:lnTo>
                  <a:pt x="8132695" y="3540878"/>
                </a:lnTo>
                <a:lnTo>
                  <a:pt x="8132695" y="4315996"/>
                </a:lnTo>
                <a:lnTo>
                  <a:pt x="9751828" y="4315996"/>
                </a:lnTo>
                <a:lnTo>
                  <a:pt x="9751828" y="3188276"/>
                </a:lnTo>
                <a:lnTo>
                  <a:pt x="8242004" y="3188276"/>
                </a:lnTo>
                <a:lnTo>
                  <a:pt x="8242004" y="2222441"/>
                </a:lnTo>
                <a:close/>
                <a:moveTo>
                  <a:pt x="0" y="0"/>
                </a:moveTo>
                <a:lnTo>
                  <a:pt x="12876027" y="0"/>
                </a:lnTo>
                <a:lnTo>
                  <a:pt x="12876027" y="6624320"/>
                </a:lnTo>
                <a:lnTo>
                  <a:pt x="0" y="6624320"/>
                </a:lnTo>
                <a:close/>
              </a:path>
            </a:pathLst>
          </a:custGeom>
        </p:spPr>
      </p:pic>
      <p:sp>
        <p:nvSpPr>
          <p:cNvPr id="16" name="文本框 15"/>
          <p:cNvSpPr txBox="1"/>
          <p:nvPr/>
        </p:nvSpPr>
        <p:spPr>
          <a:xfrm>
            <a:off x="725625" y="449784"/>
            <a:ext cx="1474763" cy="1769715"/>
          </a:xfrm>
          <a:prstGeom prst="rect">
            <a:avLst/>
          </a:prstGeom>
          <a:noFill/>
        </p:spPr>
        <p:txBody>
          <a:bodyPr wrap="none" lIns="0" tIns="0" rIns="0" bIns="0" rtlCol="0" anchor="ctr" anchorCtr="1">
            <a:spAutoFit/>
          </a:bodyPr>
          <a:lstStyle>
            <a:defPPr>
              <a:defRPr lang="zh-CN"/>
            </a:defPPr>
            <a:lvl1pPr>
              <a:defRPr sz="15000">
                <a:blipFill dpi="0" rotWithShape="1">
                  <a:blip r:embed="rId4"/>
                  <a:srcRect/>
                  <a:stretch>
                    <a:fillRect/>
                  </a:stretch>
                </a:blipFill>
                <a:effectLst>
                  <a:outerShdw blurRad="38100" dist="38100" dir="2700000" algn="tl">
                    <a:srgbClr val="000000">
                      <a:alpha val="43137"/>
                    </a:srgbClr>
                  </a:outerShdw>
                </a:effectLst>
                <a:latin typeface="中山行书百年纪念版" panose="02010609000101010101" pitchFamily="49" charset="-122"/>
                <a:ea typeface="长城行楷体" panose="02010609000101010101" pitchFamily="49" charset="-122"/>
              </a:defRPr>
            </a:lvl1pPr>
          </a:lstStyle>
          <a:p>
            <a:pPr lvl="0"/>
            <a:r>
              <a:rPr lang="zh-CN" altLang="en-US" sz="11500" dirty="0"/>
              <a:t>不</a:t>
            </a:r>
            <a:endParaRPr kumimoji="0" lang="zh-CN" altLang="en-US" sz="11500" b="0" i="0" u="none" strike="noStrike" kern="1200" cap="none" spc="0" normalizeH="0" baseline="0" noProof="0" dirty="0">
              <a:ln>
                <a:noFill/>
              </a:ln>
              <a:blipFill dpi="0" rotWithShape="1">
                <a:blip r:embed="rId4"/>
                <a:srcRect/>
                <a:stretch>
                  <a:fillRect/>
                </a:stretch>
              </a:blipFill>
              <a:effectLst>
                <a:outerShdw blurRad="38100" dist="38100" dir="2700000" algn="tl">
                  <a:srgbClr val="000000">
                    <a:alpha val="43137"/>
                  </a:srgbClr>
                </a:outerShdw>
              </a:effectLst>
              <a:uLnTx/>
              <a:uFillTx/>
              <a:latin typeface="中山行书百年纪念版" panose="02010609000101010101" pitchFamily="49" charset="-122"/>
              <a:ea typeface="长城行楷体" panose="02010609000101010101" pitchFamily="49" charset="-122"/>
              <a:cs typeface="+mn-cs"/>
            </a:endParaRPr>
          </a:p>
        </p:txBody>
      </p:sp>
      <p:sp>
        <p:nvSpPr>
          <p:cNvPr id="17" name="文本框 16"/>
          <p:cNvSpPr txBox="1"/>
          <p:nvPr/>
        </p:nvSpPr>
        <p:spPr>
          <a:xfrm>
            <a:off x="1801246" y="695484"/>
            <a:ext cx="1474763" cy="1769715"/>
          </a:xfrm>
          <a:prstGeom prst="rect">
            <a:avLst/>
          </a:prstGeom>
          <a:noFill/>
        </p:spPr>
        <p:txBody>
          <a:bodyPr wrap="none" lIns="0" tIns="0" rIns="0" bIns="0" rtlCol="0" anchor="ctr" anchorCtr="1">
            <a:spAutoFit/>
          </a:bodyPr>
          <a:lstStyle>
            <a:defPPr>
              <a:defRPr lang="zh-CN"/>
            </a:defPPr>
            <a:lvl1pPr>
              <a:defRPr sz="15000">
                <a:blipFill dpi="0" rotWithShape="1">
                  <a:blip r:embed="rId4"/>
                  <a:srcRect/>
                  <a:stretch>
                    <a:fillRect/>
                  </a:stretch>
                </a:blipFill>
                <a:effectLst>
                  <a:outerShdw blurRad="38100" dist="38100" dir="2700000" algn="tl">
                    <a:srgbClr val="000000">
                      <a:alpha val="43137"/>
                    </a:srgbClr>
                  </a:outerShdw>
                </a:effectLst>
                <a:latin typeface="中山行书百年纪念版" panose="02010609000101010101" pitchFamily="49" charset="-122"/>
                <a:ea typeface="长城行楷体" panose="02010609000101010101" pitchFamily="49" charset="-122"/>
              </a:defRPr>
            </a:lvl1pPr>
          </a:lstStyle>
          <a:p>
            <a:pPr lvl="0"/>
            <a:r>
              <a:rPr lang="zh-CN" altLang="en-US" sz="11500" dirty="0"/>
              <a:t>忘</a:t>
            </a:r>
            <a:endParaRPr kumimoji="0" lang="zh-CN" altLang="en-US" sz="11500" b="0" i="0" u="none" strike="noStrike" kern="1200" cap="none" spc="0" normalizeH="0" baseline="0" noProof="0" dirty="0">
              <a:ln>
                <a:noFill/>
              </a:ln>
              <a:blipFill dpi="0" rotWithShape="1">
                <a:blip r:embed="rId4"/>
                <a:srcRect/>
                <a:stretch>
                  <a:fillRect/>
                </a:stretch>
              </a:blipFill>
              <a:effectLst>
                <a:outerShdw blurRad="38100" dist="38100" dir="2700000" algn="tl">
                  <a:srgbClr val="000000">
                    <a:alpha val="43137"/>
                  </a:srgbClr>
                </a:outerShdw>
              </a:effectLst>
              <a:uLnTx/>
              <a:uFillTx/>
              <a:latin typeface="中山行书百年纪念版" panose="02010609000101010101" pitchFamily="49" charset="-122"/>
              <a:ea typeface="长城行楷体" panose="02010609000101010101" pitchFamily="49" charset="-122"/>
              <a:cs typeface="+mn-cs"/>
            </a:endParaRPr>
          </a:p>
        </p:txBody>
      </p:sp>
      <p:sp>
        <p:nvSpPr>
          <p:cNvPr id="18" name="文本框 17"/>
          <p:cNvSpPr txBox="1"/>
          <p:nvPr/>
        </p:nvSpPr>
        <p:spPr>
          <a:xfrm>
            <a:off x="2861411" y="272812"/>
            <a:ext cx="1769715" cy="2123658"/>
          </a:xfrm>
          <a:prstGeom prst="rect">
            <a:avLst/>
          </a:prstGeom>
          <a:noFill/>
        </p:spPr>
        <p:txBody>
          <a:bodyPr wrap="none" lIns="0" tIns="0" rIns="0" bIns="0" rtlCol="0" anchor="ctr" anchorCtr="1">
            <a:spAutoFit/>
          </a:bodyPr>
          <a:lstStyle>
            <a:defPPr>
              <a:defRPr lang="zh-CN"/>
            </a:defPPr>
            <a:lvl1pPr>
              <a:defRPr sz="15000">
                <a:blipFill dpi="0" rotWithShape="1">
                  <a:blip r:embed="rId4"/>
                  <a:srcRect/>
                  <a:stretch>
                    <a:fillRect/>
                  </a:stretch>
                </a:blipFill>
                <a:effectLst>
                  <a:outerShdw blurRad="38100" dist="38100" dir="2700000" algn="tl">
                    <a:srgbClr val="000000">
                      <a:alpha val="43137"/>
                    </a:srgbClr>
                  </a:outerShdw>
                </a:effectLst>
                <a:latin typeface="中山行书百年纪念版" panose="02010609000101010101" pitchFamily="49" charset="-122"/>
                <a:ea typeface="长城行楷体" panose="02010609000101010101" pitchFamily="49" charset="-122"/>
              </a:defRPr>
            </a:lvl1pPr>
          </a:lstStyle>
          <a:p>
            <a:pPr lvl="0"/>
            <a:r>
              <a:rPr lang="zh-CN" altLang="en-US" sz="13800" dirty="0"/>
              <a:t>初</a:t>
            </a:r>
            <a:endParaRPr kumimoji="0" lang="zh-CN" altLang="en-US" sz="13800" b="0" i="0" u="none" strike="noStrike" kern="1200" cap="none" spc="0" normalizeH="0" baseline="0" noProof="0" dirty="0">
              <a:ln>
                <a:noFill/>
              </a:ln>
              <a:blipFill dpi="0" rotWithShape="1">
                <a:blip r:embed="rId4"/>
                <a:srcRect/>
                <a:stretch>
                  <a:fillRect/>
                </a:stretch>
              </a:blipFill>
              <a:effectLst>
                <a:outerShdw blurRad="38100" dist="38100" dir="2700000" algn="tl">
                  <a:srgbClr val="000000">
                    <a:alpha val="43137"/>
                  </a:srgbClr>
                </a:outerShdw>
              </a:effectLst>
              <a:uLnTx/>
              <a:uFillTx/>
              <a:latin typeface="中山行书百年纪念版" panose="02010609000101010101" pitchFamily="49" charset="-122"/>
              <a:ea typeface="长城行楷体" panose="02010609000101010101" pitchFamily="49" charset="-122"/>
              <a:cs typeface="+mn-cs"/>
            </a:endParaRPr>
          </a:p>
        </p:txBody>
      </p:sp>
      <p:sp>
        <p:nvSpPr>
          <p:cNvPr id="19" name="文本框 18"/>
          <p:cNvSpPr txBox="1"/>
          <p:nvPr/>
        </p:nvSpPr>
        <p:spPr>
          <a:xfrm>
            <a:off x="4210881" y="807087"/>
            <a:ext cx="1474763" cy="1769715"/>
          </a:xfrm>
          <a:prstGeom prst="rect">
            <a:avLst/>
          </a:prstGeom>
          <a:noFill/>
        </p:spPr>
        <p:txBody>
          <a:bodyPr wrap="none" lIns="0" tIns="0" rIns="0" bIns="0" rtlCol="0" anchor="ctr" anchorCtr="1">
            <a:spAutoFit/>
          </a:bodyPr>
          <a:lstStyle>
            <a:defPPr>
              <a:defRPr lang="zh-CN"/>
            </a:defPPr>
            <a:lvl1pPr>
              <a:defRPr sz="15000">
                <a:blipFill dpi="0" rotWithShape="1">
                  <a:blip r:embed="rId4"/>
                  <a:srcRect/>
                  <a:stretch>
                    <a:fillRect/>
                  </a:stretch>
                </a:blipFill>
                <a:effectLst>
                  <a:outerShdw blurRad="38100" dist="38100" dir="2700000" algn="tl">
                    <a:srgbClr val="000000">
                      <a:alpha val="43137"/>
                    </a:srgbClr>
                  </a:outerShdw>
                </a:effectLst>
                <a:latin typeface="中山行书百年纪念版" panose="02010609000101010101" pitchFamily="49" charset="-122"/>
                <a:ea typeface="长城行楷体" panose="02010609000101010101" pitchFamily="49" charset="-122"/>
              </a:defRPr>
            </a:lvl1pPr>
          </a:lstStyle>
          <a:p>
            <a:pPr lvl="0"/>
            <a:r>
              <a:rPr lang="zh-CN" altLang="en-US" sz="11500" dirty="0"/>
              <a:t>心</a:t>
            </a:r>
            <a:endParaRPr kumimoji="0" lang="zh-CN" altLang="en-US" sz="11500" b="0" i="0" u="none" strike="noStrike" kern="1200" cap="none" spc="0" normalizeH="0" baseline="0" noProof="0" dirty="0">
              <a:ln>
                <a:noFill/>
              </a:ln>
              <a:blipFill dpi="0" rotWithShape="1">
                <a:blip r:embed="rId4"/>
                <a:srcRect/>
                <a:stretch>
                  <a:fillRect/>
                </a:stretch>
              </a:blipFill>
              <a:effectLst>
                <a:outerShdw blurRad="38100" dist="38100" dir="2700000" algn="tl">
                  <a:srgbClr val="000000">
                    <a:alpha val="43137"/>
                  </a:srgbClr>
                </a:outerShdw>
              </a:effectLst>
              <a:uLnTx/>
              <a:uFillTx/>
              <a:latin typeface="中山行书百年纪念版" panose="02010609000101010101" pitchFamily="49" charset="-122"/>
              <a:ea typeface="长城行楷体" panose="02010609000101010101" pitchFamily="49" charset="-122"/>
              <a:cs typeface="+mn-cs"/>
            </a:endParaRPr>
          </a:p>
        </p:txBody>
      </p:sp>
      <p:sp>
        <p:nvSpPr>
          <p:cNvPr id="25" name="文本框 24"/>
          <p:cNvSpPr txBox="1"/>
          <p:nvPr/>
        </p:nvSpPr>
        <p:spPr>
          <a:xfrm>
            <a:off x="5519194" y="695484"/>
            <a:ext cx="1769715" cy="2123658"/>
          </a:xfrm>
          <a:prstGeom prst="rect">
            <a:avLst/>
          </a:prstGeom>
          <a:noFill/>
        </p:spPr>
        <p:txBody>
          <a:bodyPr wrap="none" lIns="0" tIns="0" rIns="0" bIns="0" rtlCol="0" anchor="ctr" anchorCtr="1">
            <a:spAutoFit/>
          </a:bodyPr>
          <a:lstStyle>
            <a:defPPr>
              <a:defRPr lang="zh-CN"/>
            </a:defPPr>
            <a:lvl1pPr>
              <a:defRPr sz="15000">
                <a:blipFill dpi="0" rotWithShape="1">
                  <a:blip r:embed="rId4"/>
                  <a:srcRect/>
                  <a:stretch>
                    <a:fillRect/>
                  </a:stretch>
                </a:blipFill>
                <a:effectLst>
                  <a:outerShdw blurRad="38100" dist="38100" dir="2700000" algn="tl">
                    <a:srgbClr val="000000">
                      <a:alpha val="43137"/>
                    </a:srgbClr>
                  </a:outerShdw>
                </a:effectLst>
                <a:latin typeface="中山行书百年纪念版" panose="02010609000101010101" pitchFamily="49" charset="-122"/>
                <a:ea typeface="长城行楷体" panose="02010609000101010101" pitchFamily="49" charset="-122"/>
              </a:defRPr>
            </a:lvl1pPr>
          </a:lstStyle>
          <a:p>
            <a:pPr lvl="0"/>
            <a:r>
              <a:rPr lang="zh-CN" altLang="en-US" sz="13800" dirty="0"/>
              <a:t>牢</a:t>
            </a:r>
            <a:endParaRPr kumimoji="0" lang="zh-CN" altLang="en-US" sz="13800" b="0" i="0" u="none" strike="noStrike" kern="1200" cap="none" spc="0" normalizeH="0" baseline="0" noProof="0" dirty="0">
              <a:ln>
                <a:noFill/>
              </a:ln>
              <a:blipFill dpi="0" rotWithShape="1">
                <a:blip r:embed="rId4"/>
                <a:srcRect/>
                <a:stretch>
                  <a:fillRect/>
                </a:stretch>
              </a:blipFill>
              <a:effectLst>
                <a:outerShdw blurRad="38100" dist="38100" dir="2700000" algn="tl">
                  <a:srgbClr val="000000">
                    <a:alpha val="43137"/>
                  </a:srgbClr>
                </a:outerShdw>
              </a:effectLst>
              <a:uLnTx/>
              <a:uFillTx/>
              <a:latin typeface="中山行书百年纪念版" panose="02010609000101010101" pitchFamily="49" charset="-122"/>
              <a:ea typeface="长城行楷体" panose="02010609000101010101" pitchFamily="49" charset="-122"/>
              <a:cs typeface="+mn-cs"/>
            </a:endParaRPr>
          </a:p>
        </p:txBody>
      </p:sp>
      <p:sp>
        <p:nvSpPr>
          <p:cNvPr id="30" name="文本框 29"/>
          <p:cNvSpPr txBox="1"/>
          <p:nvPr/>
        </p:nvSpPr>
        <p:spPr>
          <a:xfrm>
            <a:off x="6540869" y="1410091"/>
            <a:ext cx="1474763" cy="1769715"/>
          </a:xfrm>
          <a:prstGeom prst="rect">
            <a:avLst/>
          </a:prstGeom>
          <a:noFill/>
        </p:spPr>
        <p:txBody>
          <a:bodyPr wrap="none" lIns="0" tIns="0" rIns="0" bIns="0" rtlCol="0" anchor="ctr" anchorCtr="1">
            <a:spAutoFit/>
          </a:bodyPr>
          <a:lstStyle>
            <a:defPPr>
              <a:defRPr lang="zh-CN"/>
            </a:defPPr>
            <a:lvl1pPr>
              <a:defRPr sz="15000">
                <a:blipFill dpi="0" rotWithShape="1">
                  <a:blip r:embed="rId4"/>
                  <a:srcRect/>
                  <a:stretch>
                    <a:fillRect/>
                  </a:stretch>
                </a:blipFill>
                <a:effectLst>
                  <a:outerShdw blurRad="38100" dist="38100" dir="2700000" algn="tl">
                    <a:srgbClr val="000000">
                      <a:alpha val="43137"/>
                    </a:srgbClr>
                  </a:outerShdw>
                </a:effectLst>
                <a:latin typeface="中山行书百年纪念版" panose="02010609000101010101" pitchFamily="49" charset="-122"/>
                <a:ea typeface="长城行楷体" panose="02010609000101010101" pitchFamily="49" charset="-122"/>
              </a:defRPr>
            </a:lvl1pPr>
          </a:lstStyle>
          <a:p>
            <a:pPr lvl="0"/>
            <a:r>
              <a:rPr lang="zh-CN" altLang="en-US" sz="11500" dirty="0"/>
              <a:t>记</a:t>
            </a:r>
            <a:endParaRPr kumimoji="0" lang="zh-CN" altLang="en-US" sz="11500" b="0" i="0" u="none" strike="noStrike" kern="1200" cap="none" spc="0" normalizeH="0" baseline="0" noProof="0" dirty="0">
              <a:ln>
                <a:noFill/>
              </a:ln>
              <a:blipFill dpi="0" rotWithShape="1">
                <a:blip r:embed="rId4"/>
                <a:srcRect/>
                <a:stretch>
                  <a:fillRect/>
                </a:stretch>
              </a:blipFill>
              <a:effectLst>
                <a:outerShdw blurRad="38100" dist="38100" dir="2700000" algn="tl">
                  <a:srgbClr val="000000">
                    <a:alpha val="43137"/>
                  </a:srgbClr>
                </a:outerShdw>
              </a:effectLst>
              <a:uLnTx/>
              <a:uFillTx/>
              <a:latin typeface="中山行书百年纪念版" panose="02010609000101010101" pitchFamily="49" charset="-122"/>
              <a:ea typeface="长城行楷体" panose="02010609000101010101" pitchFamily="49" charset="-122"/>
              <a:cs typeface="+mn-cs"/>
            </a:endParaRPr>
          </a:p>
        </p:txBody>
      </p:sp>
      <p:sp>
        <p:nvSpPr>
          <p:cNvPr id="32" name="文本框 31"/>
          <p:cNvSpPr txBox="1"/>
          <p:nvPr/>
        </p:nvSpPr>
        <p:spPr>
          <a:xfrm>
            <a:off x="7815406" y="1296164"/>
            <a:ext cx="1474763" cy="1769715"/>
          </a:xfrm>
          <a:prstGeom prst="rect">
            <a:avLst/>
          </a:prstGeom>
          <a:noFill/>
        </p:spPr>
        <p:txBody>
          <a:bodyPr wrap="none" lIns="0" tIns="0" rIns="0" bIns="0" rtlCol="0" anchor="ctr" anchorCtr="1">
            <a:spAutoFit/>
          </a:bodyPr>
          <a:lstStyle>
            <a:defPPr>
              <a:defRPr lang="zh-CN"/>
            </a:defPPr>
            <a:lvl1pPr>
              <a:defRPr sz="15000">
                <a:blipFill dpi="0" rotWithShape="1">
                  <a:blip r:embed="rId4"/>
                  <a:srcRect/>
                  <a:stretch>
                    <a:fillRect/>
                  </a:stretch>
                </a:blipFill>
                <a:effectLst>
                  <a:outerShdw blurRad="38100" dist="38100" dir="2700000" algn="tl">
                    <a:srgbClr val="000000">
                      <a:alpha val="43137"/>
                    </a:srgbClr>
                  </a:outerShdw>
                </a:effectLst>
                <a:latin typeface="中山行书百年纪念版" panose="02010609000101010101" pitchFamily="49" charset="-122"/>
                <a:ea typeface="长城行楷体" panose="02010609000101010101" pitchFamily="49" charset="-122"/>
              </a:defRPr>
            </a:lvl1pPr>
          </a:lstStyle>
          <a:p>
            <a:pPr lvl="0"/>
            <a:r>
              <a:rPr lang="zh-CN" altLang="en-US" sz="11500" dirty="0"/>
              <a:t>使</a:t>
            </a:r>
            <a:endParaRPr kumimoji="0" lang="zh-CN" altLang="en-US" sz="11500" b="0" i="0" u="none" strike="noStrike" kern="1200" cap="none" spc="0" normalizeH="0" baseline="0" noProof="0" dirty="0">
              <a:ln>
                <a:noFill/>
              </a:ln>
              <a:blipFill dpi="0" rotWithShape="1">
                <a:blip r:embed="rId4"/>
                <a:srcRect/>
                <a:stretch>
                  <a:fillRect/>
                </a:stretch>
              </a:blipFill>
              <a:effectLst>
                <a:outerShdw blurRad="38100" dist="38100" dir="2700000" algn="tl">
                  <a:srgbClr val="000000">
                    <a:alpha val="43137"/>
                  </a:srgbClr>
                </a:outerShdw>
              </a:effectLst>
              <a:uLnTx/>
              <a:uFillTx/>
              <a:latin typeface="中山行书百年纪念版" panose="02010609000101010101" pitchFamily="49" charset="-122"/>
              <a:ea typeface="长城行楷体" panose="02010609000101010101" pitchFamily="49" charset="-122"/>
              <a:cs typeface="+mn-cs"/>
            </a:endParaRPr>
          </a:p>
        </p:txBody>
      </p:sp>
      <p:sp>
        <p:nvSpPr>
          <p:cNvPr id="33" name="文本框 32"/>
          <p:cNvSpPr txBox="1"/>
          <p:nvPr/>
        </p:nvSpPr>
        <p:spPr>
          <a:xfrm>
            <a:off x="8869297" y="1493044"/>
            <a:ext cx="1474763" cy="1769715"/>
          </a:xfrm>
          <a:prstGeom prst="rect">
            <a:avLst/>
          </a:prstGeom>
          <a:noFill/>
        </p:spPr>
        <p:txBody>
          <a:bodyPr wrap="none" lIns="0" tIns="0" rIns="0" bIns="0" rtlCol="0" anchor="ctr" anchorCtr="1">
            <a:spAutoFit/>
          </a:bodyPr>
          <a:lstStyle>
            <a:defPPr>
              <a:defRPr lang="zh-CN"/>
            </a:defPPr>
            <a:lvl1pPr>
              <a:defRPr sz="15000">
                <a:blipFill dpi="0" rotWithShape="1">
                  <a:blip r:embed="rId4"/>
                  <a:srcRect/>
                  <a:stretch>
                    <a:fillRect/>
                  </a:stretch>
                </a:blipFill>
                <a:effectLst>
                  <a:outerShdw blurRad="38100" dist="38100" dir="2700000" algn="tl">
                    <a:srgbClr val="000000">
                      <a:alpha val="43137"/>
                    </a:srgbClr>
                  </a:outerShdw>
                </a:effectLst>
                <a:latin typeface="中山行书百年纪念版" panose="02010609000101010101" pitchFamily="49" charset="-122"/>
                <a:ea typeface="长城行楷体" panose="02010609000101010101" pitchFamily="49" charset="-122"/>
              </a:defRPr>
            </a:lvl1pPr>
          </a:lstStyle>
          <a:p>
            <a:pPr lvl="0"/>
            <a:r>
              <a:rPr lang="zh-CN" altLang="en-US" sz="11500" dirty="0"/>
              <a:t>命</a:t>
            </a:r>
            <a:endParaRPr kumimoji="0" lang="zh-CN" altLang="en-US" sz="11500" b="0" i="0" u="none" strike="noStrike" kern="1200" cap="none" spc="0" normalizeH="0" baseline="0" noProof="0" dirty="0">
              <a:ln>
                <a:noFill/>
              </a:ln>
              <a:blipFill dpi="0" rotWithShape="1">
                <a:blip r:embed="rId4"/>
                <a:srcRect/>
                <a:stretch>
                  <a:fillRect/>
                </a:stretch>
              </a:blipFill>
              <a:effectLst>
                <a:outerShdw blurRad="38100" dist="38100" dir="2700000" algn="tl">
                  <a:srgbClr val="000000">
                    <a:alpha val="43137"/>
                  </a:srgbClr>
                </a:outerShdw>
              </a:effectLst>
              <a:uLnTx/>
              <a:uFillTx/>
              <a:latin typeface="中山行书百年纪念版" panose="02010609000101010101" pitchFamily="49" charset="-122"/>
              <a:ea typeface="长城行楷体" panose="02010609000101010101" pitchFamily="49" charset="-122"/>
              <a:cs typeface="+mn-cs"/>
            </a:endParaRPr>
          </a:p>
        </p:txBody>
      </p:sp>
      <p:pic>
        <p:nvPicPr>
          <p:cNvPr id="9" name="图片 8" descr="电脑萤幕画面&#10;&#10;描述已自动生成"/>
          <p:cNvPicPr>
            <a:picLocks noChangeAspect="1"/>
          </p:cNvPicPr>
          <p:nvPr/>
        </p:nvPicPr>
        <p:blipFill>
          <a:blip r:embed="rId5"/>
          <a:stretch>
            <a:fillRect/>
          </a:stretch>
        </p:blipFill>
        <p:spPr>
          <a:xfrm flipH="1">
            <a:off x="453352" y="2532478"/>
            <a:ext cx="7098806" cy="1066802"/>
          </a:xfrm>
          <a:prstGeom prst="rect">
            <a:avLst/>
          </a:prstGeom>
        </p:spPr>
      </p:pic>
      <p:sp>
        <p:nvSpPr>
          <p:cNvPr id="10" name="文本框 9"/>
          <p:cNvSpPr txBox="1"/>
          <p:nvPr/>
        </p:nvSpPr>
        <p:spPr>
          <a:xfrm>
            <a:off x="1144236" y="2742713"/>
            <a:ext cx="3102764" cy="645160"/>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爱国教育活动</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图片包含 游戏机, 红色, 船, 桌子&#10;&#10;描述已自动生成"/>
          <p:cNvPicPr>
            <a:picLocks noChangeAspect="1"/>
          </p:cNvPicPr>
          <p:nvPr/>
        </p:nvPicPr>
        <p:blipFill rotWithShape="1">
          <a:blip r:embed="rId2"/>
          <a:srcRect l="-32769"/>
          <a:stretch>
            <a:fillRect/>
          </a:stretch>
        </p:blipFill>
        <p:spPr>
          <a:xfrm>
            <a:off x="-4072270" y="0"/>
            <a:ext cx="16264270" cy="6971635"/>
          </a:xfrm>
          <a:prstGeom prst="rect">
            <a:avLst/>
          </a:prstGeom>
        </p:spPr>
      </p:pic>
      <p:pic>
        <p:nvPicPr>
          <p:cNvPr id="3" name="图片 2"/>
          <p:cNvPicPr>
            <a:picLocks noChangeAspect="1"/>
          </p:cNvPicPr>
          <p:nvPr/>
        </p:nvPicPr>
        <p:blipFill>
          <a:blip r:embed="rId3"/>
          <a:stretch>
            <a:fillRect/>
          </a:stretch>
        </p:blipFill>
        <p:spPr>
          <a:xfrm>
            <a:off x="4313112" y="1579769"/>
            <a:ext cx="928737" cy="944087"/>
          </a:xfrm>
          <a:prstGeom prst="rect">
            <a:avLst/>
          </a:prstGeom>
        </p:spPr>
      </p:pic>
      <p:pic>
        <p:nvPicPr>
          <p:cNvPr id="7" name="图片 6" descr="图片包含 游戏机&#10;&#10;描述已自动生成"/>
          <p:cNvPicPr>
            <a:picLocks noChangeAspect="1"/>
          </p:cNvPicPr>
          <p:nvPr/>
        </p:nvPicPr>
        <p:blipFill>
          <a:blip r:embed="rId4">
            <a:biLevel thresh="25000"/>
          </a:blip>
          <a:stretch>
            <a:fillRect/>
          </a:stretch>
        </p:blipFill>
        <p:spPr>
          <a:xfrm>
            <a:off x="4406313" y="1647473"/>
            <a:ext cx="742334" cy="742334"/>
          </a:xfrm>
          <a:prstGeom prst="rect">
            <a:avLst/>
          </a:prstGeom>
        </p:spPr>
      </p:pic>
      <p:pic>
        <p:nvPicPr>
          <p:cNvPr id="10" name="图片 9"/>
          <p:cNvPicPr>
            <a:picLocks noChangeAspect="1"/>
          </p:cNvPicPr>
          <p:nvPr/>
        </p:nvPicPr>
        <p:blipFill>
          <a:blip r:embed="rId3"/>
          <a:stretch>
            <a:fillRect/>
          </a:stretch>
        </p:blipFill>
        <p:spPr>
          <a:xfrm>
            <a:off x="4313112" y="3528281"/>
            <a:ext cx="928737" cy="944087"/>
          </a:xfrm>
          <a:prstGeom prst="rect">
            <a:avLst/>
          </a:prstGeom>
        </p:spPr>
      </p:pic>
      <p:pic>
        <p:nvPicPr>
          <p:cNvPr id="11" name="图片 10" descr="图片包含 游戏机&#10;&#10;描述已自动生成"/>
          <p:cNvPicPr>
            <a:picLocks noChangeAspect="1"/>
          </p:cNvPicPr>
          <p:nvPr/>
        </p:nvPicPr>
        <p:blipFill>
          <a:blip r:embed="rId4">
            <a:biLevel thresh="25000"/>
          </a:blip>
          <a:stretch>
            <a:fillRect/>
          </a:stretch>
        </p:blipFill>
        <p:spPr>
          <a:xfrm>
            <a:off x="4406313" y="3595985"/>
            <a:ext cx="742334" cy="742334"/>
          </a:xfrm>
          <a:prstGeom prst="rect">
            <a:avLst/>
          </a:prstGeom>
        </p:spPr>
      </p:pic>
      <p:pic>
        <p:nvPicPr>
          <p:cNvPr id="13" name="图片 12" descr="图片包含 日落, 飞行, 鸟, 飞机&#10;&#10;描述已自动生成"/>
          <p:cNvPicPr>
            <a:picLocks noChangeAspect="1"/>
          </p:cNvPicPr>
          <p:nvPr/>
        </p:nvPicPr>
        <p:blipFill>
          <a:blip r:embed="rId5"/>
          <a:stretch>
            <a:fillRect/>
          </a:stretch>
        </p:blipFill>
        <p:spPr>
          <a:xfrm>
            <a:off x="5124368" y="0"/>
            <a:ext cx="3215626" cy="928063"/>
          </a:xfrm>
          <a:prstGeom prst="rect">
            <a:avLst/>
          </a:prstGeom>
        </p:spPr>
      </p:pic>
      <p:pic>
        <p:nvPicPr>
          <p:cNvPr id="14" name="图片 13"/>
          <p:cNvPicPr>
            <a:picLocks noChangeAspect="1"/>
          </p:cNvPicPr>
          <p:nvPr/>
        </p:nvPicPr>
        <p:blipFill>
          <a:blip r:embed="rId3"/>
          <a:stretch>
            <a:fillRect/>
          </a:stretch>
        </p:blipFill>
        <p:spPr>
          <a:xfrm>
            <a:off x="8229177" y="1578645"/>
            <a:ext cx="928737" cy="944087"/>
          </a:xfrm>
          <a:prstGeom prst="rect">
            <a:avLst/>
          </a:prstGeom>
        </p:spPr>
      </p:pic>
      <p:pic>
        <p:nvPicPr>
          <p:cNvPr id="15" name="图片 14" descr="图片包含 游戏机&#10;&#10;描述已自动生成"/>
          <p:cNvPicPr>
            <a:picLocks noChangeAspect="1"/>
          </p:cNvPicPr>
          <p:nvPr/>
        </p:nvPicPr>
        <p:blipFill>
          <a:blip r:embed="rId4">
            <a:biLevel thresh="25000"/>
          </a:blip>
          <a:stretch>
            <a:fillRect/>
          </a:stretch>
        </p:blipFill>
        <p:spPr>
          <a:xfrm>
            <a:off x="8322378" y="1646349"/>
            <a:ext cx="742334" cy="742334"/>
          </a:xfrm>
          <a:prstGeom prst="rect">
            <a:avLst/>
          </a:prstGeom>
        </p:spPr>
      </p:pic>
      <p:pic>
        <p:nvPicPr>
          <p:cNvPr id="16" name="图片 15"/>
          <p:cNvPicPr>
            <a:picLocks noChangeAspect="1"/>
          </p:cNvPicPr>
          <p:nvPr/>
        </p:nvPicPr>
        <p:blipFill>
          <a:blip r:embed="rId3"/>
          <a:stretch>
            <a:fillRect/>
          </a:stretch>
        </p:blipFill>
        <p:spPr>
          <a:xfrm>
            <a:off x="8229177" y="3528281"/>
            <a:ext cx="928737" cy="944087"/>
          </a:xfrm>
          <a:prstGeom prst="rect">
            <a:avLst/>
          </a:prstGeom>
        </p:spPr>
      </p:pic>
      <p:pic>
        <p:nvPicPr>
          <p:cNvPr id="17" name="图片 16" descr="图片包含 游戏机&#10;&#10;描述已自动生成"/>
          <p:cNvPicPr>
            <a:picLocks noChangeAspect="1"/>
          </p:cNvPicPr>
          <p:nvPr/>
        </p:nvPicPr>
        <p:blipFill>
          <a:blip r:embed="rId4">
            <a:biLevel thresh="25000"/>
          </a:blip>
          <a:stretch>
            <a:fillRect/>
          </a:stretch>
        </p:blipFill>
        <p:spPr>
          <a:xfrm>
            <a:off x="8322378" y="3595985"/>
            <a:ext cx="742334" cy="742334"/>
          </a:xfrm>
          <a:prstGeom prst="rect">
            <a:avLst/>
          </a:prstGeom>
        </p:spPr>
      </p:pic>
      <p:sp>
        <p:nvSpPr>
          <p:cNvPr id="12" name="文本框 11"/>
          <p:cNvSpPr txBox="1"/>
          <p:nvPr/>
        </p:nvSpPr>
        <p:spPr>
          <a:xfrm>
            <a:off x="6096000" y="140865"/>
            <a:ext cx="1607842"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目录</a:t>
            </a:r>
          </a:p>
        </p:txBody>
      </p:sp>
      <p:sp>
        <p:nvSpPr>
          <p:cNvPr id="18" name="文本框 17"/>
          <p:cNvSpPr txBox="1"/>
          <p:nvPr/>
        </p:nvSpPr>
        <p:spPr>
          <a:xfrm>
            <a:off x="5420911" y="1564983"/>
            <a:ext cx="3737003" cy="584775"/>
          </a:xfrm>
          <a:prstGeom prst="rect">
            <a:avLst/>
          </a:prstGeom>
          <a:noFill/>
        </p:spPr>
        <p:txBody>
          <a:bodyPr wrap="square" rtlCol="0">
            <a:spAutoFit/>
          </a:bodyPr>
          <a:lstStyle/>
          <a:p>
            <a:r>
              <a:rPr lang="zh-CN" altLang="en-US" sz="3200" dirty="0">
                <a:solidFill>
                  <a:srgbClr val="C7000B"/>
                </a:solidFill>
                <a:latin typeface="汉仪菱心体简" panose="02010609000101010101" pitchFamily="49" charset="-122"/>
                <a:ea typeface="汉仪菱心体简" panose="02010609000101010101" pitchFamily="49" charset="-122"/>
              </a:rPr>
              <a:t>第一部分</a:t>
            </a:r>
          </a:p>
        </p:txBody>
      </p:sp>
      <p:sp>
        <p:nvSpPr>
          <p:cNvPr id="19" name="文本框 18"/>
          <p:cNvSpPr txBox="1"/>
          <p:nvPr/>
        </p:nvSpPr>
        <p:spPr>
          <a:xfrm>
            <a:off x="9336976" y="1564982"/>
            <a:ext cx="3737003" cy="584775"/>
          </a:xfrm>
          <a:prstGeom prst="rect">
            <a:avLst/>
          </a:prstGeom>
          <a:noFill/>
        </p:spPr>
        <p:txBody>
          <a:bodyPr wrap="square" rtlCol="0">
            <a:spAutoFit/>
          </a:bodyPr>
          <a:lstStyle/>
          <a:p>
            <a:r>
              <a:rPr lang="zh-CN" altLang="en-US" sz="3200" dirty="0">
                <a:solidFill>
                  <a:srgbClr val="C7000B"/>
                </a:solidFill>
                <a:latin typeface="汉仪菱心体简" panose="02010609000101010101" pitchFamily="49" charset="-122"/>
                <a:ea typeface="汉仪菱心体简" panose="02010609000101010101" pitchFamily="49" charset="-122"/>
              </a:rPr>
              <a:t>第二部分</a:t>
            </a:r>
          </a:p>
        </p:txBody>
      </p:sp>
      <p:sp>
        <p:nvSpPr>
          <p:cNvPr id="20" name="文本框 19"/>
          <p:cNvSpPr txBox="1"/>
          <p:nvPr/>
        </p:nvSpPr>
        <p:spPr>
          <a:xfrm>
            <a:off x="5420911" y="3479978"/>
            <a:ext cx="3737003" cy="584775"/>
          </a:xfrm>
          <a:prstGeom prst="rect">
            <a:avLst/>
          </a:prstGeom>
          <a:noFill/>
        </p:spPr>
        <p:txBody>
          <a:bodyPr wrap="square" rtlCol="0">
            <a:spAutoFit/>
          </a:bodyPr>
          <a:lstStyle/>
          <a:p>
            <a:r>
              <a:rPr lang="zh-CN" altLang="en-US" sz="3200" dirty="0">
                <a:solidFill>
                  <a:srgbClr val="C7000B"/>
                </a:solidFill>
                <a:latin typeface="汉仪菱心体简" panose="02010609000101010101" pitchFamily="49" charset="-122"/>
                <a:ea typeface="汉仪菱心体简" panose="02010609000101010101" pitchFamily="49" charset="-122"/>
              </a:rPr>
              <a:t>第三部分</a:t>
            </a:r>
          </a:p>
        </p:txBody>
      </p:sp>
      <p:sp>
        <p:nvSpPr>
          <p:cNvPr id="21" name="文本框 20"/>
          <p:cNvSpPr txBox="1"/>
          <p:nvPr/>
        </p:nvSpPr>
        <p:spPr>
          <a:xfrm>
            <a:off x="9336976" y="3479977"/>
            <a:ext cx="3737003" cy="584775"/>
          </a:xfrm>
          <a:prstGeom prst="rect">
            <a:avLst/>
          </a:prstGeom>
          <a:noFill/>
        </p:spPr>
        <p:txBody>
          <a:bodyPr wrap="square" rtlCol="0">
            <a:spAutoFit/>
          </a:bodyPr>
          <a:lstStyle/>
          <a:p>
            <a:r>
              <a:rPr lang="zh-CN" altLang="en-US" sz="3200" dirty="0">
                <a:solidFill>
                  <a:srgbClr val="C7000B"/>
                </a:solidFill>
                <a:latin typeface="汉仪菱心体简" panose="02010609000101010101" pitchFamily="49" charset="-122"/>
                <a:ea typeface="汉仪菱心体简" panose="02010609000101010101" pitchFamily="49" charset="-122"/>
              </a:rPr>
              <a:t>第四部分</a:t>
            </a:r>
          </a:p>
        </p:txBody>
      </p:sp>
      <p:sp>
        <p:nvSpPr>
          <p:cNvPr id="4" name="文本框 3"/>
          <p:cNvSpPr txBox="1"/>
          <p:nvPr/>
        </p:nvSpPr>
        <p:spPr>
          <a:xfrm>
            <a:off x="5456393" y="2122874"/>
            <a:ext cx="2409223" cy="398780"/>
          </a:xfrm>
          <a:prstGeom prst="rect">
            <a:avLst/>
          </a:prstGeom>
          <a:noFill/>
        </p:spPr>
        <p:txBody>
          <a:bodyPr wrap="square" rtlCol="0">
            <a:spAutoFit/>
          </a:bodyPr>
          <a:lstStyle/>
          <a:p>
            <a:r>
              <a:rPr lang="zh-CN" altLang="en-US" sz="2000" dirty="0">
                <a:latin typeface="阿里巴巴普惠体 M" panose="00020600040101010101" pitchFamily="18" charset="-122"/>
                <a:ea typeface="阿里巴巴普惠体 M" panose="00020600040101010101" pitchFamily="18" charset="-122"/>
                <a:cs typeface="阿里巴巴普惠体 M" panose="00020600040101010101" pitchFamily="18" charset="-122"/>
              </a:rPr>
              <a:t>大国担当</a:t>
            </a:r>
          </a:p>
        </p:txBody>
      </p:sp>
      <p:sp>
        <p:nvSpPr>
          <p:cNvPr id="23" name="文本框 22"/>
          <p:cNvSpPr txBox="1"/>
          <p:nvPr/>
        </p:nvSpPr>
        <p:spPr>
          <a:xfrm>
            <a:off x="9372458" y="2122622"/>
            <a:ext cx="2097492" cy="398780"/>
          </a:xfrm>
          <a:prstGeom prst="rect">
            <a:avLst/>
          </a:prstGeom>
          <a:noFill/>
        </p:spPr>
        <p:txBody>
          <a:bodyPr wrap="square" rtlCol="0">
            <a:spAutoFit/>
          </a:bodyPr>
          <a:lstStyle/>
          <a:p>
            <a:r>
              <a:rPr lang="zh-CN" altLang="en-US" sz="2000" dirty="0">
                <a:latin typeface="阿里巴巴普惠体 M" panose="00020600040101010101" pitchFamily="18" charset="-122"/>
                <a:ea typeface="阿里巴巴普惠体 M" panose="00020600040101010101" pitchFamily="18" charset="-122"/>
                <a:cs typeface="阿里巴巴普惠体 M" panose="00020600040101010101" pitchFamily="18" charset="-122"/>
              </a:rPr>
              <a:t>制度优势</a:t>
            </a:r>
          </a:p>
        </p:txBody>
      </p:sp>
      <p:sp>
        <p:nvSpPr>
          <p:cNvPr id="24" name="文本框 23"/>
          <p:cNvSpPr txBox="1"/>
          <p:nvPr/>
        </p:nvSpPr>
        <p:spPr>
          <a:xfrm>
            <a:off x="9372458" y="4035794"/>
            <a:ext cx="2354944" cy="400110"/>
          </a:xfrm>
          <a:prstGeom prst="rect">
            <a:avLst/>
          </a:prstGeom>
          <a:noFill/>
        </p:spPr>
        <p:txBody>
          <a:bodyPr wrap="square" rtlCol="0">
            <a:spAutoFit/>
          </a:bodyPr>
          <a:lstStyle/>
          <a:p>
            <a:r>
              <a:rPr lang="zh-CN" altLang="en-US" sz="2000" dirty="0">
                <a:latin typeface="阿里巴巴普惠体 M" panose="00020600040101010101" pitchFamily="18" charset="-122"/>
                <a:ea typeface="阿里巴巴普惠体 M" panose="00020600040101010101" pitchFamily="18" charset="-122"/>
                <a:cs typeface="阿里巴巴普惠体 M" panose="00020600040101010101" pitchFamily="18" charset="-122"/>
              </a:rPr>
              <a:t>今天如何爱国</a:t>
            </a:r>
          </a:p>
        </p:txBody>
      </p:sp>
      <p:sp>
        <p:nvSpPr>
          <p:cNvPr id="25" name="文本框 24"/>
          <p:cNvSpPr txBox="1"/>
          <p:nvPr/>
        </p:nvSpPr>
        <p:spPr>
          <a:xfrm>
            <a:off x="5420934" y="4064752"/>
            <a:ext cx="2409223" cy="398780"/>
          </a:xfrm>
          <a:prstGeom prst="rect">
            <a:avLst/>
          </a:prstGeom>
          <a:noFill/>
        </p:spPr>
        <p:txBody>
          <a:bodyPr wrap="square" rtlCol="0">
            <a:spAutoFit/>
          </a:bodyPr>
          <a:lstStyle/>
          <a:p>
            <a:r>
              <a:rPr lang="zh-CN" altLang="en-US" sz="2000" dirty="0">
                <a:latin typeface="阿里巴巴普惠体 M" panose="00020600040101010101" pitchFamily="18" charset="-122"/>
                <a:ea typeface="阿里巴巴普惠体 M" panose="00020600040101010101" pitchFamily="18" charset="-122"/>
                <a:cs typeface="阿里巴巴普惠体 M" panose="00020600040101010101" pitchFamily="18" charset="-122"/>
              </a:rPr>
              <a:t>捍卫国家主权</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图片包含 游戏机, 红色, 船, 桌子&#10;&#10;描述已自动生成"/>
          <p:cNvPicPr>
            <a:picLocks noChangeAspect="1"/>
          </p:cNvPicPr>
          <p:nvPr/>
        </p:nvPicPr>
        <p:blipFill rotWithShape="1">
          <a:blip r:embed="rId2"/>
          <a:srcRect l="-32769"/>
          <a:stretch>
            <a:fillRect/>
          </a:stretch>
        </p:blipFill>
        <p:spPr>
          <a:xfrm>
            <a:off x="-4072270" y="0"/>
            <a:ext cx="16264270" cy="6971635"/>
          </a:xfrm>
          <a:prstGeom prst="rect">
            <a:avLst/>
          </a:prstGeom>
        </p:spPr>
      </p:pic>
      <p:sp>
        <p:nvSpPr>
          <p:cNvPr id="4" name="文本框 3"/>
          <p:cNvSpPr txBox="1"/>
          <p:nvPr/>
        </p:nvSpPr>
        <p:spPr>
          <a:xfrm>
            <a:off x="4059865" y="1245387"/>
            <a:ext cx="1031051" cy="1107996"/>
          </a:xfrm>
          <a:prstGeom prst="rect">
            <a:avLst/>
          </a:prstGeom>
          <a:noFill/>
        </p:spPr>
        <p:txBody>
          <a:bodyPr wrap="none" rtlCol="0">
            <a:spAutoFit/>
          </a:bodyPr>
          <a:lstStyle/>
          <a:p>
            <a:r>
              <a:rPr lang="zh-CN" altLang="en-US" sz="6600">
                <a:solidFill>
                  <a:srgbClr val="C7000B"/>
                </a:solidFill>
                <a:latin typeface="汉仪菱心体简" panose="02010609000101010101" pitchFamily="49" charset="-122"/>
                <a:ea typeface="汉仪菱心体简" panose="02010609000101010101" pitchFamily="49" charset="-122"/>
              </a:rPr>
              <a:t>第</a:t>
            </a:r>
            <a:endParaRPr lang="zh-CN" altLang="en-US" sz="6600" dirty="0">
              <a:solidFill>
                <a:srgbClr val="C7000B"/>
              </a:solidFill>
              <a:latin typeface="汉仪菱心体简" panose="02010609000101010101" pitchFamily="49" charset="-122"/>
              <a:ea typeface="汉仪菱心体简" panose="02010609000101010101" pitchFamily="49" charset="-122"/>
            </a:endParaRPr>
          </a:p>
        </p:txBody>
      </p:sp>
      <p:sp>
        <p:nvSpPr>
          <p:cNvPr id="6" name="文本框 5"/>
          <p:cNvSpPr txBox="1"/>
          <p:nvPr/>
        </p:nvSpPr>
        <p:spPr>
          <a:xfrm>
            <a:off x="4898065" y="1245387"/>
            <a:ext cx="184731" cy="1107996"/>
          </a:xfrm>
          <a:prstGeom prst="rect">
            <a:avLst/>
          </a:prstGeom>
          <a:noFill/>
        </p:spPr>
        <p:txBody>
          <a:bodyPr wrap="none" rtlCol="0">
            <a:spAutoFit/>
          </a:bodyPr>
          <a:lstStyle/>
          <a:p>
            <a:endParaRPr lang="zh-CN" altLang="en-US" sz="6600" dirty="0">
              <a:solidFill>
                <a:srgbClr val="C7000B"/>
              </a:solidFill>
              <a:latin typeface="汉仪菱心体简" panose="02010609000101010101" pitchFamily="49" charset="-122"/>
              <a:ea typeface="汉仪菱心体简" panose="02010609000101010101" pitchFamily="49" charset="-122"/>
            </a:endParaRPr>
          </a:p>
        </p:txBody>
      </p:sp>
      <p:sp>
        <p:nvSpPr>
          <p:cNvPr id="7" name="文本框 6"/>
          <p:cNvSpPr txBox="1"/>
          <p:nvPr/>
        </p:nvSpPr>
        <p:spPr>
          <a:xfrm>
            <a:off x="4881543" y="634954"/>
            <a:ext cx="772969" cy="2215991"/>
          </a:xfrm>
          <a:prstGeom prst="rect">
            <a:avLst/>
          </a:prstGeom>
          <a:noFill/>
        </p:spPr>
        <p:txBody>
          <a:bodyPr wrap="none" rtlCol="0">
            <a:spAutoFit/>
          </a:bodyPr>
          <a:lstStyle/>
          <a:p>
            <a:r>
              <a:rPr lang="en-US" altLang="zh-CN" sz="13800" i="1" dirty="0">
                <a:ln w="15875">
                  <a:noFill/>
                </a:ln>
                <a:solidFill>
                  <a:srgbClr val="C7000B"/>
                </a:solidFill>
                <a:effectLst>
                  <a:outerShdw blurRad="50800" dist="38100" dir="2700000" algn="tl" rotWithShape="0">
                    <a:prstClr val="black">
                      <a:alpha val="40000"/>
                    </a:prstClr>
                  </a:outerShdw>
                </a:effectLst>
                <a:latin typeface="汉仪菱心体简" panose="02010609000101010101" pitchFamily="49" charset="-122"/>
                <a:ea typeface="汉仪菱心体简" panose="02010609000101010101" pitchFamily="49" charset="-122"/>
              </a:rPr>
              <a:t>1</a:t>
            </a:r>
            <a:endParaRPr lang="zh-CN" altLang="en-US" sz="13800" dirty="0">
              <a:ln w="15875">
                <a:noFill/>
              </a:ln>
              <a:solidFill>
                <a:srgbClr val="C7000B"/>
              </a:solidFill>
              <a:effectLst>
                <a:outerShdw blurRad="50800" dist="38100" dir="2700000" algn="tl" rotWithShape="0">
                  <a:prstClr val="black">
                    <a:alpha val="40000"/>
                  </a:prstClr>
                </a:outerShdw>
              </a:effectLst>
              <a:latin typeface="汉仪菱心体简" panose="02010609000101010101" pitchFamily="49" charset="-122"/>
              <a:ea typeface="汉仪菱心体简" panose="02010609000101010101" pitchFamily="49" charset="-122"/>
            </a:endParaRPr>
          </a:p>
        </p:txBody>
      </p:sp>
      <p:sp>
        <p:nvSpPr>
          <p:cNvPr id="8" name="文本框 7"/>
          <p:cNvSpPr txBox="1"/>
          <p:nvPr/>
        </p:nvSpPr>
        <p:spPr>
          <a:xfrm>
            <a:off x="6356978" y="1245387"/>
            <a:ext cx="184731" cy="1107996"/>
          </a:xfrm>
          <a:prstGeom prst="rect">
            <a:avLst/>
          </a:prstGeom>
          <a:noFill/>
        </p:spPr>
        <p:txBody>
          <a:bodyPr wrap="none" rtlCol="0">
            <a:spAutoFit/>
          </a:bodyPr>
          <a:lstStyle/>
          <a:p>
            <a:endParaRPr lang="zh-CN" altLang="en-US" sz="6600" dirty="0">
              <a:solidFill>
                <a:srgbClr val="C7000B"/>
              </a:solidFill>
              <a:latin typeface="汉仪菱心体简" panose="02010609000101010101" pitchFamily="49" charset="-122"/>
              <a:ea typeface="汉仪菱心体简" panose="02010609000101010101" pitchFamily="49" charset="-122"/>
            </a:endParaRPr>
          </a:p>
        </p:txBody>
      </p:sp>
      <p:sp>
        <p:nvSpPr>
          <p:cNvPr id="9" name="文本框 8"/>
          <p:cNvSpPr txBox="1"/>
          <p:nvPr/>
        </p:nvSpPr>
        <p:spPr>
          <a:xfrm>
            <a:off x="5901058" y="1255065"/>
            <a:ext cx="1031051" cy="1107996"/>
          </a:xfrm>
          <a:prstGeom prst="rect">
            <a:avLst/>
          </a:prstGeom>
          <a:noFill/>
        </p:spPr>
        <p:txBody>
          <a:bodyPr wrap="none" rtlCol="0">
            <a:spAutoFit/>
          </a:bodyPr>
          <a:lstStyle/>
          <a:p>
            <a:r>
              <a:rPr lang="zh-CN" altLang="en-US" sz="6600" dirty="0">
                <a:solidFill>
                  <a:srgbClr val="C7000B"/>
                </a:solidFill>
                <a:latin typeface="汉仪菱心体简" panose="02010609000101010101" pitchFamily="49" charset="-122"/>
                <a:ea typeface="汉仪菱心体简" panose="02010609000101010101" pitchFamily="49" charset="-122"/>
              </a:rPr>
              <a:t>部</a:t>
            </a:r>
          </a:p>
        </p:txBody>
      </p:sp>
      <p:sp>
        <p:nvSpPr>
          <p:cNvPr id="10" name="文本框 9"/>
          <p:cNvSpPr txBox="1"/>
          <p:nvPr/>
        </p:nvSpPr>
        <p:spPr>
          <a:xfrm>
            <a:off x="6817094" y="1255065"/>
            <a:ext cx="1031051" cy="1107996"/>
          </a:xfrm>
          <a:prstGeom prst="rect">
            <a:avLst/>
          </a:prstGeom>
          <a:noFill/>
        </p:spPr>
        <p:txBody>
          <a:bodyPr wrap="none" rtlCol="0">
            <a:spAutoFit/>
          </a:bodyPr>
          <a:lstStyle/>
          <a:p>
            <a:r>
              <a:rPr lang="zh-CN" altLang="en-US" sz="6600" dirty="0">
                <a:solidFill>
                  <a:srgbClr val="C7000B"/>
                </a:solidFill>
                <a:latin typeface="汉仪菱心体简" panose="02010609000101010101" pitchFamily="49" charset="-122"/>
                <a:ea typeface="汉仪菱心体简" panose="02010609000101010101" pitchFamily="49" charset="-122"/>
              </a:rPr>
              <a:t>分</a:t>
            </a:r>
          </a:p>
        </p:txBody>
      </p:sp>
      <p:sp>
        <p:nvSpPr>
          <p:cNvPr id="11" name="文本框 10"/>
          <p:cNvSpPr txBox="1"/>
          <p:nvPr/>
        </p:nvSpPr>
        <p:spPr>
          <a:xfrm>
            <a:off x="4059865" y="2545728"/>
            <a:ext cx="6830302" cy="1106805"/>
          </a:xfrm>
          <a:prstGeom prst="rect">
            <a:avLst/>
          </a:prstGeom>
          <a:noFill/>
        </p:spPr>
        <p:txBody>
          <a:bodyPr wrap="square" rtlCol="0">
            <a:spAutoFit/>
          </a:bodyPr>
          <a:lstStyle/>
          <a:p>
            <a:r>
              <a:rPr lang="zh-CN" altLang="en-US" sz="6600" dirty="0">
                <a:solidFill>
                  <a:srgbClr val="C00000"/>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阿里巴巴普惠体 M" panose="00020600040101010101" pitchFamily="18" charset="-122"/>
              </a:rPr>
              <a:t>大国担当</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地图上有字&#10;&#10;描述已自动生成"/>
          <p:cNvPicPr>
            <a:picLocks noChangeAspect="1"/>
          </p:cNvPicPr>
          <p:nvPr/>
        </p:nvPicPr>
        <p:blipFill>
          <a:blip r:embed="rId2"/>
          <a:srcRect/>
          <a:stretch>
            <a:fillRect/>
          </a:stretch>
        </p:blipFill>
        <p:spPr>
          <a:xfrm>
            <a:off x="0" y="1"/>
            <a:ext cx="12192000" cy="6593682"/>
          </a:xfrm>
          <a:custGeom>
            <a:avLst/>
            <a:gdLst>
              <a:gd name="connsiteX0" fmla="*/ 780720 w 12192000"/>
              <a:gd name="connsiteY0" fmla="*/ 2857498 h 5715000"/>
              <a:gd name="connsiteX1" fmla="*/ 780720 w 12192000"/>
              <a:gd name="connsiteY1" fmla="*/ 4350694 h 5715000"/>
              <a:gd name="connsiteX2" fmla="*/ 2635322 w 12192000"/>
              <a:gd name="connsiteY2" fmla="*/ 4350694 h 5715000"/>
              <a:gd name="connsiteX3" fmla="*/ 2635322 w 12192000"/>
              <a:gd name="connsiteY3" fmla="*/ 2857498 h 5715000"/>
              <a:gd name="connsiteX4" fmla="*/ 0 w 12192000"/>
              <a:gd name="connsiteY4" fmla="*/ 0 h 5715000"/>
              <a:gd name="connsiteX5" fmla="*/ 12192000 w 12192000"/>
              <a:gd name="connsiteY5" fmla="*/ 0 h 5715000"/>
              <a:gd name="connsiteX6" fmla="*/ 12192000 w 12192000"/>
              <a:gd name="connsiteY6" fmla="*/ 5715000 h 5715000"/>
              <a:gd name="connsiteX7" fmla="*/ 0 w 12192000"/>
              <a:gd name="connsiteY7" fmla="*/ 5715000 h 571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15000">
                <a:moveTo>
                  <a:pt x="780720" y="2857498"/>
                </a:moveTo>
                <a:lnTo>
                  <a:pt x="780720" y="4350694"/>
                </a:lnTo>
                <a:lnTo>
                  <a:pt x="2635322" y="4350694"/>
                </a:lnTo>
                <a:lnTo>
                  <a:pt x="2635322" y="2857498"/>
                </a:lnTo>
                <a:close/>
                <a:moveTo>
                  <a:pt x="0" y="0"/>
                </a:moveTo>
                <a:lnTo>
                  <a:pt x="12192000" y="0"/>
                </a:lnTo>
                <a:lnTo>
                  <a:pt x="12192000" y="5715000"/>
                </a:lnTo>
                <a:lnTo>
                  <a:pt x="0" y="5715000"/>
                </a:lnTo>
                <a:close/>
              </a:path>
            </a:pathLst>
          </a:custGeom>
        </p:spPr>
      </p:pic>
      <p:sp>
        <p:nvSpPr>
          <p:cNvPr id="6" name="矩形 5"/>
          <p:cNvSpPr/>
          <p:nvPr/>
        </p:nvSpPr>
        <p:spPr>
          <a:xfrm>
            <a:off x="0" y="0"/>
            <a:ext cx="12192000" cy="68580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中国支援多国抗击疫情</a:t>
            </a:r>
          </a:p>
        </p:txBody>
      </p:sp>
      <p:pic>
        <p:nvPicPr>
          <p:cNvPr id="14" name="Picture 3"/>
          <p:cNvPicPr>
            <a:picLocks noChangeAspect="1" noChangeArrowheads="1"/>
          </p:cNvPicPr>
          <p:nvPr/>
        </p:nvPicPr>
        <p:blipFill>
          <a:blip r:embed="rId3"/>
          <a:stretch>
            <a:fillRect/>
          </a:stretch>
        </p:blipFill>
        <p:spPr bwMode="auto">
          <a:xfrm>
            <a:off x="0" y="6031149"/>
            <a:ext cx="12192000" cy="826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3690792" y="2354533"/>
            <a:ext cx="4810416" cy="1884618"/>
          </a:xfrm>
          <a:prstGeom prst="rect">
            <a:avLst/>
          </a:prstGeom>
        </p:spPr>
        <p:txBody>
          <a:bodyPr wrap="square">
            <a:spAutoFit/>
          </a:bodyPr>
          <a:lstStyle/>
          <a:p>
            <a:pPr indent="457200">
              <a:lnSpc>
                <a:spcPct val="150000"/>
              </a:lnSpc>
            </a:pPr>
            <a:r>
              <a:rPr lang="zh-CN" altLang="en-US" sz="20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大道不孤，德必有邻。在抗击新冠肺炎疫情中，没有一个国家可以独善其身。中国在积极做好自身防疫抗疫的同时，积极帮助其他国家，充分彰显了大国担当。</a:t>
            </a:r>
            <a:endParaRPr lang="zh-CN" altLang="en-US" sz="2000" dirty="0">
              <a:latin typeface="微软雅黑" panose="020B0503020204020204" pitchFamily="34" charset="-122"/>
              <a:ea typeface="微软雅黑" panose="020B0503020204020204" pitchFamily="34" charset="-122"/>
              <a:cs typeface="阿里巴巴普惠体 M" panose="00020600040101010101" pitchFamily="18" charset="-122"/>
            </a:endParaRPr>
          </a:p>
        </p:txBody>
      </p:sp>
      <p:grpSp>
        <p:nvGrpSpPr>
          <p:cNvPr id="11" name="组合 10">
            <a:extLst>
              <a:ext uri="{FF2B5EF4-FFF2-40B4-BE49-F238E27FC236}">
                <a16:creationId xmlns:a16="http://schemas.microsoft.com/office/drawing/2014/main" id="{78D24F9F-EE2D-4C48-B6E4-B7CA27416C56}"/>
              </a:ext>
            </a:extLst>
          </p:cNvPr>
          <p:cNvGrpSpPr/>
          <p:nvPr/>
        </p:nvGrpSpPr>
        <p:grpSpPr>
          <a:xfrm>
            <a:off x="73270" y="102868"/>
            <a:ext cx="8343104" cy="1323254"/>
            <a:chOff x="73270" y="102868"/>
            <a:chExt cx="8343104" cy="1323254"/>
          </a:xfrm>
        </p:grpSpPr>
        <p:sp>
          <p:nvSpPr>
            <p:cNvPr id="13" name="文本框 12">
              <a:extLst>
                <a:ext uri="{FF2B5EF4-FFF2-40B4-BE49-F238E27FC236}">
                  <a16:creationId xmlns:a16="http://schemas.microsoft.com/office/drawing/2014/main" id="{C123B95F-9FB1-459A-97F7-8DAFEECB8116}"/>
                </a:ext>
              </a:extLst>
            </p:cNvPr>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抗疫中的制度优势</a:t>
              </a:r>
            </a:p>
          </p:txBody>
        </p:sp>
        <p:pic>
          <p:nvPicPr>
            <p:cNvPr id="15" name="图片 14" descr="电脑萤幕画面&#10;&#10;描述已自动生成">
              <a:extLst>
                <a:ext uri="{FF2B5EF4-FFF2-40B4-BE49-F238E27FC236}">
                  <a16:creationId xmlns:a16="http://schemas.microsoft.com/office/drawing/2014/main" id="{857E7E97-D21E-435F-B392-0D45359C2C4E}"/>
                </a:ext>
              </a:extLst>
            </p:cNvPr>
            <p:cNvPicPr>
              <a:picLocks noChangeAspect="1"/>
            </p:cNvPicPr>
            <p:nvPr/>
          </p:nvPicPr>
          <p:blipFill>
            <a:blip r:embed="rId4"/>
            <a:stretch>
              <a:fillRect/>
            </a:stretch>
          </p:blipFill>
          <p:spPr>
            <a:xfrm flipH="1">
              <a:off x="73270" y="172328"/>
              <a:ext cx="8343104" cy="1253794"/>
            </a:xfrm>
            <a:prstGeom prst="rect">
              <a:avLst/>
            </a:prstGeom>
          </p:spPr>
        </p:pic>
        <p:sp>
          <p:nvSpPr>
            <p:cNvPr id="16" name="文本框 15">
              <a:extLst>
                <a:ext uri="{FF2B5EF4-FFF2-40B4-BE49-F238E27FC236}">
                  <a16:creationId xmlns:a16="http://schemas.microsoft.com/office/drawing/2014/main" id="{1B472C4E-0629-47AA-B442-C4576752C3FC}"/>
                </a:ext>
              </a:extLst>
            </p:cNvPr>
            <p:cNvSpPr txBox="1"/>
            <p:nvPr/>
          </p:nvSpPr>
          <p:spPr>
            <a:xfrm>
              <a:off x="852060" y="490591"/>
              <a:ext cx="38087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中国支援多国抗击疫情</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地图上有字&#10;&#10;描述已自动生成"/>
          <p:cNvPicPr>
            <a:picLocks noChangeAspect="1"/>
          </p:cNvPicPr>
          <p:nvPr/>
        </p:nvPicPr>
        <p:blipFill>
          <a:blip r:embed="rId2"/>
          <a:srcRect/>
          <a:stretch>
            <a:fillRect/>
          </a:stretch>
        </p:blipFill>
        <p:spPr>
          <a:xfrm>
            <a:off x="0" y="1"/>
            <a:ext cx="12192000" cy="6593682"/>
          </a:xfrm>
          <a:custGeom>
            <a:avLst/>
            <a:gdLst>
              <a:gd name="connsiteX0" fmla="*/ 780720 w 12192000"/>
              <a:gd name="connsiteY0" fmla="*/ 2857498 h 5715000"/>
              <a:gd name="connsiteX1" fmla="*/ 780720 w 12192000"/>
              <a:gd name="connsiteY1" fmla="*/ 4350694 h 5715000"/>
              <a:gd name="connsiteX2" fmla="*/ 2635322 w 12192000"/>
              <a:gd name="connsiteY2" fmla="*/ 4350694 h 5715000"/>
              <a:gd name="connsiteX3" fmla="*/ 2635322 w 12192000"/>
              <a:gd name="connsiteY3" fmla="*/ 2857498 h 5715000"/>
              <a:gd name="connsiteX4" fmla="*/ 0 w 12192000"/>
              <a:gd name="connsiteY4" fmla="*/ 0 h 5715000"/>
              <a:gd name="connsiteX5" fmla="*/ 12192000 w 12192000"/>
              <a:gd name="connsiteY5" fmla="*/ 0 h 5715000"/>
              <a:gd name="connsiteX6" fmla="*/ 12192000 w 12192000"/>
              <a:gd name="connsiteY6" fmla="*/ 5715000 h 5715000"/>
              <a:gd name="connsiteX7" fmla="*/ 0 w 12192000"/>
              <a:gd name="connsiteY7" fmla="*/ 5715000 h 571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15000">
                <a:moveTo>
                  <a:pt x="780720" y="2857498"/>
                </a:moveTo>
                <a:lnTo>
                  <a:pt x="780720" y="4350694"/>
                </a:lnTo>
                <a:lnTo>
                  <a:pt x="2635322" y="4350694"/>
                </a:lnTo>
                <a:lnTo>
                  <a:pt x="2635322" y="2857498"/>
                </a:lnTo>
                <a:close/>
                <a:moveTo>
                  <a:pt x="0" y="0"/>
                </a:moveTo>
                <a:lnTo>
                  <a:pt x="12192000" y="0"/>
                </a:lnTo>
                <a:lnTo>
                  <a:pt x="12192000" y="5715000"/>
                </a:lnTo>
                <a:lnTo>
                  <a:pt x="0" y="5715000"/>
                </a:lnTo>
                <a:close/>
              </a:path>
            </a:pathLst>
          </a:custGeom>
        </p:spPr>
      </p:pic>
      <p:sp>
        <p:nvSpPr>
          <p:cNvPr id="6" name="矩形 5"/>
          <p:cNvSpPr/>
          <p:nvPr/>
        </p:nvSpPr>
        <p:spPr>
          <a:xfrm>
            <a:off x="0" y="0"/>
            <a:ext cx="12192000" cy="68580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中国支援多国抗击疫情</a:t>
            </a:r>
          </a:p>
        </p:txBody>
      </p:sp>
      <p:pic>
        <p:nvPicPr>
          <p:cNvPr id="14" name="Picture 3"/>
          <p:cNvPicPr>
            <a:picLocks noChangeAspect="1" noChangeArrowheads="1"/>
          </p:cNvPicPr>
          <p:nvPr/>
        </p:nvPicPr>
        <p:blipFill>
          <a:blip r:embed="rId3"/>
          <a:stretch>
            <a:fillRect/>
          </a:stretch>
        </p:blipFill>
        <p:spPr bwMode="auto">
          <a:xfrm>
            <a:off x="0" y="6031149"/>
            <a:ext cx="12192000" cy="826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 name="组合 10">
            <a:extLst>
              <a:ext uri="{FF2B5EF4-FFF2-40B4-BE49-F238E27FC236}">
                <a16:creationId xmlns:a16="http://schemas.microsoft.com/office/drawing/2014/main" id="{78D24F9F-EE2D-4C48-B6E4-B7CA27416C56}"/>
              </a:ext>
            </a:extLst>
          </p:cNvPr>
          <p:cNvGrpSpPr/>
          <p:nvPr/>
        </p:nvGrpSpPr>
        <p:grpSpPr>
          <a:xfrm>
            <a:off x="73270" y="102868"/>
            <a:ext cx="8343104" cy="1323254"/>
            <a:chOff x="73270" y="102868"/>
            <a:chExt cx="8343104" cy="1323254"/>
          </a:xfrm>
        </p:grpSpPr>
        <p:sp>
          <p:nvSpPr>
            <p:cNvPr id="13" name="文本框 12">
              <a:extLst>
                <a:ext uri="{FF2B5EF4-FFF2-40B4-BE49-F238E27FC236}">
                  <a16:creationId xmlns:a16="http://schemas.microsoft.com/office/drawing/2014/main" id="{C123B95F-9FB1-459A-97F7-8DAFEECB8116}"/>
                </a:ext>
              </a:extLst>
            </p:cNvPr>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抗疫中的制度优势</a:t>
              </a:r>
            </a:p>
          </p:txBody>
        </p:sp>
        <p:pic>
          <p:nvPicPr>
            <p:cNvPr id="15" name="图片 14" descr="电脑萤幕画面&#10;&#10;描述已自动生成">
              <a:extLst>
                <a:ext uri="{FF2B5EF4-FFF2-40B4-BE49-F238E27FC236}">
                  <a16:creationId xmlns:a16="http://schemas.microsoft.com/office/drawing/2014/main" id="{857E7E97-D21E-435F-B392-0D45359C2C4E}"/>
                </a:ext>
              </a:extLst>
            </p:cNvPr>
            <p:cNvPicPr>
              <a:picLocks noChangeAspect="1"/>
            </p:cNvPicPr>
            <p:nvPr/>
          </p:nvPicPr>
          <p:blipFill>
            <a:blip r:embed="rId4"/>
            <a:stretch>
              <a:fillRect/>
            </a:stretch>
          </p:blipFill>
          <p:spPr>
            <a:xfrm flipH="1">
              <a:off x="73270" y="172328"/>
              <a:ext cx="8343104" cy="1253794"/>
            </a:xfrm>
            <a:prstGeom prst="rect">
              <a:avLst/>
            </a:prstGeom>
          </p:spPr>
        </p:pic>
        <p:sp>
          <p:nvSpPr>
            <p:cNvPr id="16" name="文本框 15">
              <a:extLst>
                <a:ext uri="{FF2B5EF4-FFF2-40B4-BE49-F238E27FC236}">
                  <a16:creationId xmlns:a16="http://schemas.microsoft.com/office/drawing/2014/main" id="{1B472C4E-0629-47AA-B442-C4576752C3FC}"/>
                </a:ext>
              </a:extLst>
            </p:cNvPr>
            <p:cNvSpPr txBox="1"/>
            <p:nvPr/>
          </p:nvSpPr>
          <p:spPr>
            <a:xfrm>
              <a:off x="852060" y="490591"/>
              <a:ext cx="38087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中国支援多国抗击疫情</a:t>
              </a:r>
            </a:p>
          </p:txBody>
        </p:sp>
      </p:grpSp>
      <p:sp>
        <p:nvSpPr>
          <p:cNvPr id="20" name="矩形 19">
            <a:extLst>
              <a:ext uri="{FF2B5EF4-FFF2-40B4-BE49-F238E27FC236}">
                <a16:creationId xmlns:a16="http://schemas.microsoft.com/office/drawing/2014/main" id="{AFAE33BC-A428-43BE-A8AC-E06452F839D6}"/>
              </a:ext>
            </a:extLst>
          </p:cNvPr>
          <p:cNvSpPr/>
          <p:nvPr/>
        </p:nvSpPr>
        <p:spPr>
          <a:xfrm>
            <a:off x="666744" y="2890391"/>
            <a:ext cx="4317670" cy="1077218"/>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dirty="0">
                <a:latin typeface="微软雅黑" panose="020B0503020204020204" pitchFamily="34" charset="-122"/>
                <a:ea typeface="微软雅黑" panose="020B0503020204020204" pitchFamily="34" charset="-122"/>
                <a:cs typeface="阿里巴巴普惠体 M" panose="00020600040101010101" pitchFamily="18" charset="-122"/>
                <a:sym typeface="+mn-lt"/>
              </a:rPr>
              <a:t>中国向多国派遣医疗专家组，将中国防疫抗疫经验带给当地。医疗专家组在当地深入医院、与医务工作者交流，积极指导帮助当地的战疫行动</a:t>
            </a:r>
          </a:p>
        </p:txBody>
      </p:sp>
      <p:pic>
        <p:nvPicPr>
          <p:cNvPr id="24" name="图片 23">
            <a:extLst>
              <a:ext uri="{FF2B5EF4-FFF2-40B4-BE49-F238E27FC236}">
                <a16:creationId xmlns:a16="http://schemas.microsoft.com/office/drawing/2014/main" id="{BDECD20A-DA39-4CCE-89C0-96E240084FCA}"/>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5779219" y="1598449"/>
            <a:ext cx="5274310" cy="3950970"/>
          </a:xfrm>
          <a:prstGeom prst="rect">
            <a:avLst/>
          </a:prstGeom>
          <a:noFill/>
          <a:ln>
            <a:noFill/>
          </a:ln>
        </p:spPr>
      </p:pic>
      <p:sp>
        <p:nvSpPr>
          <p:cNvPr id="2" name="文本框 1">
            <a:extLst>
              <a:ext uri="{FF2B5EF4-FFF2-40B4-BE49-F238E27FC236}">
                <a16:creationId xmlns:a16="http://schemas.microsoft.com/office/drawing/2014/main" id="{4E685952-EBAC-4AF9-91CF-47D24160188C}"/>
              </a:ext>
            </a:extLst>
          </p:cNvPr>
          <p:cNvSpPr txBox="1"/>
          <p:nvPr/>
        </p:nvSpPr>
        <p:spPr>
          <a:xfrm>
            <a:off x="5708340" y="5659479"/>
            <a:ext cx="5619565" cy="261610"/>
          </a:xfrm>
          <a:prstGeom prst="rect">
            <a:avLst/>
          </a:prstGeom>
          <a:noFill/>
        </p:spPr>
        <p:txBody>
          <a:bodyPr wrap="square" rtlCol="0">
            <a:spAutoFit/>
          </a:bodyPr>
          <a:lstStyle/>
          <a:p>
            <a:r>
              <a:rPr lang="en-US" altLang="zh-CN" sz="1100" dirty="0">
                <a:latin typeface="微软雅黑" panose="020B0503020204020204" pitchFamily="34" charset="-122"/>
                <a:ea typeface="微软雅黑" panose="020B0503020204020204" pitchFamily="34" charset="-122"/>
              </a:rPr>
              <a:t>6</a:t>
            </a:r>
            <a:r>
              <a:rPr lang="zh-CN" altLang="en-US" sz="1100" dirty="0">
                <a:latin typeface="微软雅黑" panose="020B0503020204020204" pitchFamily="34" charset="-122"/>
                <a:ea typeface="微软雅黑" panose="020B0503020204020204" pitchFamily="34" charset="-122"/>
              </a:rPr>
              <a:t>月</a:t>
            </a:r>
            <a:r>
              <a:rPr lang="en-US" altLang="zh-CN" sz="1100" dirty="0">
                <a:latin typeface="微软雅黑" panose="020B0503020204020204" pitchFamily="34" charset="-122"/>
                <a:ea typeface="微软雅黑" panose="020B0503020204020204" pitchFamily="34" charset="-122"/>
              </a:rPr>
              <a:t>3</a:t>
            </a:r>
            <a:r>
              <a:rPr lang="zh-CN" altLang="en-US" sz="1100" dirty="0">
                <a:latin typeface="微软雅黑" panose="020B0503020204020204" pitchFamily="34" charset="-122"/>
                <a:ea typeface="微软雅黑" panose="020B0503020204020204" pitchFamily="34" charset="-122"/>
              </a:rPr>
              <a:t>日，赤道几内亚总理奥巴马</a:t>
            </a:r>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阿苏埃（中）在马拉博会见中国抗疫医疗专家组成员</a:t>
            </a:r>
          </a:p>
        </p:txBody>
      </p:sp>
    </p:spTree>
    <p:extLst>
      <p:ext uri="{BB962C8B-B14F-4D97-AF65-F5344CB8AC3E}">
        <p14:creationId xmlns:p14="http://schemas.microsoft.com/office/powerpoint/2010/main" val="505211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地图上有字&#10;&#10;描述已自动生成"/>
          <p:cNvPicPr>
            <a:picLocks noChangeAspect="1"/>
          </p:cNvPicPr>
          <p:nvPr/>
        </p:nvPicPr>
        <p:blipFill>
          <a:blip r:embed="rId2"/>
          <a:srcRect/>
          <a:stretch>
            <a:fillRect/>
          </a:stretch>
        </p:blipFill>
        <p:spPr>
          <a:xfrm>
            <a:off x="0" y="1"/>
            <a:ext cx="12192000" cy="6593682"/>
          </a:xfrm>
          <a:custGeom>
            <a:avLst/>
            <a:gdLst>
              <a:gd name="connsiteX0" fmla="*/ 780720 w 12192000"/>
              <a:gd name="connsiteY0" fmla="*/ 2857498 h 5715000"/>
              <a:gd name="connsiteX1" fmla="*/ 780720 w 12192000"/>
              <a:gd name="connsiteY1" fmla="*/ 4350694 h 5715000"/>
              <a:gd name="connsiteX2" fmla="*/ 2635322 w 12192000"/>
              <a:gd name="connsiteY2" fmla="*/ 4350694 h 5715000"/>
              <a:gd name="connsiteX3" fmla="*/ 2635322 w 12192000"/>
              <a:gd name="connsiteY3" fmla="*/ 2857498 h 5715000"/>
              <a:gd name="connsiteX4" fmla="*/ 0 w 12192000"/>
              <a:gd name="connsiteY4" fmla="*/ 0 h 5715000"/>
              <a:gd name="connsiteX5" fmla="*/ 12192000 w 12192000"/>
              <a:gd name="connsiteY5" fmla="*/ 0 h 5715000"/>
              <a:gd name="connsiteX6" fmla="*/ 12192000 w 12192000"/>
              <a:gd name="connsiteY6" fmla="*/ 5715000 h 5715000"/>
              <a:gd name="connsiteX7" fmla="*/ 0 w 12192000"/>
              <a:gd name="connsiteY7" fmla="*/ 5715000 h 571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15000">
                <a:moveTo>
                  <a:pt x="780720" y="2857498"/>
                </a:moveTo>
                <a:lnTo>
                  <a:pt x="780720" y="4350694"/>
                </a:lnTo>
                <a:lnTo>
                  <a:pt x="2635322" y="4350694"/>
                </a:lnTo>
                <a:lnTo>
                  <a:pt x="2635322" y="2857498"/>
                </a:lnTo>
                <a:close/>
                <a:moveTo>
                  <a:pt x="0" y="0"/>
                </a:moveTo>
                <a:lnTo>
                  <a:pt x="12192000" y="0"/>
                </a:lnTo>
                <a:lnTo>
                  <a:pt x="12192000" y="5715000"/>
                </a:lnTo>
                <a:lnTo>
                  <a:pt x="0" y="5715000"/>
                </a:lnTo>
                <a:close/>
              </a:path>
            </a:pathLst>
          </a:custGeom>
        </p:spPr>
      </p:pic>
      <p:sp>
        <p:nvSpPr>
          <p:cNvPr id="6" name="矩形 5"/>
          <p:cNvSpPr/>
          <p:nvPr/>
        </p:nvSpPr>
        <p:spPr>
          <a:xfrm>
            <a:off x="0" y="0"/>
            <a:ext cx="12192000" cy="68580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中国支援多国抗击疫情</a:t>
            </a:r>
          </a:p>
        </p:txBody>
      </p:sp>
      <p:pic>
        <p:nvPicPr>
          <p:cNvPr id="14" name="Picture 3"/>
          <p:cNvPicPr>
            <a:picLocks noChangeAspect="1" noChangeArrowheads="1"/>
          </p:cNvPicPr>
          <p:nvPr/>
        </p:nvPicPr>
        <p:blipFill>
          <a:blip r:embed="rId3"/>
          <a:stretch>
            <a:fillRect/>
          </a:stretch>
        </p:blipFill>
        <p:spPr bwMode="auto">
          <a:xfrm>
            <a:off x="0" y="6031149"/>
            <a:ext cx="12192000" cy="826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 name="组合 10">
            <a:extLst>
              <a:ext uri="{FF2B5EF4-FFF2-40B4-BE49-F238E27FC236}">
                <a16:creationId xmlns:a16="http://schemas.microsoft.com/office/drawing/2014/main" id="{78D24F9F-EE2D-4C48-B6E4-B7CA27416C56}"/>
              </a:ext>
            </a:extLst>
          </p:cNvPr>
          <p:cNvGrpSpPr/>
          <p:nvPr/>
        </p:nvGrpSpPr>
        <p:grpSpPr>
          <a:xfrm>
            <a:off x="73270" y="102868"/>
            <a:ext cx="8343104" cy="1323254"/>
            <a:chOff x="73270" y="102868"/>
            <a:chExt cx="8343104" cy="1323254"/>
          </a:xfrm>
        </p:grpSpPr>
        <p:sp>
          <p:nvSpPr>
            <p:cNvPr id="13" name="文本框 12">
              <a:extLst>
                <a:ext uri="{FF2B5EF4-FFF2-40B4-BE49-F238E27FC236}">
                  <a16:creationId xmlns:a16="http://schemas.microsoft.com/office/drawing/2014/main" id="{C123B95F-9FB1-459A-97F7-8DAFEECB8116}"/>
                </a:ext>
              </a:extLst>
            </p:cNvPr>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抗疫中的制度优势</a:t>
              </a:r>
            </a:p>
          </p:txBody>
        </p:sp>
        <p:pic>
          <p:nvPicPr>
            <p:cNvPr id="15" name="图片 14" descr="电脑萤幕画面&#10;&#10;描述已自动生成">
              <a:extLst>
                <a:ext uri="{FF2B5EF4-FFF2-40B4-BE49-F238E27FC236}">
                  <a16:creationId xmlns:a16="http://schemas.microsoft.com/office/drawing/2014/main" id="{857E7E97-D21E-435F-B392-0D45359C2C4E}"/>
                </a:ext>
              </a:extLst>
            </p:cNvPr>
            <p:cNvPicPr>
              <a:picLocks noChangeAspect="1"/>
            </p:cNvPicPr>
            <p:nvPr/>
          </p:nvPicPr>
          <p:blipFill>
            <a:blip r:embed="rId4"/>
            <a:stretch>
              <a:fillRect/>
            </a:stretch>
          </p:blipFill>
          <p:spPr>
            <a:xfrm flipH="1">
              <a:off x="73270" y="172328"/>
              <a:ext cx="8343104" cy="1253794"/>
            </a:xfrm>
            <a:prstGeom prst="rect">
              <a:avLst/>
            </a:prstGeom>
          </p:spPr>
        </p:pic>
        <p:sp>
          <p:nvSpPr>
            <p:cNvPr id="16" name="文本框 15">
              <a:extLst>
                <a:ext uri="{FF2B5EF4-FFF2-40B4-BE49-F238E27FC236}">
                  <a16:creationId xmlns:a16="http://schemas.microsoft.com/office/drawing/2014/main" id="{1B472C4E-0629-47AA-B442-C4576752C3FC}"/>
                </a:ext>
              </a:extLst>
            </p:cNvPr>
            <p:cNvSpPr txBox="1"/>
            <p:nvPr/>
          </p:nvSpPr>
          <p:spPr>
            <a:xfrm>
              <a:off x="852060" y="490591"/>
              <a:ext cx="38087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中国支援多国抗击疫情</a:t>
              </a:r>
            </a:p>
          </p:txBody>
        </p:sp>
      </p:grpSp>
      <p:sp>
        <p:nvSpPr>
          <p:cNvPr id="20" name="矩形 19">
            <a:extLst>
              <a:ext uri="{FF2B5EF4-FFF2-40B4-BE49-F238E27FC236}">
                <a16:creationId xmlns:a16="http://schemas.microsoft.com/office/drawing/2014/main" id="{AFAE33BC-A428-43BE-A8AC-E06452F839D6}"/>
              </a:ext>
            </a:extLst>
          </p:cNvPr>
          <p:cNvSpPr/>
          <p:nvPr/>
        </p:nvSpPr>
        <p:spPr>
          <a:xfrm>
            <a:off x="666744" y="2890391"/>
            <a:ext cx="4317670" cy="830997"/>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dirty="0">
                <a:latin typeface="微软雅黑" panose="020B0503020204020204" pitchFamily="34" charset="-122"/>
                <a:ea typeface="微软雅黑" panose="020B0503020204020204" pitchFamily="34" charset="-122"/>
                <a:cs typeface="阿里巴巴普惠体 M" panose="00020600040101010101" pitchFamily="18" charset="-122"/>
                <a:sym typeface="+mn-lt"/>
              </a:rPr>
              <a:t>防控疫情，物资当先。中国医疗物资产能产量不断增长，在满足自身需要的同时，也在向其他国家提供物资援助。</a:t>
            </a:r>
          </a:p>
        </p:txBody>
      </p:sp>
      <p:sp>
        <p:nvSpPr>
          <p:cNvPr id="2" name="文本框 1">
            <a:extLst>
              <a:ext uri="{FF2B5EF4-FFF2-40B4-BE49-F238E27FC236}">
                <a16:creationId xmlns:a16="http://schemas.microsoft.com/office/drawing/2014/main" id="{4E685952-EBAC-4AF9-91CF-47D24160188C}"/>
              </a:ext>
            </a:extLst>
          </p:cNvPr>
          <p:cNvSpPr txBox="1"/>
          <p:nvPr/>
        </p:nvSpPr>
        <p:spPr>
          <a:xfrm>
            <a:off x="5708340" y="5659479"/>
            <a:ext cx="5619565" cy="430887"/>
          </a:xfrm>
          <a:prstGeom prst="rect">
            <a:avLst/>
          </a:prstGeom>
          <a:noFill/>
        </p:spPr>
        <p:txBody>
          <a:bodyPr wrap="square" rtlCol="0">
            <a:spAutoFit/>
          </a:bodyPr>
          <a:lstStyle/>
          <a:p>
            <a:r>
              <a:rPr lang="zh-CN" altLang="en-US" sz="1100" dirty="0">
                <a:latin typeface="微软雅黑" panose="020B0503020204020204" pitchFamily="34" charset="-122"/>
                <a:ea typeface="微软雅黑" panose="020B0503020204020204" pitchFamily="34" charset="-122"/>
              </a:rPr>
              <a:t>中国驻伊朗大使馆第一时间向伊朗捐赠</a:t>
            </a:r>
            <a:r>
              <a:rPr lang="en-US" altLang="zh-CN" sz="1100" dirty="0">
                <a:latin typeface="微软雅黑" panose="020B0503020204020204" pitchFamily="34" charset="-122"/>
                <a:ea typeface="微软雅黑" panose="020B0503020204020204" pitchFamily="34" charset="-122"/>
              </a:rPr>
              <a:t>25</a:t>
            </a:r>
            <a:r>
              <a:rPr lang="zh-CN" altLang="en-US" sz="1100" dirty="0">
                <a:latin typeface="微软雅黑" panose="020B0503020204020204" pitchFamily="34" charset="-122"/>
                <a:ea typeface="微软雅黑" panose="020B0503020204020204" pitchFamily="34" charset="-122"/>
              </a:rPr>
              <a:t>万只口罩和</a:t>
            </a:r>
            <a:r>
              <a:rPr lang="en-US" altLang="zh-CN" sz="1100" dirty="0">
                <a:latin typeface="微软雅黑" panose="020B0503020204020204" pitchFamily="34" charset="-122"/>
                <a:ea typeface="微软雅黑" panose="020B0503020204020204" pitchFamily="34" charset="-122"/>
              </a:rPr>
              <a:t>5000</a:t>
            </a:r>
            <a:r>
              <a:rPr lang="zh-CN" altLang="en-US" sz="1100" dirty="0">
                <a:latin typeface="微软雅黑" panose="020B0503020204020204" pitchFamily="34" charset="-122"/>
                <a:ea typeface="微软雅黑" panose="020B0503020204020204" pitchFamily="34" charset="-122"/>
              </a:rPr>
              <a:t>份核酸检测试剂盒，物资上写着古代波斯著名诗人萨迪的名句：“亚当子孙皆兄弟，兄弟犹如手足亲”</a:t>
            </a:r>
          </a:p>
        </p:txBody>
      </p:sp>
      <p:pic>
        <p:nvPicPr>
          <p:cNvPr id="17" name="图片 16">
            <a:extLst>
              <a:ext uri="{FF2B5EF4-FFF2-40B4-BE49-F238E27FC236}">
                <a16:creationId xmlns:a16="http://schemas.microsoft.com/office/drawing/2014/main" id="{D3E9D7FB-040C-42E2-87A8-1F65370D4C24}"/>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5779219" y="1495582"/>
            <a:ext cx="5274310" cy="3956050"/>
          </a:xfrm>
          <a:prstGeom prst="rect">
            <a:avLst/>
          </a:prstGeom>
          <a:noFill/>
          <a:ln>
            <a:noFill/>
          </a:ln>
        </p:spPr>
      </p:pic>
    </p:spTree>
    <p:extLst>
      <p:ext uri="{BB962C8B-B14F-4D97-AF65-F5344CB8AC3E}">
        <p14:creationId xmlns:p14="http://schemas.microsoft.com/office/powerpoint/2010/main" val="21555435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地图上有字&#10;&#10;描述已自动生成"/>
          <p:cNvPicPr>
            <a:picLocks noChangeAspect="1"/>
          </p:cNvPicPr>
          <p:nvPr/>
        </p:nvPicPr>
        <p:blipFill>
          <a:blip r:embed="rId2"/>
          <a:srcRect/>
          <a:stretch>
            <a:fillRect/>
          </a:stretch>
        </p:blipFill>
        <p:spPr>
          <a:xfrm>
            <a:off x="0" y="1"/>
            <a:ext cx="12192000" cy="6593682"/>
          </a:xfrm>
          <a:custGeom>
            <a:avLst/>
            <a:gdLst>
              <a:gd name="connsiteX0" fmla="*/ 780720 w 12192000"/>
              <a:gd name="connsiteY0" fmla="*/ 2857498 h 5715000"/>
              <a:gd name="connsiteX1" fmla="*/ 780720 w 12192000"/>
              <a:gd name="connsiteY1" fmla="*/ 4350694 h 5715000"/>
              <a:gd name="connsiteX2" fmla="*/ 2635322 w 12192000"/>
              <a:gd name="connsiteY2" fmla="*/ 4350694 h 5715000"/>
              <a:gd name="connsiteX3" fmla="*/ 2635322 w 12192000"/>
              <a:gd name="connsiteY3" fmla="*/ 2857498 h 5715000"/>
              <a:gd name="connsiteX4" fmla="*/ 0 w 12192000"/>
              <a:gd name="connsiteY4" fmla="*/ 0 h 5715000"/>
              <a:gd name="connsiteX5" fmla="*/ 12192000 w 12192000"/>
              <a:gd name="connsiteY5" fmla="*/ 0 h 5715000"/>
              <a:gd name="connsiteX6" fmla="*/ 12192000 w 12192000"/>
              <a:gd name="connsiteY6" fmla="*/ 5715000 h 5715000"/>
              <a:gd name="connsiteX7" fmla="*/ 0 w 12192000"/>
              <a:gd name="connsiteY7" fmla="*/ 5715000 h 571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15000">
                <a:moveTo>
                  <a:pt x="780720" y="2857498"/>
                </a:moveTo>
                <a:lnTo>
                  <a:pt x="780720" y="4350694"/>
                </a:lnTo>
                <a:lnTo>
                  <a:pt x="2635322" y="4350694"/>
                </a:lnTo>
                <a:lnTo>
                  <a:pt x="2635322" y="2857498"/>
                </a:lnTo>
                <a:close/>
                <a:moveTo>
                  <a:pt x="0" y="0"/>
                </a:moveTo>
                <a:lnTo>
                  <a:pt x="12192000" y="0"/>
                </a:lnTo>
                <a:lnTo>
                  <a:pt x="12192000" y="5715000"/>
                </a:lnTo>
                <a:lnTo>
                  <a:pt x="0" y="5715000"/>
                </a:lnTo>
                <a:close/>
              </a:path>
            </a:pathLst>
          </a:custGeom>
        </p:spPr>
      </p:pic>
      <p:sp>
        <p:nvSpPr>
          <p:cNvPr id="6" name="矩形 5"/>
          <p:cNvSpPr/>
          <p:nvPr/>
        </p:nvSpPr>
        <p:spPr>
          <a:xfrm>
            <a:off x="0" y="0"/>
            <a:ext cx="12192000" cy="68580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中国支援多国抗击疫情</a:t>
            </a:r>
          </a:p>
        </p:txBody>
      </p:sp>
      <p:pic>
        <p:nvPicPr>
          <p:cNvPr id="14" name="Picture 3"/>
          <p:cNvPicPr>
            <a:picLocks noChangeAspect="1" noChangeArrowheads="1"/>
          </p:cNvPicPr>
          <p:nvPr/>
        </p:nvPicPr>
        <p:blipFill>
          <a:blip r:embed="rId3"/>
          <a:stretch>
            <a:fillRect/>
          </a:stretch>
        </p:blipFill>
        <p:spPr bwMode="auto">
          <a:xfrm>
            <a:off x="0" y="6031149"/>
            <a:ext cx="12192000" cy="826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 name="组合 10">
            <a:extLst>
              <a:ext uri="{FF2B5EF4-FFF2-40B4-BE49-F238E27FC236}">
                <a16:creationId xmlns:a16="http://schemas.microsoft.com/office/drawing/2014/main" id="{78D24F9F-EE2D-4C48-B6E4-B7CA27416C56}"/>
              </a:ext>
            </a:extLst>
          </p:cNvPr>
          <p:cNvGrpSpPr/>
          <p:nvPr/>
        </p:nvGrpSpPr>
        <p:grpSpPr>
          <a:xfrm>
            <a:off x="73270" y="102868"/>
            <a:ext cx="8343104" cy="1323254"/>
            <a:chOff x="73270" y="102868"/>
            <a:chExt cx="8343104" cy="1323254"/>
          </a:xfrm>
        </p:grpSpPr>
        <p:sp>
          <p:nvSpPr>
            <p:cNvPr id="13" name="文本框 12">
              <a:extLst>
                <a:ext uri="{FF2B5EF4-FFF2-40B4-BE49-F238E27FC236}">
                  <a16:creationId xmlns:a16="http://schemas.microsoft.com/office/drawing/2014/main" id="{C123B95F-9FB1-459A-97F7-8DAFEECB8116}"/>
                </a:ext>
              </a:extLst>
            </p:cNvPr>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抗疫中的制度优势</a:t>
              </a:r>
            </a:p>
          </p:txBody>
        </p:sp>
        <p:pic>
          <p:nvPicPr>
            <p:cNvPr id="15" name="图片 14" descr="电脑萤幕画面&#10;&#10;描述已自动生成">
              <a:extLst>
                <a:ext uri="{FF2B5EF4-FFF2-40B4-BE49-F238E27FC236}">
                  <a16:creationId xmlns:a16="http://schemas.microsoft.com/office/drawing/2014/main" id="{857E7E97-D21E-435F-B392-0D45359C2C4E}"/>
                </a:ext>
              </a:extLst>
            </p:cNvPr>
            <p:cNvPicPr>
              <a:picLocks noChangeAspect="1"/>
            </p:cNvPicPr>
            <p:nvPr/>
          </p:nvPicPr>
          <p:blipFill>
            <a:blip r:embed="rId4"/>
            <a:stretch>
              <a:fillRect/>
            </a:stretch>
          </p:blipFill>
          <p:spPr>
            <a:xfrm flipH="1">
              <a:off x="73270" y="172328"/>
              <a:ext cx="8343104" cy="1253794"/>
            </a:xfrm>
            <a:prstGeom prst="rect">
              <a:avLst/>
            </a:prstGeom>
          </p:spPr>
        </p:pic>
        <p:sp>
          <p:nvSpPr>
            <p:cNvPr id="16" name="文本框 15">
              <a:extLst>
                <a:ext uri="{FF2B5EF4-FFF2-40B4-BE49-F238E27FC236}">
                  <a16:creationId xmlns:a16="http://schemas.microsoft.com/office/drawing/2014/main" id="{1B472C4E-0629-47AA-B442-C4576752C3FC}"/>
                </a:ext>
              </a:extLst>
            </p:cNvPr>
            <p:cNvSpPr txBox="1"/>
            <p:nvPr/>
          </p:nvSpPr>
          <p:spPr>
            <a:xfrm>
              <a:off x="852060" y="490591"/>
              <a:ext cx="38087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中国支援多国抗击疫情</a:t>
              </a:r>
            </a:p>
          </p:txBody>
        </p:sp>
      </p:grpSp>
      <p:sp>
        <p:nvSpPr>
          <p:cNvPr id="20" name="矩形 19">
            <a:extLst>
              <a:ext uri="{FF2B5EF4-FFF2-40B4-BE49-F238E27FC236}">
                <a16:creationId xmlns:a16="http://schemas.microsoft.com/office/drawing/2014/main" id="{AFAE33BC-A428-43BE-A8AC-E06452F839D6}"/>
              </a:ext>
            </a:extLst>
          </p:cNvPr>
          <p:cNvSpPr/>
          <p:nvPr/>
        </p:nvSpPr>
        <p:spPr>
          <a:xfrm>
            <a:off x="666744" y="2890391"/>
            <a:ext cx="4317670" cy="1323439"/>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dirty="0">
                <a:latin typeface="微软雅黑" panose="020B0503020204020204" pitchFamily="34" charset="-122"/>
                <a:ea typeface="微软雅黑" panose="020B0503020204020204" pitchFamily="34" charset="-122"/>
                <a:cs typeface="阿里巴巴普惠体 M" panose="00020600040101010101" pitchFamily="18" charset="-122"/>
                <a:sym typeface="+mn-lt"/>
              </a:rPr>
              <a:t>中国经历两个多月的防疫抗疫，积累了大量经验。在支援其他国家时，分享经验也是重要举措之一。中国经历两个多月的防疫抗疫，积累了大量经验。在支援其他国家时，分享经验也是重要举措之一。</a:t>
            </a:r>
          </a:p>
        </p:txBody>
      </p:sp>
      <p:sp>
        <p:nvSpPr>
          <p:cNvPr id="2" name="文本框 1">
            <a:extLst>
              <a:ext uri="{FF2B5EF4-FFF2-40B4-BE49-F238E27FC236}">
                <a16:creationId xmlns:a16="http://schemas.microsoft.com/office/drawing/2014/main" id="{4E685952-EBAC-4AF9-91CF-47D24160188C}"/>
              </a:ext>
            </a:extLst>
          </p:cNvPr>
          <p:cNvSpPr txBox="1"/>
          <p:nvPr/>
        </p:nvSpPr>
        <p:spPr>
          <a:xfrm>
            <a:off x="5606591" y="5335945"/>
            <a:ext cx="5619565" cy="261610"/>
          </a:xfrm>
          <a:prstGeom prst="rect">
            <a:avLst/>
          </a:prstGeom>
          <a:noFill/>
        </p:spPr>
        <p:txBody>
          <a:bodyPr wrap="square" rtlCol="0">
            <a:spAutoFit/>
          </a:bodyPr>
          <a:lstStyle/>
          <a:p>
            <a:pPr algn="ctr"/>
            <a:r>
              <a:rPr lang="zh-CN" altLang="en-US" sz="1100" dirty="0">
                <a:latin typeface="微软雅黑" panose="020B0503020204020204" pitchFamily="34" charset="-122"/>
                <a:ea typeface="微软雅黑" panose="020B0503020204020204" pitchFamily="34" charset="-122"/>
              </a:rPr>
              <a:t>哥斯达黎加总统感谢中国分享应对新冠肺炎的经验</a:t>
            </a:r>
          </a:p>
        </p:txBody>
      </p:sp>
      <p:pic>
        <p:nvPicPr>
          <p:cNvPr id="4" name="图片 3">
            <a:extLst>
              <a:ext uri="{FF2B5EF4-FFF2-40B4-BE49-F238E27FC236}">
                <a16:creationId xmlns:a16="http://schemas.microsoft.com/office/drawing/2014/main" id="{6102E493-34A6-4AE9-BE73-9BEF7475130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70834" y="1725948"/>
            <a:ext cx="5291080" cy="3509474"/>
          </a:xfrm>
          <a:prstGeom prst="rect">
            <a:avLst/>
          </a:prstGeom>
        </p:spPr>
      </p:pic>
    </p:spTree>
    <p:extLst>
      <p:ext uri="{BB962C8B-B14F-4D97-AF65-F5344CB8AC3E}">
        <p14:creationId xmlns:p14="http://schemas.microsoft.com/office/powerpoint/2010/main" val="97040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地图上有字&#10;&#10;描述已自动生成"/>
          <p:cNvPicPr>
            <a:picLocks noChangeAspect="1"/>
          </p:cNvPicPr>
          <p:nvPr/>
        </p:nvPicPr>
        <p:blipFill>
          <a:blip r:embed="rId2"/>
          <a:srcRect/>
          <a:stretch>
            <a:fillRect/>
          </a:stretch>
        </p:blipFill>
        <p:spPr>
          <a:xfrm>
            <a:off x="0" y="1"/>
            <a:ext cx="12192000" cy="6593682"/>
          </a:xfrm>
          <a:custGeom>
            <a:avLst/>
            <a:gdLst>
              <a:gd name="connsiteX0" fmla="*/ 780720 w 12192000"/>
              <a:gd name="connsiteY0" fmla="*/ 2857498 h 5715000"/>
              <a:gd name="connsiteX1" fmla="*/ 780720 w 12192000"/>
              <a:gd name="connsiteY1" fmla="*/ 4350694 h 5715000"/>
              <a:gd name="connsiteX2" fmla="*/ 2635322 w 12192000"/>
              <a:gd name="connsiteY2" fmla="*/ 4350694 h 5715000"/>
              <a:gd name="connsiteX3" fmla="*/ 2635322 w 12192000"/>
              <a:gd name="connsiteY3" fmla="*/ 2857498 h 5715000"/>
              <a:gd name="connsiteX4" fmla="*/ 0 w 12192000"/>
              <a:gd name="connsiteY4" fmla="*/ 0 h 5715000"/>
              <a:gd name="connsiteX5" fmla="*/ 12192000 w 12192000"/>
              <a:gd name="connsiteY5" fmla="*/ 0 h 5715000"/>
              <a:gd name="connsiteX6" fmla="*/ 12192000 w 12192000"/>
              <a:gd name="connsiteY6" fmla="*/ 5715000 h 5715000"/>
              <a:gd name="connsiteX7" fmla="*/ 0 w 12192000"/>
              <a:gd name="connsiteY7" fmla="*/ 5715000 h 571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15000">
                <a:moveTo>
                  <a:pt x="780720" y="2857498"/>
                </a:moveTo>
                <a:lnTo>
                  <a:pt x="780720" y="4350694"/>
                </a:lnTo>
                <a:lnTo>
                  <a:pt x="2635322" y="4350694"/>
                </a:lnTo>
                <a:lnTo>
                  <a:pt x="2635322" y="2857498"/>
                </a:lnTo>
                <a:close/>
                <a:moveTo>
                  <a:pt x="0" y="0"/>
                </a:moveTo>
                <a:lnTo>
                  <a:pt x="12192000" y="0"/>
                </a:lnTo>
                <a:lnTo>
                  <a:pt x="12192000" y="5715000"/>
                </a:lnTo>
                <a:lnTo>
                  <a:pt x="0" y="5715000"/>
                </a:lnTo>
                <a:close/>
              </a:path>
            </a:pathLst>
          </a:custGeom>
        </p:spPr>
      </p:pic>
      <p:sp>
        <p:nvSpPr>
          <p:cNvPr id="6" name="矩形 5"/>
          <p:cNvSpPr/>
          <p:nvPr/>
        </p:nvSpPr>
        <p:spPr>
          <a:xfrm>
            <a:off x="0" y="0"/>
            <a:ext cx="12192000" cy="68580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中国支援多国抗击疫情</a:t>
            </a:r>
          </a:p>
        </p:txBody>
      </p:sp>
      <p:pic>
        <p:nvPicPr>
          <p:cNvPr id="14" name="Picture 3"/>
          <p:cNvPicPr>
            <a:picLocks noChangeAspect="1" noChangeArrowheads="1"/>
          </p:cNvPicPr>
          <p:nvPr/>
        </p:nvPicPr>
        <p:blipFill>
          <a:blip r:embed="rId3"/>
          <a:stretch>
            <a:fillRect/>
          </a:stretch>
        </p:blipFill>
        <p:spPr bwMode="auto">
          <a:xfrm>
            <a:off x="0" y="6031149"/>
            <a:ext cx="12192000" cy="826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2104146" y="1495582"/>
            <a:ext cx="7983707" cy="4578561"/>
          </a:xfrm>
          <a:prstGeom prst="rect">
            <a:avLst/>
          </a:prstGeom>
        </p:spPr>
        <p:txBody>
          <a:bodyPr wrap="square">
            <a:spAutoFit/>
          </a:bodyPr>
          <a:lstStyle/>
          <a:p>
            <a:pPr indent="457200">
              <a:lnSpc>
                <a:spcPct val="150000"/>
              </a:lnSpc>
            </a:pPr>
            <a:r>
              <a:rPr lang="zh-CN" altLang="en-US" sz="14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君子喻于义，小人喻于利。中国支援全球抗疫是践行大国责任担当，而非争夺世界领导权。面对中国的“雪中送炭”，有一些国家非但不知感恩，反而对中国支援全球抗疫妄加揣度，说三道四。尤其是美国的一些政客几近疯狂地对中国进行抹黑，诬指中国提供抗疫援助是“为了提升地缘政治影响力，是为了争夺世界领导权”。君子坦荡荡，小人长戚戚。中国的抗疫援助始终是基于自身的大国责任担当，始终是为了挽救更多人类生命、尽快恢复正常的世界经济活动，也始终坚定地支持联合国和世界卫生组织发挥全球抗疫领导和统筹作用。</a:t>
            </a:r>
          </a:p>
          <a:p>
            <a:pPr indent="457200">
              <a:lnSpc>
                <a:spcPct val="150000"/>
              </a:lnSpc>
            </a:pPr>
            <a:r>
              <a:rPr lang="zh-CN" altLang="en-US" sz="14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桃李不言，下自成蹊。世人的眼睛是雪亮的。国内抗疫的果断高效和支援全球抗疫的无私付出，见证了中国态度、中国经验、中国方案和中国道路的力量，也赢得了世界多国的采纳、效仿和世界人民的肯定、赞誉。</a:t>
            </a:r>
          </a:p>
          <a:p>
            <a:pPr indent="457200">
              <a:lnSpc>
                <a:spcPct val="150000"/>
              </a:lnSpc>
            </a:pPr>
            <a:r>
              <a:rPr lang="zh-CN" altLang="en-US" sz="14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a:t>
            </a:r>
            <a:r>
              <a:rPr lang="en-US" altLang="zh-CN" sz="14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1</a:t>
            </a:r>
            <a:r>
              <a:rPr lang="zh-CN" altLang="en-US" sz="14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 联合国秘书长古特雷斯表示，联合国感谢中国人民作出的牺牲对全人类的伟大贡献，感谢中国为世界各国抗击疫情提供的宝贵援助。</a:t>
            </a:r>
          </a:p>
          <a:p>
            <a:pPr indent="457200">
              <a:lnSpc>
                <a:spcPct val="150000"/>
              </a:lnSpc>
            </a:pPr>
            <a:r>
              <a:rPr lang="zh-CN" altLang="en-US" sz="14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a:t>
            </a:r>
            <a:r>
              <a:rPr lang="en-US" altLang="zh-CN" sz="14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2</a:t>
            </a:r>
            <a:r>
              <a:rPr lang="zh-CN" altLang="en-US" sz="14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 世界卫生组织总干事谭德塞顶着美国的压力多次表示：“我已经多次称赞中国，我还会继续这么做。”“中国抗疫故事彰显了中国制度的威力，让国际社会对中国制度有了新的认识。”</a:t>
            </a:r>
          </a:p>
          <a:p>
            <a:pPr indent="457200">
              <a:lnSpc>
                <a:spcPct val="150000"/>
              </a:lnSpc>
            </a:pPr>
            <a:r>
              <a:rPr lang="zh-CN" altLang="en-US" sz="14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a:t>
            </a:r>
            <a:r>
              <a:rPr lang="en-US" altLang="zh-CN" sz="14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3</a:t>
            </a:r>
            <a:r>
              <a:rPr lang="zh-CN" altLang="en-US" sz="14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 塞尔维亚总统武契奇亲吻五星红旗；意大利罗马城奏响</a:t>
            </a:r>
            <a:r>
              <a:rPr lang="en-US" altLang="zh-CN" sz="14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a:t>
            </a:r>
            <a:r>
              <a:rPr lang="zh-CN" altLang="en-US" sz="14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义勇军进行曲</a:t>
            </a:r>
            <a:r>
              <a:rPr lang="en-US" altLang="zh-CN" sz="14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a:t>
            </a:r>
          </a:p>
        </p:txBody>
      </p:sp>
      <p:grpSp>
        <p:nvGrpSpPr>
          <p:cNvPr id="9" name="组合 8">
            <a:extLst>
              <a:ext uri="{FF2B5EF4-FFF2-40B4-BE49-F238E27FC236}">
                <a16:creationId xmlns:a16="http://schemas.microsoft.com/office/drawing/2014/main" id="{745443EE-5405-4459-A028-849C36A3ED8B}"/>
              </a:ext>
            </a:extLst>
          </p:cNvPr>
          <p:cNvGrpSpPr/>
          <p:nvPr/>
        </p:nvGrpSpPr>
        <p:grpSpPr>
          <a:xfrm>
            <a:off x="73270" y="102868"/>
            <a:ext cx="8343104" cy="1323254"/>
            <a:chOff x="73270" y="102868"/>
            <a:chExt cx="8343104" cy="1323254"/>
          </a:xfrm>
        </p:grpSpPr>
        <p:sp>
          <p:nvSpPr>
            <p:cNvPr id="11" name="文本框 10">
              <a:extLst>
                <a:ext uri="{FF2B5EF4-FFF2-40B4-BE49-F238E27FC236}">
                  <a16:creationId xmlns:a16="http://schemas.microsoft.com/office/drawing/2014/main" id="{0E1A6304-81BF-49CF-A279-63FCB4720A3E}"/>
                </a:ext>
              </a:extLst>
            </p:cNvPr>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抗疫中的制度优势</a:t>
              </a:r>
            </a:p>
          </p:txBody>
        </p:sp>
        <p:pic>
          <p:nvPicPr>
            <p:cNvPr id="13" name="图片 12" descr="电脑萤幕画面&#10;&#10;描述已自动生成">
              <a:extLst>
                <a:ext uri="{FF2B5EF4-FFF2-40B4-BE49-F238E27FC236}">
                  <a16:creationId xmlns:a16="http://schemas.microsoft.com/office/drawing/2014/main" id="{91ABD0B9-A44E-4369-B9B9-57918D2D8D38}"/>
                </a:ext>
              </a:extLst>
            </p:cNvPr>
            <p:cNvPicPr>
              <a:picLocks noChangeAspect="1"/>
            </p:cNvPicPr>
            <p:nvPr/>
          </p:nvPicPr>
          <p:blipFill>
            <a:blip r:embed="rId4"/>
            <a:stretch>
              <a:fillRect/>
            </a:stretch>
          </p:blipFill>
          <p:spPr>
            <a:xfrm flipH="1">
              <a:off x="73270" y="172328"/>
              <a:ext cx="8343104" cy="1253794"/>
            </a:xfrm>
            <a:prstGeom prst="rect">
              <a:avLst/>
            </a:prstGeom>
          </p:spPr>
        </p:pic>
        <p:sp>
          <p:nvSpPr>
            <p:cNvPr id="15" name="文本框 14">
              <a:extLst>
                <a:ext uri="{FF2B5EF4-FFF2-40B4-BE49-F238E27FC236}">
                  <a16:creationId xmlns:a16="http://schemas.microsoft.com/office/drawing/2014/main" id="{154EE574-CF1F-4BFC-9CB2-3C2E4291E812}"/>
                </a:ext>
              </a:extLst>
            </p:cNvPr>
            <p:cNvSpPr txBox="1"/>
            <p:nvPr/>
          </p:nvSpPr>
          <p:spPr>
            <a:xfrm>
              <a:off x="852060" y="490591"/>
              <a:ext cx="38087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中国支援多国抗击疫情</a:t>
              </a:r>
            </a:p>
          </p:txBody>
        </p:sp>
      </p:grpSp>
    </p:spTree>
    <p:extLst>
      <p:ext uri="{BB962C8B-B14F-4D97-AF65-F5344CB8AC3E}">
        <p14:creationId xmlns:p14="http://schemas.microsoft.com/office/powerpoint/2010/main" val="22965877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地图上有字&#10;&#10;描述已自动生成"/>
          <p:cNvPicPr>
            <a:picLocks noChangeAspect="1"/>
          </p:cNvPicPr>
          <p:nvPr/>
        </p:nvPicPr>
        <p:blipFill>
          <a:blip r:embed="rId2"/>
          <a:srcRect/>
          <a:stretch>
            <a:fillRect/>
          </a:stretch>
        </p:blipFill>
        <p:spPr>
          <a:xfrm>
            <a:off x="0" y="1"/>
            <a:ext cx="12192000" cy="6593682"/>
          </a:xfrm>
          <a:custGeom>
            <a:avLst/>
            <a:gdLst>
              <a:gd name="connsiteX0" fmla="*/ 780720 w 12192000"/>
              <a:gd name="connsiteY0" fmla="*/ 2857498 h 5715000"/>
              <a:gd name="connsiteX1" fmla="*/ 780720 w 12192000"/>
              <a:gd name="connsiteY1" fmla="*/ 4350694 h 5715000"/>
              <a:gd name="connsiteX2" fmla="*/ 2635322 w 12192000"/>
              <a:gd name="connsiteY2" fmla="*/ 4350694 h 5715000"/>
              <a:gd name="connsiteX3" fmla="*/ 2635322 w 12192000"/>
              <a:gd name="connsiteY3" fmla="*/ 2857498 h 5715000"/>
              <a:gd name="connsiteX4" fmla="*/ 0 w 12192000"/>
              <a:gd name="connsiteY4" fmla="*/ 0 h 5715000"/>
              <a:gd name="connsiteX5" fmla="*/ 12192000 w 12192000"/>
              <a:gd name="connsiteY5" fmla="*/ 0 h 5715000"/>
              <a:gd name="connsiteX6" fmla="*/ 12192000 w 12192000"/>
              <a:gd name="connsiteY6" fmla="*/ 5715000 h 5715000"/>
              <a:gd name="connsiteX7" fmla="*/ 0 w 12192000"/>
              <a:gd name="connsiteY7" fmla="*/ 5715000 h 571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15000">
                <a:moveTo>
                  <a:pt x="780720" y="2857498"/>
                </a:moveTo>
                <a:lnTo>
                  <a:pt x="780720" y="4350694"/>
                </a:lnTo>
                <a:lnTo>
                  <a:pt x="2635322" y="4350694"/>
                </a:lnTo>
                <a:lnTo>
                  <a:pt x="2635322" y="2857498"/>
                </a:lnTo>
                <a:close/>
                <a:moveTo>
                  <a:pt x="0" y="0"/>
                </a:moveTo>
                <a:lnTo>
                  <a:pt x="12192000" y="0"/>
                </a:lnTo>
                <a:lnTo>
                  <a:pt x="12192000" y="5715000"/>
                </a:lnTo>
                <a:lnTo>
                  <a:pt x="0" y="5715000"/>
                </a:lnTo>
                <a:close/>
              </a:path>
            </a:pathLst>
          </a:custGeom>
        </p:spPr>
      </p:pic>
      <p:sp>
        <p:nvSpPr>
          <p:cNvPr id="6" name="矩形 5"/>
          <p:cNvSpPr/>
          <p:nvPr/>
        </p:nvSpPr>
        <p:spPr>
          <a:xfrm>
            <a:off x="0" y="0"/>
            <a:ext cx="12192000" cy="68580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命运共同体</a:t>
            </a:r>
          </a:p>
        </p:txBody>
      </p:sp>
      <p:pic>
        <p:nvPicPr>
          <p:cNvPr id="14" name="Picture 3"/>
          <p:cNvPicPr>
            <a:picLocks noChangeAspect="1" noChangeArrowheads="1"/>
          </p:cNvPicPr>
          <p:nvPr/>
        </p:nvPicPr>
        <p:blipFill>
          <a:blip r:embed="rId3"/>
          <a:stretch>
            <a:fillRect/>
          </a:stretch>
        </p:blipFill>
        <p:spPr bwMode="auto">
          <a:xfrm>
            <a:off x="0" y="6031149"/>
            <a:ext cx="12192000" cy="826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3095625" y="1655322"/>
            <a:ext cx="6000749" cy="4111510"/>
          </a:xfrm>
          <a:prstGeom prst="rect">
            <a:avLst/>
          </a:prstGeom>
        </p:spPr>
        <p:txBody>
          <a:bodyPr wrap="square">
            <a:spAutoFit/>
          </a:bodyPr>
          <a:lstStyle/>
          <a:p>
            <a:pPr indent="457200">
              <a:lnSpc>
                <a:spcPct val="150000"/>
              </a:lnSpc>
            </a:pP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人类命运共同体或构建人类命运共同体是中华人民共和国外交的理论和实践。构建人类命运共同体于</a:t>
            </a:r>
            <a:r>
              <a:rPr lang="en-US" altLang="zh-CN"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2017</a:t>
            </a: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年</a:t>
            </a:r>
            <a:r>
              <a:rPr lang="en-US" altLang="zh-CN"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10</a:t>
            </a: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月写入中共共产党党章。人类命运共同体于</a:t>
            </a:r>
            <a:r>
              <a:rPr lang="en-US" altLang="zh-CN"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2018</a:t>
            </a: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年修宪时写入</a:t>
            </a:r>
            <a:r>
              <a:rPr lang="en-US" altLang="zh-CN"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a:t>
            </a: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中华人民共和国宪法</a:t>
            </a:r>
            <a:r>
              <a:rPr lang="en-US" altLang="zh-CN"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a:t>
            </a: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序言。官方表述人类命运共同体是一种价值观，也是中国把握世界潮流、人类命运走向上的智慧体现。同时，中国也强调了中国不求全球霸权，中国的目标是“构建人类命运共同体”。在</a:t>
            </a:r>
            <a:r>
              <a:rPr lang="en-US" altLang="zh-CN"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2017</a:t>
            </a: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年</a:t>
            </a:r>
            <a:r>
              <a:rPr lang="en-US" altLang="zh-CN"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12</a:t>
            </a: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月的中国共产党与世界政党高层对话会上，中共中央总书记习近平表述：“人类命运共同体，顾名思义，就是每个民族、每个国家的前途命运都紧紧联系在一起，应该风雨同舟，荣辱与共，努力把我们生于斯、长于斯的这个星球建成一个和睦的大家庭，把世界各国人民对美好生活的向往变成现实。</a:t>
            </a:r>
            <a:endParaRPr lang="zh-CN" altLang="en-US" sz="1600" dirty="0">
              <a:latin typeface="微软雅黑" panose="020B0503020204020204" pitchFamily="34" charset="-122"/>
              <a:ea typeface="微软雅黑" panose="020B0503020204020204" pitchFamily="34" charset="-122"/>
              <a:cs typeface="阿里巴巴普惠体 M" panose="00020600040101010101" pitchFamily="18" charset="-122"/>
            </a:endParaRPr>
          </a:p>
        </p:txBody>
      </p:sp>
      <p:grpSp>
        <p:nvGrpSpPr>
          <p:cNvPr id="9" name="组合 8">
            <a:extLst>
              <a:ext uri="{FF2B5EF4-FFF2-40B4-BE49-F238E27FC236}">
                <a16:creationId xmlns:a16="http://schemas.microsoft.com/office/drawing/2014/main" id="{720C3802-5126-448A-8F1A-714795D4651F}"/>
              </a:ext>
            </a:extLst>
          </p:cNvPr>
          <p:cNvGrpSpPr/>
          <p:nvPr/>
        </p:nvGrpSpPr>
        <p:grpSpPr>
          <a:xfrm>
            <a:off x="73270" y="102868"/>
            <a:ext cx="8343104" cy="1323254"/>
            <a:chOff x="73270" y="102868"/>
            <a:chExt cx="8343104" cy="1323254"/>
          </a:xfrm>
        </p:grpSpPr>
        <p:sp>
          <p:nvSpPr>
            <p:cNvPr id="11" name="文本框 10">
              <a:extLst>
                <a:ext uri="{FF2B5EF4-FFF2-40B4-BE49-F238E27FC236}">
                  <a16:creationId xmlns:a16="http://schemas.microsoft.com/office/drawing/2014/main" id="{DADE61AA-C414-42DA-8EEA-32B8F9972AB8}"/>
                </a:ext>
              </a:extLst>
            </p:cNvPr>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抗疫中的制度优势</a:t>
              </a:r>
            </a:p>
          </p:txBody>
        </p:sp>
        <p:pic>
          <p:nvPicPr>
            <p:cNvPr id="13" name="图片 12" descr="电脑萤幕画面&#10;&#10;描述已自动生成">
              <a:extLst>
                <a:ext uri="{FF2B5EF4-FFF2-40B4-BE49-F238E27FC236}">
                  <a16:creationId xmlns:a16="http://schemas.microsoft.com/office/drawing/2014/main" id="{8BDF7A9A-C0B2-43A7-927C-1AF4A71F85A9}"/>
                </a:ext>
              </a:extLst>
            </p:cNvPr>
            <p:cNvPicPr>
              <a:picLocks noChangeAspect="1"/>
            </p:cNvPicPr>
            <p:nvPr/>
          </p:nvPicPr>
          <p:blipFill>
            <a:blip r:embed="rId4"/>
            <a:stretch>
              <a:fillRect/>
            </a:stretch>
          </p:blipFill>
          <p:spPr>
            <a:xfrm flipH="1">
              <a:off x="73270" y="172328"/>
              <a:ext cx="8343104" cy="1253794"/>
            </a:xfrm>
            <a:prstGeom prst="rect">
              <a:avLst/>
            </a:prstGeom>
          </p:spPr>
        </p:pic>
        <p:sp>
          <p:nvSpPr>
            <p:cNvPr id="15" name="文本框 14">
              <a:extLst>
                <a:ext uri="{FF2B5EF4-FFF2-40B4-BE49-F238E27FC236}">
                  <a16:creationId xmlns:a16="http://schemas.microsoft.com/office/drawing/2014/main" id="{DA95D988-4C9A-4FDB-8482-C2E56CECE046}"/>
                </a:ext>
              </a:extLst>
            </p:cNvPr>
            <p:cNvSpPr txBox="1"/>
            <p:nvPr/>
          </p:nvSpPr>
          <p:spPr>
            <a:xfrm>
              <a:off x="852060" y="490591"/>
              <a:ext cx="38087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命运共同体</a:t>
              </a:r>
            </a:p>
          </p:txBody>
        </p:sp>
      </p:grpSp>
    </p:spTree>
    <p:extLst>
      <p:ext uri="{BB962C8B-B14F-4D97-AF65-F5344CB8AC3E}">
        <p14:creationId xmlns:p14="http://schemas.microsoft.com/office/powerpoint/2010/main" val="7835421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地图上有字&#10;&#10;描述已自动生成"/>
          <p:cNvPicPr>
            <a:picLocks noChangeAspect="1"/>
          </p:cNvPicPr>
          <p:nvPr/>
        </p:nvPicPr>
        <p:blipFill>
          <a:blip r:embed="rId2"/>
          <a:srcRect/>
          <a:stretch>
            <a:fillRect/>
          </a:stretch>
        </p:blipFill>
        <p:spPr>
          <a:xfrm>
            <a:off x="0" y="1"/>
            <a:ext cx="12192000" cy="6593682"/>
          </a:xfrm>
          <a:custGeom>
            <a:avLst/>
            <a:gdLst>
              <a:gd name="connsiteX0" fmla="*/ 780720 w 12192000"/>
              <a:gd name="connsiteY0" fmla="*/ 2857498 h 5715000"/>
              <a:gd name="connsiteX1" fmla="*/ 780720 w 12192000"/>
              <a:gd name="connsiteY1" fmla="*/ 4350694 h 5715000"/>
              <a:gd name="connsiteX2" fmla="*/ 2635322 w 12192000"/>
              <a:gd name="connsiteY2" fmla="*/ 4350694 h 5715000"/>
              <a:gd name="connsiteX3" fmla="*/ 2635322 w 12192000"/>
              <a:gd name="connsiteY3" fmla="*/ 2857498 h 5715000"/>
              <a:gd name="connsiteX4" fmla="*/ 0 w 12192000"/>
              <a:gd name="connsiteY4" fmla="*/ 0 h 5715000"/>
              <a:gd name="connsiteX5" fmla="*/ 12192000 w 12192000"/>
              <a:gd name="connsiteY5" fmla="*/ 0 h 5715000"/>
              <a:gd name="connsiteX6" fmla="*/ 12192000 w 12192000"/>
              <a:gd name="connsiteY6" fmla="*/ 5715000 h 5715000"/>
              <a:gd name="connsiteX7" fmla="*/ 0 w 12192000"/>
              <a:gd name="connsiteY7" fmla="*/ 5715000 h 571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15000">
                <a:moveTo>
                  <a:pt x="780720" y="2857498"/>
                </a:moveTo>
                <a:lnTo>
                  <a:pt x="780720" y="4350694"/>
                </a:lnTo>
                <a:lnTo>
                  <a:pt x="2635322" y="4350694"/>
                </a:lnTo>
                <a:lnTo>
                  <a:pt x="2635322" y="2857498"/>
                </a:lnTo>
                <a:close/>
                <a:moveTo>
                  <a:pt x="0" y="0"/>
                </a:moveTo>
                <a:lnTo>
                  <a:pt x="12192000" y="0"/>
                </a:lnTo>
                <a:lnTo>
                  <a:pt x="12192000" y="5715000"/>
                </a:lnTo>
                <a:lnTo>
                  <a:pt x="0" y="5715000"/>
                </a:lnTo>
                <a:close/>
              </a:path>
            </a:pathLst>
          </a:custGeom>
        </p:spPr>
      </p:pic>
      <p:sp>
        <p:nvSpPr>
          <p:cNvPr id="6" name="矩形 5"/>
          <p:cNvSpPr/>
          <p:nvPr/>
        </p:nvSpPr>
        <p:spPr>
          <a:xfrm>
            <a:off x="0" y="0"/>
            <a:ext cx="12192000" cy="68580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文本框 9"/>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命运共同体</a:t>
            </a:r>
          </a:p>
        </p:txBody>
      </p:sp>
      <p:pic>
        <p:nvPicPr>
          <p:cNvPr id="14" name="Picture 3"/>
          <p:cNvPicPr>
            <a:picLocks noChangeAspect="1" noChangeArrowheads="1"/>
          </p:cNvPicPr>
          <p:nvPr/>
        </p:nvPicPr>
        <p:blipFill>
          <a:blip r:embed="rId3"/>
          <a:stretch>
            <a:fillRect/>
          </a:stretch>
        </p:blipFill>
        <p:spPr bwMode="auto">
          <a:xfrm>
            <a:off x="0" y="6031149"/>
            <a:ext cx="12192000" cy="826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3095625" y="1528783"/>
            <a:ext cx="6000749" cy="1156855"/>
          </a:xfrm>
          <a:prstGeom prst="rect">
            <a:avLst/>
          </a:prstGeom>
        </p:spPr>
        <p:txBody>
          <a:bodyPr wrap="square">
            <a:spAutoFit/>
          </a:bodyPr>
          <a:lstStyle/>
          <a:p>
            <a:pPr indent="457200">
              <a:lnSpc>
                <a:spcPct val="150000"/>
              </a:lnSpc>
            </a:pP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“构建人类命运共同体，建设持久和平、普遍安全、共同繁荣、开放包容、清洁美丽的世界。”习近平总书记在十九大报告中的这句话，道出了构建人类命运共同体思想内涵的核心。</a:t>
            </a:r>
            <a:endParaRPr lang="zh-CN" altLang="en-US" sz="1600" dirty="0">
              <a:latin typeface="微软雅黑" panose="020B0503020204020204" pitchFamily="34" charset="-122"/>
              <a:ea typeface="微软雅黑" panose="020B0503020204020204" pitchFamily="34" charset="-122"/>
              <a:cs typeface="阿里巴巴普惠体 M" panose="00020600040101010101" pitchFamily="18" charset="-122"/>
            </a:endParaRPr>
          </a:p>
        </p:txBody>
      </p:sp>
      <p:grpSp>
        <p:nvGrpSpPr>
          <p:cNvPr id="2" name="组合 1">
            <a:extLst>
              <a:ext uri="{FF2B5EF4-FFF2-40B4-BE49-F238E27FC236}">
                <a16:creationId xmlns:a16="http://schemas.microsoft.com/office/drawing/2014/main" id="{17DF4FA5-777A-4637-A391-2DE2608B4745}"/>
              </a:ext>
            </a:extLst>
          </p:cNvPr>
          <p:cNvGrpSpPr/>
          <p:nvPr/>
        </p:nvGrpSpPr>
        <p:grpSpPr>
          <a:xfrm>
            <a:off x="2013489" y="2870014"/>
            <a:ext cx="8165020" cy="3294361"/>
            <a:chOff x="978980" y="2319597"/>
            <a:chExt cx="8165020" cy="3294361"/>
          </a:xfrm>
        </p:grpSpPr>
        <p:sp>
          <p:nvSpPr>
            <p:cNvPr id="9" name="燕尾形 3">
              <a:extLst>
                <a:ext uri="{FF2B5EF4-FFF2-40B4-BE49-F238E27FC236}">
                  <a16:creationId xmlns:a16="http://schemas.microsoft.com/office/drawing/2014/main" id="{B27EE656-92A3-4B2A-B747-DEEA5E83457C}"/>
                </a:ext>
              </a:extLst>
            </p:cNvPr>
            <p:cNvSpPr/>
            <p:nvPr/>
          </p:nvSpPr>
          <p:spPr>
            <a:xfrm>
              <a:off x="978981" y="2344320"/>
              <a:ext cx="1551377" cy="535331"/>
            </a:xfrm>
            <a:prstGeom prst="chevron">
              <a:avLst/>
            </a:prstGeom>
            <a:solidFill>
              <a:srgbClr val="C00000"/>
            </a:solidFill>
            <a:ln w="285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600" dirty="0">
                  <a:solidFill>
                    <a:schemeClr val="bg1"/>
                  </a:solidFill>
                  <a:latin typeface="微软雅黑" panose="020B0503020204020204" pitchFamily="34" charset="-122"/>
                  <a:ea typeface="微软雅黑" panose="020B0503020204020204" pitchFamily="34" charset="-122"/>
                  <a:cs typeface="+mn-ea"/>
                  <a:sym typeface="+mn-lt"/>
                </a:rPr>
                <a:t>政治上</a:t>
              </a:r>
            </a:p>
          </p:txBody>
        </p:sp>
        <p:sp>
          <p:nvSpPr>
            <p:cNvPr id="16" name="燕尾形 3">
              <a:extLst>
                <a:ext uri="{FF2B5EF4-FFF2-40B4-BE49-F238E27FC236}">
                  <a16:creationId xmlns:a16="http://schemas.microsoft.com/office/drawing/2014/main" id="{F065D7E4-98D6-431B-A5A7-3BF5FF354238}"/>
                </a:ext>
              </a:extLst>
            </p:cNvPr>
            <p:cNvSpPr/>
            <p:nvPr/>
          </p:nvSpPr>
          <p:spPr>
            <a:xfrm>
              <a:off x="978983" y="3029176"/>
              <a:ext cx="1551377" cy="535331"/>
            </a:xfrm>
            <a:prstGeom prst="chevron">
              <a:avLst/>
            </a:prstGeom>
            <a:solidFill>
              <a:srgbClr val="C00000"/>
            </a:solidFill>
            <a:ln w="285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600" dirty="0">
                  <a:solidFill>
                    <a:schemeClr val="bg1"/>
                  </a:solidFill>
                  <a:latin typeface="微软雅黑" panose="020B0503020204020204" pitchFamily="34" charset="-122"/>
                  <a:ea typeface="微软雅黑" panose="020B0503020204020204" pitchFamily="34" charset="-122"/>
                  <a:cs typeface="+mn-ea"/>
                  <a:sym typeface="+mn-lt"/>
                </a:rPr>
                <a:t>安全上</a:t>
              </a:r>
            </a:p>
          </p:txBody>
        </p:sp>
        <p:sp>
          <p:nvSpPr>
            <p:cNvPr id="17" name="燕尾形 3">
              <a:extLst>
                <a:ext uri="{FF2B5EF4-FFF2-40B4-BE49-F238E27FC236}">
                  <a16:creationId xmlns:a16="http://schemas.microsoft.com/office/drawing/2014/main" id="{6DE54E1F-893F-48B2-B5CD-6DA84985948D}"/>
                </a:ext>
              </a:extLst>
            </p:cNvPr>
            <p:cNvSpPr/>
            <p:nvPr/>
          </p:nvSpPr>
          <p:spPr>
            <a:xfrm>
              <a:off x="978981" y="3714032"/>
              <a:ext cx="1551377" cy="535331"/>
            </a:xfrm>
            <a:prstGeom prst="chevron">
              <a:avLst/>
            </a:prstGeom>
            <a:solidFill>
              <a:srgbClr val="C00000"/>
            </a:solidFill>
            <a:ln w="285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600" dirty="0">
                  <a:solidFill>
                    <a:schemeClr val="bg1"/>
                  </a:solidFill>
                  <a:latin typeface="微软雅黑" panose="020B0503020204020204" pitchFamily="34" charset="-122"/>
                  <a:ea typeface="微软雅黑" panose="020B0503020204020204" pitchFamily="34" charset="-122"/>
                  <a:cs typeface="+mn-ea"/>
                  <a:sym typeface="+mn-lt"/>
                </a:rPr>
                <a:t>经济上</a:t>
              </a:r>
            </a:p>
          </p:txBody>
        </p:sp>
        <p:sp>
          <p:nvSpPr>
            <p:cNvPr id="18" name="燕尾形 3">
              <a:extLst>
                <a:ext uri="{FF2B5EF4-FFF2-40B4-BE49-F238E27FC236}">
                  <a16:creationId xmlns:a16="http://schemas.microsoft.com/office/drawing/2014/main" id="{A00F419C-2E11-4F28-B071-1CD4F08441CE}"/>
                </a:ext>
              </a:extLst>
            </p:cNvPr>
            <p:cNvSpPr/>
            <p:nvPr/>
          </p:nvSpPr>
          <p:spPr>
            <a:xfrm>
              <a:off x="978982" y="4398888"/>
              <a:ext cx="1551377" cy="535331"/>
            </a:xfrm>
            <a:prstGeom prst="chevron">
              <a:avLst/>
            </a:prstGeom>
            <a:solidFill>
              <a:srgbClr val="C00000"/>
            </a:solidFill>
            <a:ln w="285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600" dirty="0">
                  <a:solidFill>
                    <a:schemeClr val="bg1"/>
                  </a:solidFill>
                  <a:latin typeface="微软雅黑" panose="020B0503020204020204" pitchFamily="34" charset="-122"/>
                  <a:ea typeface="微软雅黑" panose="020B0503020204020204" pitchFamily="34" charset="-122"/>
                  <a:cs typeface="+mn-ea"/>
                  <a:sym typeface="+mn-lt"/>
                </a:rPr>
                <a:t>文化上</a:t>
              </a:r>
            </a:p>
          </p:txBody>
        </p:sp>
        <p:sp>
          <p:nvSpPr>
            <p:cNvPr id="19" name="燕尾形 3">
              <a:extLst>
                <a:ext uri="{FF2B5EF4-FFF2-40B4-BE49-F238E27FC236}">
                  <a16:creationId xmlns:a16="http://schemas.microsoft.com/office/drawing/2014/main" id="{158B87F2-860F-4FFB-B7A8-68D4CC7FF40B}"/>
                </a:ext>
              </a:extLst>
            </p:cNvPr>
            <p:cNvSpPr/>
            <p:nvPr/>
          </p:nvSpPr>
          <p:spPr>
            <a:xfrm>
              <a:off x="978980" y="5078627"/>
              <a:ext cx="1551377" cy="535331"/>
            </a:xfrm>
            <a:prstGeom prst="chevron">
              <a:avLst/>
            </a:prstGeom>
            <a:solidFill>
              <a:srgbClr val="C00000"/>
            </a:solidFill>
            <a:ln w="285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600" dirty="0">
                  <a:solidFill>
                    <a:schemeClr val="bg1"/>
                  </a:solidFill>
                  <a:latin typeface="微软雅黑" panose="020B0503020204020204" pitchFamily="34" charset="-122"/>
                  <a:ea typeface="微软雅黑" panose="020B0503020204020204" pitchFamily="34" charset="-122"/>
                  <a:cs typeface="+mn-ea"/>
                  <a:sym typeface="+mn-lt"/>
                </a:rPr>
                <a:t>生态上</a:t>
              </a:r>
            </a:p>
          </p:txBody>
        </p:sp>
        <p:sp>
          <p:nvSpPr>
            <p:cNvPr id="20" name="矩形 19">
              <a:extLst>
                <a:ext uri="{FF2B5EF4-FFF2-40B4-BE49-F238E27FC236}">
                  <a16:creationId xmlns:a16="http://schemas.microsoft.com/office/drawing/2014/main" id="{A7989B7C-62A4-40AA-BF2D-C959C5EBE4C0}"/>
                </a:ext>
              </a:extLst>
            </p:cNvPr>
            <p:cNvSpPr/>
            <p:nvPr/>
          </p:nvSpPr>
          <p:spPr>
            <a:xfrm>
              <a:off x="2563027" y="2319597"/>
              <a:ext cx="6580973" cy="58477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dirty="0">
                  <a:latin typeface="阿里巴巴普惠体 M" panose="00020600040101010101" pitchFamily="18" charset="-122"/>
                  <a:ea typeface="阿里巴巴普惠体 M" panose="00020600040101010101" pitchFamily="18" charset="-122"/>
                  <a:cs typeface="阿里巴巴普惠体 M" panose="00020600040101010101" pitchFamily="18" charset="-122"/>
                  <a:sym typeface="+mn-lt"/>
                </a:rPr>
                <a:t>要相互尊重、平等协商，坚决摒弃冷战思维和强权政治，走对话而不对抗、结伴而不结盟的国与国交往新路</a:t>
              </a:r>
            </a:p>
          </p:txBody>
        </p:sp>
        <p:sp>
          <p:nvSpPr>
            <p:cNvPr id="21" name="矩形 20">
              <a:extLst>
                <a:ext uri="{FF2B5EF4-FFF2-40B4-BE49-F238E27FC236}">
                  <a16:creationId xmlns:a16="http://schemas.microsoft.com/office/drawing/2014/main" id="{C4DB0BA6-F2E8-430A-A8FF-9E4BBD38C99E}"/>
                </a:ext>
              </a:extLst>
            </p:cNvPr>
            <p:cNvSpPr/>
            <p:nvPr/>
          </p:nvSpPr>
          <p:spPr>
            <a:xfrm>
              <a:off x="2563027" y="3001484"/>
              <a:ext cx="6580973" cy="58477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dirty="0">
                  <a:latin typeface="阿里巴巴普惠体 M" panose="00020600040101010101" pitchFamily="18" charset="-122"/>
                  <a:ea typeface="阿里巴巴普惠体 M" panose="00020600040101010101" pitchFamily="18" charset="-122"/>
                  <a:cs typeface="阿里巴巴普惠体 M" panose="00020600040101010101" pitchFamily="18" charset="-122"/>
                  <a:sym typeface="+mn-lt"/>
                </a:rPr>
                <a:t>要坚持以对话解决争端、以协商化解分歧，统筹应对传统和非传统安全威胁，反对一切形式的恐怖主义</a:t>
              </a:r>
            </a:p>
          </p:txBody>
        </p:sp>
        <p:sp>
          <p:nvSpPr>
            <p:cNvPr id="22" name="矩形 21">
              <a:extLst>
                <a:ext uri="{FF2B5EF4-FFF2-40B4-BE49-F238E27FC236}">
                  <a16:creationId xmlns:a16="http://schemas.microsoft.com/office/drawing/2014/main" id="{5237812D-E483-4F10-B930-61EF65AD0B07}"/>
                </a:ext>
              </a:extLst>
            </p:cNvPr>
            <p:cNvSpPr/>
            <p:nvPr/>
          </p:nvSpPr>
          <p:spPr>
            <a:xfrm>
              <a:off x="2563027" y="3688920"/>
              <a:ext cx="6580973" cy="58477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dirty="0">
                  <a:latin typeface="阿里巴巴普惠体 M" panose="00020600040101010101" pitchFamily="18" charset="-122"/>
                  <a:ea typeface="阿里巴巴普惠体 M" panose="00020600040101010101" pitchFamily="18" charset="-122"/>
                  <a:cs typeface="阿里巴巴普惠体 M" panose="00020600040101010101" pitchFamily="18" charset="-122"/>
                  <a:sym typeface="+mn-lt"/>
                </a:rPr>
                <a:t>要同舟共济，促进贸易和投资自由化便利化，推动经济全球化朝着更加开放、包容、普惠、平衡、共赢的方向发展</a:t>
              </a:r>
            </a:p>
          </p:txBody>
        </p:sp>
        <p:sp>
          <p:nvSpPr>
            <p:cNvPr id="23" name="矩形 22">
              <a:extLst>
                <a:ext uri="{FF2B5EF4-FFF2-40B4-BE49-F238E27FC236}">
                  <a16:creationId xmlns:a16="http://schemas.microsoft.com/office/drawing/2014/main" id="{DF5CD789-78DE-4A27-964B-D928F6BEAE3C}"/>
                </a:ext>
              </a:extLst>
            </p:cNvPr>
            <p:cNvSpPr/>
            <p:nvPr/>
          </p:nvSpPr>
          <p:spPr>
            <a:xfrm>
              <a:off x="2563027" y="4369438"/>
              <a:ext cx="6580973" cy="58477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dirty="0">
                  <a:latin typeface="阿里巴巴普惠体 M" panose="00020600040101010101" pitchFamily="18" charset="-122"/>
                  <a:ea typeface="阿里巴巴普惠体 M" panose="00020600040101010101" pitchFamily="18" charset="-122"/>
                  <a:cs typeface="阿里巴巴普惠体 M" panose="00020600040101010101" pitchFamily="18" charset="-122"/>
                  <a:sym typeface="+mn-lt"/>
                </a:rPr>
                <a:t>要尊重世界文明多样性，以文明交流超越文明隔阂、文明互鉴超越文明优越</a:t>
              </a:r>
            </a:p>
          </p:txBody>
        </p:sp>
        <p:sp>
          <p:nvSpPr>
            <p:cNvPr id="24" name="矩形 23">
              <a:extLst>
                <a:ext uri="{FF2B5EF4-FFF2-40B4-BE49-F238E27FC236}">
                  <a16:creationId xmlns:a16="http://schemas.microsoft.com/office/drawing/2014/main" id="{75CF307E-F105-4FDF-BFD2-1628C68130E9}"/>
                </a:ext>
              </a:extLst>
            </p:cNvPr>
            <p:cNvSpPr/>
            <p:nvPr/>
          </p:nvSpPr>
          <p:spPr>
            <a:xfrm>
              <a:off x="2563027" y="5058243"/>
              <a:ext cx="6580973" cy="338554"/>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dirty="0">
                  <a:latin typeface="阿里巴巴普惠体 M" panose="00020600040101010101" pitchFamily="18" charset="-122"/>
                  <a:ea typeface="阿里巴巴普惠体 M" panose="00020600040101010101" pitchFamily="18" charset="-122"/>
                  <a:cs typeface="阿里巴巴普惠体 M" panose="00020600040101010101" pitchFamily="18" charset="-122"/>
                  <a:sym typeface="+mn-lt"/>
                </a:rPr>
                <a:t>要坚持环境友好，合作应对气候变化，保护好人类赖以生存的地球家园</a:t>
              </a:r>
            </a:p>
          </p:txBody>
        </p:sp>
      </p:grpSp>
      <p:grpSp>
        <p:nvGrpSpPr>
          <p:cNvPr id="25" name="组合 24">
            <a:extLst>
              <a:ext uri="{FF2B5EF4-FFF2-40B4-BE49-F238E27FC236}">
                <a16:creationId xmlns:a16="http://schemas.microsoft.com/office/drawing/2014/main" id="{66857F76-63EC-451B-93F9-92722AC32C23}"/>
              </a:ext>
            </a:extLst>
          </p:cNvPr>
          <p:cNvGrpSpPr/>
          <p:nvPr/>
        </p:nvGrpSpPr>
        <p:grpSpPr>
          <a:xfrm>
            <a:off x="73270" y="102868"/>
            <a:ext cx="8343104" cy="1323254"/>
            <a:chOff x="73270" y="102868"/>
            <a:chExt cx="8343104" cy="1323254"/>
          </a:xfrm>
        </p:grpSpPr>
        <p:sp>
          <p:nvSpPr>
            <p:cNvPr id="26" name="文本框 25">
              <a:extLst>
                <a:ext uri="{FF2B5EF4-FFF2-40B4-BE49-F238E27FC236}">
                  <a16:creationId xmlns:a16="http://schemas.microsoft.com/office/drawing/2014/main" id="{1FE308B4-BF96-4C97-8F2A-DA37BAB8B862}"/>
                </a:ext>
              </a:extLst>
            </p:cNvPr>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抗疫中的制度优势</a:t>
              </a:r>
            </a:p>
          </p:txBody>
        </p:sp>
        <p:pic>
          <p:nvPicPr>
            <p:cNvPr id="27" name="图片 26" descr="电脑萤幕画面&#10;&#10;描述已自动生成">
              <a:extLst>
                <a:ext uri="{FF2B5EF4-FFF2-40B4-BE49-F238E27FC236}">
                  <a16:creationId xmlns:a16="http://schemas.microsoft.com/office/drawing/2014/main" id="{82728995-D2BD-4906-B539-97DC86FAF4B0}"/>
                </a:ext>
              </a:extLst>
            </p:cNvPr>
            <p:cNvPicPr>
              <a:picLocks noChangeAspect="1"/>
            </p:cNvPicPr>
            <p:nvPr/>
          </p:nvPicPr>
          <p:blipFill>
            <a:blip r:embed="rId4"/>
            <a:stretch>
              <a:fillRect/>
            </a:stretch>
          </p:blipFill>
          <p:spPr>
            <a:xfrm flipH="1">
              <a:off x="73270" y="172328"/>
              <a:ext cx="8343104" cy="1253794"/>
            </a:xfrm>
            <a:prstGeom prst="rect">
              <a:avLst/>
            </a:prstGeom>
          </p:spPr>
        </p:pic>
        <p:sp>
          <p:nvSpPr>
            <p:cNvPr id="28" name="文本框 27">
              <a:extLst>
                <a:ext uri="{FF2B5EF4-FFF2-40B4-BE49-F238E27FC236}">
                  <a16:creationId xmlns:a16="http://schemas.microsoft.com/office/drawing/2014/main" id="{D96840C7-DF0C-4E58-B7EF-18DE54174B2C}"/>
                </a:ext>
              </a:extLst>
            </p:cNvPr>
            <p:cNvSpPr txBox="1"/>
            <p:nvPr/>
          </p:nvSpPr>
          <p:spPr>
            <a:xfrm>
              <a:off x="852060" y="490591"/>
              <a:ext cx="38087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命运共同体</a:t>
              </a:r>
            </a:p>
          </p:txBody>
        </p:sp>
      </p:grpSp>
    </p:spTree>
    <p:extLst>
      <p:ext uri="{BB962C8B-B14F-4D97-AF65-F5344CB8AC3E}">
        <p14:creationId xmlns:p14="http://schemas.microsoft.com/office/powerpoint/2010/main" val="23629218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地图上有字&#10;&#10;描述已自动生成"/>
          <p:cNvPicPr>
            <a:picLocks noChangeAspect="1"/>
          </p:cNvPicPr>
          <p:nvPr/>
        </p:nvPicPr>
        <p:blipFill>
          <a:blip r:embed="rId2"/>
          <a:srcRect/>
          <a:stretch>
            <a:fillRect/>
          </a:stretch>
        </p:blipFill>
        <p:spPr>
          <a:xfrm>
            <a:off x="0" y="1"/>
            <a:ext cx="12192000" cy="6593682"/>
          </a:xfrm>
          <a:custGeom>
            <a:avLst/>
            <a:gdLst>
              <a:gd name="connsiteX0" fmla="*/ 780720 w 12192000"/>
              <a:gd name="connsiteY0" fmla="*/ 2857498 h 5715000"/>
              <a:gd name="connsiteX1" fmla="*/ 780720 w 12192000"/>
              <a:gd name="connsiteY1" fmla="*/ 4350694 h 5715000"/>
              <a:gd name="connsiteX2" fmla="*/ 2635322 w 12192000"/>
              <a:gd name="connsiteY2" fmla="*/ 4350694 h 5715000"/>
              <a:gd name="connsiteX3" fmla="*/ 2635322 w 12192000"/>
              <a:gd name="connsiteY3" fmla="*/ 2857498 h 5715000"/>
              <a:gd name="connsiteX4" fmla="*/ 0 w 12192000"/>
              <a:gd name="connsiteY4" fmla="*/ 0 h 5715000"/>
              <a:gd name="connsiteX5" fmla="*/ 12192000 w 12192000"/>
              <a:gd name="connsiteY5" fmla="*/ 0 h 5715000"/>
              <a:gd name="connsiteX6" fmla="*/ 12192000 w 12192000"/>
              <a:gd name="connsiteY6" fmla="*/ 5715000 h 5715000"/>
              <a:gd name="connsiteX7" fmla="*/ 0 w 12192000"/>
              <a:gd name="connsiteY7" fmla="*/ 5715000 h 571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15000">
                <a:moveTo>
                  <a:pt x="780720" y="2857498"/>
                </a:moveTo>
                <a:lnTo>
                  <a:pt x="780720" y="4350694"/>
                </a:lnTo>
                <a:lnTo>
                  <a:pt x="2635322" y="4350694"/>
                </a:lnTo>
                <a:lnTo>
                  <a:pt x="2635322" y="2857498"/>
                </a:lnTo>
                <a:close/>
                <a:moveTo>
                  <a:pt x="0" y="0"/>
                </a:moveTo>
                <a:lnTo>
                  <a:pt x="12192000" y="0"/>
                </a:lnTo>
                <a:lnTo>
                  <a:pt x="12192000" y="5715000"/>
                </a:lnTo>
                <a:lnTo>
                  <a:pt x="0" y="5715000"/>
                </a:lnTo>
                <a:close/>
              </a:path>
            </a:pathLst>
          </a:custGeom>
        </p:spPr>
      </p:pic>
      <p:sp>
        <p:nvSpPr>
          <p:cNvPr id="6" name="矩形 5"/>
          <p:cNvSpPr/>
          <p:nvPr/>
        </p:nvSpPr>
        <p:spPr>
          <a:xfrm>
            <a:off x="0" y="0"/>
            <a:ext cx="12192000" cy="68580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命运共同体</a:t>
            </a:r>
          </a:p>
        </p:txBody>
      </p:sp>
      <p:pic>
        <p:nvPicPr>
          <p:cNvPr id="14" name="Picture 3"/>
          <p:cNvPicPr>
            <a:picLocks noChangeAspect="1" noChangeArrowheads="1"/>
          </p:cNvPicPr>
          <p:nvPr/>
        </p:nvPicPr>
        <p:blipFill>
          <a:blip r:embed="rId3"/>
          <a:stretch>
            <a:fillRect/>
          </a:stretch>
        </p:blipFill>
        <p:spPr bwMode="auto">
          <a:xfrm>
            <a:off x="0" y="6031149"/>
            <a:ext cx="12192000" cy="826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678994" y="1703186"/>
            <a:ext cx="8065511" cy="787523"/>
          </a:xfrm>
          <a:prstGeom prst="rect">
            <a:avLst/>
          </a:prstGeom>
        </p:spPr>
        <p:txBody>
          <a:bodyPr wrap="square">
            <a:spAutoFit/>
          </a:bodyPr>
          <a:lstStyle/>
          <a:p>
            <a:pPr indent="457200">
              <a:lnSpc>
                <a:spcPct val="150000"/>
              </a:lnSpc>
            </a:pP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人类命运共同体这一超越民族国家和意识形态的“全球观”，表达了中国追求和平发展的愿望，体现了中国与各国合作共赢的理念，是对近代西方文明的扬弃与超越。</a:t>
            </a:r>
            <a:endParaRPr lang="zh-CN" altLang="en-US" sz="1600" dirty="0">
              <a:latin typeface="微软雅黑" panose="020B0503020204020204" pitchFamily="34" charset="-122"/>
              <a:ea typeface="微软雅黑" panose="020B0503020204020204" pitchFamily="34" charset="-122"/>
              <a:cs typeface="阿里巴巴普惠体 M" panose="00020600040101010101" pitchFamily="18" charset="-122"/>
            </a:endParaRPr>
          </a:p>
        </p:txBody>
      </p:sp>
      <p:grpSp>
        <p:nvGrpSpPr>
          <p:cNvPr id="9" name="Group 39">
            <a:extLst>
              <a:ext uri="{FF2B5EF4-FFF2-40B4-BE49-F238E27FC236}">
                <a16:creationId xmlns:a16="http://schemas.microsoft.com/office/drawing/2014/main" id="{9A0BDAF8-3178-4D53-A45E-C1B025C821FB}"/>
              </a:ext>
            </a:extLst>
          </p:cNvPr>
          <p:cNvGrpSpPr/>
          <p:nvPr/>
        </p:nvGrpSpPr>
        <p:grpSpPr>
          <a:xfrm>
            <a:off x="678994" y="2679075"/>
            <a:ext cx="705395" cy="692092"/>
            <a:chOff x="6369311" y="2040370"/>
            <a:chExt cx="755703" cy="755703"/>
          </a:xfrm>
        </p:grpSpPr>
        <p:sp>
          <p:nvSpPr>
            <p:cNvPr id="11" name="Oval 7">
              <a:extLst>
                <a:ext uri="{FF2B5EF4-FFF2-40B4-BE49-F238E27FC236}">
                  <a16:creationId xmlns:a16="http://schemas.microsoft.com/office/drawing/2014/main" id="{556940ED-C151-4282-8876-DE87F5879173}"/>
                </a:ext>
              </a:extLst>
            </p:cNvPr>
            <p:cNvSpPr/>
            <p:nvPr/>
          </p:nvSpPr>
          <p:spPr>
            <a:xfrm>
              <a:off x="6369311" y="2040370"/>
              <a:ext cx="755703" cy="75570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just">
                <a:lnSpc>
                  <a:spcPct val="120000"/>
                </a:lnSpc>
              </a:pPr>
              <a:endParaRPr lang="en-GB" sz="1600" b="1">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 name="TextBox 11">
              <a:extLst>
                <a:ext uri="{FF2B5EF4-FFF2-40B4-BE49-F238E27FC236}">
                  <a16:creationId xmlns:a16="http://schemas.microsoft.com/office/drawing/2014/main" id="{25A76065-FFFB-4751-ACAF-E1049929C4A0}"/>
                </a:ext>
              </a:extLst>
            </p:cNvPr>
            <p:cNvSpPr txBox="1"/>
            <p:nvPr/>
          </p:nvSpPr>
          <p:spPr>
            <a:xfrm>
              <a:off x="6538335" y="2208373"/>
              <a:ext cx="417654" cy="395646"/>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6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一</a:t>
              </a:r>
              <a:endParaRPr lang="en-GB" sz="16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2" name="文本框 1">
            <a:extLst>
              <a:ext uri="{FF2B5EF4-FFF2-40B4-BE49-F238E27FC236}">
                <a16:creationId xmlns:a16="http://schemas.microsoft.com/office/drawing/2014/main" id="{2D0C3F96-ECE5-4A46-BF79-79E2937110E4}"/>
              </a:ext>
            </a:extLst>
          </p:cNvPr>
          <p:cNvSpPr txBox="1"/>
          <p:nvPr/>
        </p:nvSpPr>
        <p:spPr>
          <a:xfrm>
            <a:off x="1384388" y="2794289"/>
            <a:ext cx="2503503" cy="461665"/>
          </a:xfrm>
          <a:prstGeom prst="rect">
            <a:avLst/>
          </a:prstGeom>
          <a:noFill/>
        </p:spPr>
        <p:txBody>
          <a:bodyPr wrap="square" rtlCol="0">
            <a:spAutoFit/>
          </a:bodyPr>
          <a:lstStyle/>
          <a:p>
            <a:r>
              <a:rPr lang="zh-CN" altLang="en-US" sz="1200" dirty="0">
                <a:solidFill>
                  <a:srgbClr val="A5300F"/>
                </a:solidFill>
                <a:latin typeface="微软雅黑" panose="020B0503020204020204" pitchFamily="34" charset="-122"/>
                <a:ea typeface="微软雅黑" panose="020B0503020204020204" pitchFamily="34" charset="-122"/>
              </a:rPr>
              <a:t>人类命运共同体思想是道路创新，是对西方现代化道路的超越</a:t>
            </a:r>
          </a:p>
        </p:txBody>
      </p:sp>
      <p:grpSp>
        <p:nvGrpSpPr>
          <p:cNvPr id="16" name="Group 40">
            <a:extLst>
              <a:ext uri="{FF2B5EF4-FFF2-40B4-BE49-F238E27FC236}">
                <a16:creationId xmlns:a16="http://schemas.microsoft.com/office/drawing/2014/main" id="{CE9DFE29-62EF-4B96-A0FD-3B0796FB2C31}"/>
              </a:ext>
            </a:extLst>
          </p:cNvPr>
          <p:cNvGrpSpPr/>
          <p:nvPr/>
        </p:nvGrpSpPr>
        <p:grpSpPr>
          <a:xfrm>
            <a:off x="4019657" y="2679075"/>
            <a:ext cx="692092" cy="692092"/>
            <a:chOff x="6369311" y="2992454"/>
            <a:chExt cx="755703" cy="755703"/>
          </a:xfrm>
        </p:grpSpPr>
        <p:sp>
          <p:nvSpPr>
            <p:cNvPr id="17" name="Oval 8">
              <a:extLst>
                <a:ext uri="{FF2B5EF4-FFF2-40B4-BE49-F238E27FC236}">
                  <a16:creationId xmlns:a16="http://schemas.microsoft.com/office/drawing/2014/main" id="{9D6FC8D6-6F3E-4262-9FF6-ABD6FB68C885}"/>
                </a:ext>
              </a:extLst>
            </p:cNvPr>
            <p:cNvSpPr/>
            <p:nvPr/>
          </p:nvSpPr>
          <p:spPr>
            <a:xfrm>
              <a:off x="6369311" y="2992454"/>
              <a:ext cx="755703" cy="75570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just">
                <a:lnSpc>
                  <a:spcPct val="120000"/>
                </a:lnSpc>
              </a:pPr>
              <a:endParaRPr lang="en-GB" sz="160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TextBox 12">
              <a:extLst>
                <a:ext uri="{FF2B5EF4-FFF2-40B4-BE49-F238E27FC236}">
                  <a16:creationId xmlns:a16="http://schemas.microsoft.com/office/drawing/2014/main" id="{5207DFBD-66CA-400A-AEA0-DE2C68F471F1}"/>
                </a:ext>
              </a:extLst>
            </p:cNvPr>
            <p:cNvSpPr txBox="1"/>
            <p:nvPr/>
          </p:nvSpPr>
          <p:spPr>
            <a:xfrm>
              <a:off x="6534321" y="3160455"/>
              <a:ext cx="425682" cy="395646"/>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6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二</a:t>
              </a:r>
              <a:endParaRPr lang="en-GB" sz="16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9" name="Group 41">
            <a:extLst>
              <a:ext uri="{FF2B5EF4-FFF2-40B4-BE49-F238E27FC236}">
                <a16:creationId xmlns:a16="http://schemas.microsoft.com/office/drawing/2014/main" id="{0452B746-6E01-4065-9715-7DCF08781A69}"/>
              </a:ext>
            </a:extLst>
          </p:cNvPr>
          <p:cNvGrpSpPr/>
          <p:nvPr/>
        </p:nvGrpSpPr>
        <p:grpSpPr>
          <a:xfrm>
            <a:off x="7347017" y="2679075"/>
            <a:ext cx="692092" cy="692092"/>
            <a:chOff x="6369310" y="3944537"/>
            <a:chExt cx="755703" cy="755703"/>
          </a:xfrm>
        </p:grpSpPr>
        <p:sp>
          <p:nvSpPr>
            <p:cNvPr id="20" name="Oval 10">
              <a:extLst>
                <a:ext uri="{FF2B5EF4-FFF2-40B4-BE49-F238E27FC236}">
                  <a16:creationId xmlns:a16="http://schemas.microsoft.com/office/drawing/2014/main" id="{6503423E-E3B1-47F2-BCDD-CECC7920BED5}"/>
                </a:ext>
              </a:extLst>
            </p:cNvPr>
            <p:cNvSpPr/>
            <p:nvPr/>
          </p:nvSpPr>
          <p:spPr>
            <a:xfrm>
              <a:off x="6369310" y="3944537"/>
              <a:ext cx="755703" cy="7557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just">
                <a:lnSpc>
                  <a:spcPct val="120000"/>
                </a:lnSpc>
              </a:pPr>
              <a:endParaRPr lang="en-GB" sz="160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TextBox 13">
              <a:extLst>
                <a:ext uri="{FF2B5EF4-FFF2-40B4-BE49-F238E27FC236}">
                  <a16:creationId xmlns:a16="http://schemas.microsoft.com/office/drawing/2014/main" id="{FDD78843-3517-4495-9C81-5EE6E4E9FF3D}"/>
                </a:ext>
              </a:extLst>
            </p:cNvPr>
            <p:cNvSpPr txBox="1"/>
            <p:nvPr/>
          </p:nvSpPr>
          <p:spPr>
            <a:xfrm>
              <a:off x="6534320" y="4114593"/>
              <a:ext cx="425682" cy="395646"/>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6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三</a:t>
              </a:r>
              <a:endParaRPr lang="en-GB" sz="16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22" name="文本框 21">
            <a:extLst>
              <a:ext uri="{FF2B5EF4-FFF2-40B4-BE49-F238E27FC236}">
                <a16:creationId xmlns:a16="http://schemas.microsoft.com/office/drawing/2014/main" id="{E6E64DA6-73E8-4589-92A6-FFA037659F77}"/>
              </a:ext>
            </a:extLst>
          </p:cNvPr>
          <p:cNvSpPr txBox="1"/>
          <p:nvPr/>
        </p:nvSpPr>
        <p:spPr>
          <a:xfrm>
            <a:off x="4692392" y="2794289"/>
            <a:ext cx="2503503" cy="461665"/>
          </a:xfrm>
          <a:prstGeom prst="rect">
            <a:avLst/>
          </a:prstGeom>
          <a:noFill/>
        </p:spPr>
        <p:txBody>
          <a:bodyPr wrap="square" rtlCol="0">
            <a:spAutoFit/>
          </a:bodyPr>
          <a:lstStyle/>
          <a:p>
            <a:r>
              <a:rPr lang="zh-CN" altLang="en-US" sz="1200" dirty="0">
                <a:solidFill>
                  <a:srgbClr val="D55816"/>
                </a:solidFill>
                <a:latin typeface="微软雅黑" panose="020B0503020204020204" pitchFamily="34" charset="-122"/>
                <a:ea typeface="微软雅黑" panose="020B0503020204020204" pitchFamily="34" charset="-122"/>
              </a:rPr>
              <a:t>人类命运共同体思想是理论创新，是对西方现代化理论的超越</a:t>
            </a:r>
          </a:p>
        </p:txBody>
      </p:sp>
      <p:sp>
        <p:nvSpPr>
          <p:cNvPr id="23" name="文本框 22">
            <a:extLst>
              <a:ext uri="{FF2B5EF4-FFF2-40B4-BE49-F238E27FC236}">
                <a16:creationId xmlns:a16="http://schemas.microsoft.com/office/drawing/2014/main" id="{C40D1C54-8BC8-4556-82E8-D49B302C1BE4}"/>
              </a:ext>
            </a:extLst>
          </p:cNvPr>
          <p:cNvSpPr txBox="1"/>
          <p:nvPr/>
        </p:nvSpPr>
        <p:spPr>
          <a:xfrm>
            <a:off x="8020589" y="2784743"/>
            <a:ext cx="2503503" cy="461665"/>
          </a:xfrm>
          <a:prstGeom prst="rect">
            <a:avLst/>
          </a:prstGeom>
          <a:noFill/>
        </p:spPr>
        <p:txBody>
          <a:bodyPr wrap="square" rtlCol="0">
            <a:spAutoFit/>
          </a:bodyPr>
          <a:lstStyle/>
          <a:p>
            <a:r>
              <a:rPr lang="zh-CN" altLang="en-US" sz="1200" dirty="0">
                <a:solidFill>
                  <a:srgbClr val="E19825"/>
                </a:solidFill>
                <a:latin typeface="微软雅黑" panose="020B0503020204020204" pitchFamily="34" charset="-122"/>
                <a:ea typeface="微软雅黑" panose="020B0503020204020204" pitchFamily="34" charset="-122"/>
              </a:rPr>
              <a:t>人类命运共同体思想是制度创新，是对西方现代制度的超越</a:t>
            </a:r>
          </a:p>
        </p:txBody>
      </p:sp>
      <p:sp>
        <p:nvSpPr>
          <p:cNvPr id="3" name="文本框 2">
            <a:extLst>
              <a:ext uri="{FF2B5EF4-FFF2-40B4-BE49-F238E27FC236}">
                <a16:creationId xmlns:a16="http://schemas.microsoft.com/office/drawing/2014/main" id="{47CAFC5C-AB03-415B-A4F9-218D261E2EB0}"/>
              </a:ext>
            </a:extLst>
          </p:cNvPr>
          <p:cNvSpPr txBox="1"/>
          <p:nvPr/>
        </p:nvSpPr>
        <p:spPr>
          <a:xfrm>
            <a:off x="1384387" y="3428959"/>
            <a:ext cx="2503503" cy="2123658"/>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西方现代化的每一轮大发展都是以技术革命为前提的。在本质上是以资本扩张为中心、以国家为本位和以西方中心主义为特征的现代化道路。中国提出的人类命运共同体思想，根本上是一种共同现代化道路，是对西方国家单独现代化道路的扬弃和超越，它强调要顺应全球化带来的利益相互交融的趋势，推动人类走向共同发展、协调发展、均衡发展和普惠发展。</a:t>
            </a:r>
          </a:p>
        </p:txBody>
      </p:sp>
      <p:sp>
        <p:nvSpPr>
          <p:cNvPr id="24" name="文本框 23">
            <a:extLst>
              <a:ext uri="{FF2B5EF4-FFF2-40B4-BE49-F238E27FC236}">
                <a16:creationId xmlns:a16="http://schemas.microsoft.com/office/drawing/2014/main" id="{6D370DA8-2761-4195-B0A6-07665DFD09BD}"/>
              </a:ext>
            </a:extLst>
          </p:cNvPr>
          <p:cNvSpPr txBox="1"/>
          <p:nvPr/>
        </p:nvSpPr>
        <p:spPr>
          <a:xfrm>
            <a:off x="4692391" y="3428959"/>
            <a:ext cx="2503503" cy="1384995"/>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西方现代化道路实践基础上产生的西方现代化理论都是以西方国家的现代化标准为中心，强调个人主义、世俗化、自主化。人类命运共同体思想强调共同体本位；强调你中有我、我中有你，一荣俱荣、一损俱损。</a:t>
            </a:r>
          </a:p>
        </p:txBody>
      </p:sp>
      <p:sp>
        <p:nvSpPr>
          <p:cNvPr id="25" name="文本框 24">
            <a:extLst>
              <a:ext uri="{FF2B5EF4-FFF2-40B4-BE49-F238E27FC236}">
                <a16:creationId xmlns:a16="http://schemas.microsoft.com/office/drawing/2014/main" id="{B84BB6FC-1A3E-4592-8042-A424087B0035}"/>
              </a:ext>
            </a:extLst>
          </p:cNvPr>
          <p:cNvSpPr txBox="1"/>
          <p:nvPr/>
        </p:nvSpPr>
        <p:spPr>
          <a:xfrm>
            <a:off x="8020589" y="3428959"/>
            <a:ext cx="2503503" cy="2492990"/>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近代以来，发达国家在现代化推动下，确立了自由、民主、人权、法治等自认为是代表先进和文明的普世价值观，并在这些核心价值观下，确立了市场经济、代议制、分权制衡、法治政治、基本人权等一系列政治经济制度体系以维护西方发达国家的利益。人类命运共同体思想更强调超越时空束缚，以整体意识、全球思维和人类观念，对现有制度体系进行改革，推动现有国际体系和国际秩序向着公正合理的方向发展。</a:t>
            </a:r>
          </a:p>
        </p:txBody>
      </p:sp>
      <p:grpSp>
        <p:nvGrpSpPr>
          <p:cNvPr id="26" name="组合 25">
            <a:extLst>
              <a:ext uri="{FF2B5EF4-FFF2-40B4-BE49-F238E27FC236}">
                <a16:creationId xmlns:a16="http://schemas.microsoft.com/office/drawing/2014/main" id="{AC221DBA-633E-4349-BA94-BB57EEFC5C33}"/>
              </a:ext>
            </a:extLst>
          </p:cNvPr>
          <p:cNvGrpSpPr/>
          <p:nvPr/>
        </p:nvGrpSpPr>
        <p:grpSpPr>
          <a:xfrm>
            <a:off x="73270" y="102868"/>
            <a:ext cx="8343104" cy="1323254"/>
            <a:chOff x="73270" y="102868"/>
            <a:chExt cx="8343104" cy="1323254"/>
          </a:xfrm>
        </p:grpSpPr>
        <p:sp>
          <p:nvSpPr>
            <p:cNvPr id="27" name="文本框 26">
              <a:extLst>
                <a:ext uri="{FF2B5EF4-FFF2-40B4-BE49-F238E27FC236}">
                  <a16:creationId xmlns:a16="http://schemas.microsoft.com/office/drawing/2014/main" id="{9D9BA159-9363-4B1A-A9D4-49DCC5DB1CE2}"/>
                </a:ext>
              </a:extLst>
            </p:cNvPr>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抗疫中的制度优势</a:t>
              </a:r>
            </a:p>
          </p:txBody>
        </p:sp>
        <p:pic>
          <p:nvPicPr>
            <p:cNvPr id="28" name="图片 27" descr="电脑萤幕画面&#10;&#10;描述已自动生成">
              <a:extLst>
                <a:ext uri="{FF2B5EF4-FFF2-40B4-BE49-F238E27FC236}">
                  <a16:creationId xmlns:a16="http://schemas.microsoft.com/office/drawing/2014/main" id="{2ACDBEC6-4953-4093-9E9A-4523571509A2}"/>
                </a:ext>
              </a:extLst>
            </p:cNvPr>
            <p:cNvPicPr>
              <a:picLocks noChangeAspect="1"/>
            </p:cNvPicPr>
            <p:nvPr/>
          </p:nvPicPr>
          <p:blipFill>
            <a:blip r:embed="rId4"/>
            <a:stretch>
              <a:fillRect/>
            </a:stretch>
          </p:blipFill>
          <p:spPr>
            <a:xfrm flipH="1">
              <a:off x="73270" y="172328"/>
              <a:ext cx="8343104" cy="1253794"/>
            </a:xfrm>
            <a:prstGeom prst="rect">
              <a:avLst/>
            </a:prstGeom>
          </p:spPr>
        </p:pic>
        <p:sp>
          <p:nvSpPr>
            <p:cNvPr id="29" name="文本框 28">
              <a:extLst>
                <a:ext uri="{FF2B5EF4-FFF2-40B4-BE49-F238E27FC236}">
                  <a16:creationId xmlns:a16="http://schemas.microsoft.com/office/drawing/2014/main" id="{6C0C94E9-C246-4226-A67E-94EFD2A4796C}"/>
                </a:ext>
              </a:extLst>
            </p:cNvPr>
            <p:cNvSpPr txBox="1"/>
            <p:nvPr/>
          </p:nvSpPr>
          <p:spPr>
            <a:xfrm>
              <a:off x="852060" y="490591"/>
              <a:ext cx="38087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命运共同体</a:t>
              </a:r>
            </a:p>
          </p:txBody>
        </p:sp>
      </p:grpSp>
    </p:spTree>
    <p:extLst>
      <p:ext uri="{BB962C8B-B14F-4D97-AF65-F5344CB8AC3E}">
        <p14:creationId xmlns:p14="http://schemas.microsoft.com/office/powerpoint/2010/main" val="19190771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地图上有字&#10;&#10;描述已自动生成"/>
          <p:cNvPicPr>
            <a:picLocks noChangeAspect="1"/>
          </p:cNvPicPr>
          <p:nvPr/>
        </p:nvPicPr>
        <p:blipFill>
          <a:blip r:embed="rId2"/>
          <a:srcRect/>
          <a:stretch>
            <a:fillRect/>
          </a:stretch>
        </p:blipFill>
        <p:spPr>
          <a:xfrm>
            <a:off x="0" y="1"/>
            <a:ext cx="12192000" cy="6593682"/>
          </a:xfrm>
          <a:custGeom>
            <a:avLst/>
            <a:gdLst>
              <a:gd name="connsiteX0" fmla="*/ 780720 w 12192000"/>
              <a:gd name="connsiteY0" fmla="*/ 2857498 h 5715000"/>
              <a:gd name="connsiteX1" fmla="*/ 780720 w 12192000"/>
              <a:gd name="connsiteY1" fmla="*/ 4350694 h 5715000"/>
              <a:gd name="connsiteX2" fmla="*/ 2635322 w 12192000"/>
              <a:gd name="connsiteY2" fmla="*/ 4350694 h 5715000"/>
              <a:gd name="connsiteX3" fmla="*/ 2635322 w 12192000"/>
              <a:gd name="connsiteY3" fmla="*/ 2857498 h 5715000"/>
              <a:gd name="connsiteX4" fmla="*/ 0 w 12192000"/>
              <a:gd name="connsiteY4" fmla="*/ 0 h 5715000"/>
              <a:gd name="connsiteX5" fmla="*/ 12192000 w 12192000"/>
              <a:gd name="connsiteY5" fmla="*/ 0 h 5715000"/>
              <a:gd name="connsiteX6" fmla="*/ 12192000 w 12192000"/>
              <a:gd name="connsiteY6" fmla="*/ 5715000 h 5715000"/>
              <a:gd name="connsiteX7" fmla="*/ 0 w 12192000"/>
              <a:gd name="connsiteY7" fmla="*/ 5715000 h 571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15000">
                <a:moveTo>
                  <a:pt x="780720" y="2857498"/>
                </a:moveTo>
                <a:lnTo>
                  <a:pt x="780720" y="4350694"/>
                </a:lnTo>
                <a:lnTo>
                  <a:pt x="2635322" y="4350694"/>
                </a:lnTo>
                <a:lnTo>
                  <a:pt x="2635322" y="2857498"/>
                </a:lnTo>
                <a:close/>
                <a:moveTo>
                  <a:pt x="0" y="0"/>
                </a:moveTo>
                <a:lnTo>
                  <a:pt x="12192000" y="0"/>
                </a:lnTo>
                <a:lnTo>
                  <a:pt x="12192000" y="5715000"/>
                </a:lnTo>
                <a:lnTo>
                  <a:pt x="0" y="5715000"/>
                </a:lnTo>
                <a:close/>
              </a:path>
            </a:pathLst>
          </a:custGeom>
        </p:spPr>
      </p:pic>
      <p:sp>
        <p:nvSpPr>
          <p:cNvPr id="6" name="矩形 5"/>
          <p:cNvSpPr/>
          <p:nvPr/>
        </p:nvSpPr>
        <p:spPr>
          <a:xfrm>
            <a:off x="0" y="0"/>
            <a:ext cx="12192000" cy="68580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一带一路</a:t>
            </a:r>
          </a:p>
        </p:txBody>
      </p:sp>
      <p:pic>
        <p:nvPicPr>
          <p:cNvPr id="14" name="Picture 3"/>
          <p:cNvPicPr>
            <a:picLocks noChangeAspect="1" noChangeArrowheads="1"/>
          </p:cNvPicPr>
          <p:nvPr/>
        </p:nvPicPr>
        <p:blipFill>
          <a:blip r:embed="rId3"/>
          <a:stretch>
            <a:fillRect/>
          </a:stretch>
        </p:blipFill>
        <p:spPr bwMode="auto">
          <a:xfrm>
            <a:off x="0" y="6031149"/>
            <a:ext cx="12192000" cy="826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3095625" y="2111908"/>
            <a:ext cx="6000749" cy="2634183"/>
          </a:xfrm>
          <a:prstGeom prst="rect">
            <a:avLst/>
          </a:prstGeom>
        </p:spPr>
        <p:txBody>
          <a:bodyPr wrap="square">
            <a:spAutoFit/>
          </a:bodyPr>
          <a:lstStyle/>
          <a:p>
            <a:pPr indent="457200">
              <a:lnSpc>
                <a:spcPct val="150000"/>
              </a:lnSpc>
            </a:pP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丝绸之路经济带和</a:t>
            </a:r>
            <a:r>
              <a:rPr lang="en-US" altLang="zh-CN"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21</a:t>
            </a: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世纪海上丝绸之路（英语：</a:t>
            </a:r>
            <a:r>
              <a:rPr lang="en-US" altLang="zh-CN"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The Silk Road Economic Belt and the 21st-century Maritime Silk Road</a:t>
            </a: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），简称一带一路（英语：</a:t>
            </a:r>
            <a:r>
              <a:rPr lang="en-US" altLang="zh-CN"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The Belt and Road Initiative</a:t>
            </a: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，标准英文缩写：</a:t>
            </a:r>
            <a:r>
              <a:rPr lang="en-US" altLang="zh-CN"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B&amp;R</a:t>
            </a: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），是中华人民共和国政府于</a:t>
            </a:r>
            <a:r>
              <a:rPr lang="en-US" altLang="zh-CN"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2013</a:t>
            </a: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年倡议并主导的跨国经济带。其范围涵盖历史上丝绸之路和海上丝绸之路行经的中国大陆、中亚、北亚和西亚、印度洋沿岸、地中海沿岸、南美洲、大西洋地区的国家。</a:t>
            </a:r>
            <a:endParaRPr lang="zh-CN" altLang="en-US" sz="1600" dirty="0">
              <a:latin typeface="微软雅黑" panose="020B0503020204020204" pitchFamily="34" charset="-122"/>
              <a:ea typeface="微软雅黑" panose="020B0503020204020204" pitchFamily="34" charset="-122"/>
              <a:cs typeface="阿里巴巴普惠体 M" panose="00020600040101010101" pitchFamily="18" charset="-122"/>
            </a:endParaRPr>
          </a:p>
        </p:txBody>
      </p:sp>
      <p:grpSp>
        <p:nvGrpSpPr>
          <p:cNvPr id="9" name="组合 8">
            <a:extLst>
              <a:ext uri="{FF2B5EF4-FFF2-40B4-BE49-F238E27FC236}">
                <a16:creationId xmlns:a16="http://schemas.microsoft.com/office/drawing/2014/main" id="{96FEE129-1FB2-4ACA-A913-0893AF2D908E}"/>
              </a:ext>
            </a:extLst>
          </p:cNvPr>
          <p:cNvGrpSpPr/>
          <p:nvPr/>
        </p:nvGrpSpPr>
        <p:grpSpPr>
          <a:xfrm>
            <a:off x="73270" y="102868"/>
            <a:ext cx="8343104" cy="1323254"/>
            <a:chOff x="73270" y="102868"/>
            <a:chExt cx="8343104" cy="1323254"/>
          </a:xfrm>
        </p:grpSpPr>
        <p:sp>
          <p:nvSpPr>
            <p:cNvPr id="11" name="文本框 10">
              <a:extLst>
                <a:ext uri="{FF2B5EF4-FFF2-40B4-BE49-F238E27FC236}">
                  <a16:creationId xmlns:a16="http://schemas.microsoft.com/office/drawing/2014/main" id="{90E5686A-46FF-4DBB-AF95-46C2E56EB246}"/>
                </a:ext>
              </a:extLst>
            </p:cNvPr>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抗疫中的制度优势</a:t>
              </a:r>
            </a:p>
          </p:txBody>
        </p:sp>
        <p:pic>
          <p:nvPicPr>
            <p:cNvPr id="13" name="图片 12" descr="电脑萤幕画面&#10;&#10;描述已自动生成">
              <a:extLst>
                <a:ext uri="{FF2B5EF4-FFF2-40B4-BE49-F238E27FC236}">
                  <a16:creationId xmlns:a16="http://schemas.microsoft.com/office/drawing/2014/main" id="{0A35E8D0-B61D-4E80-A175-61DE1F4AA2DD}"/>
                </a:ext>
              </a:extLst>
            </p:cNvPr>
            <p:cNvPicPr>
              <a:picLocks noChangeAspect="1"/>
            </p:cNvPicPr>
            <p:nvPr/>
          </p:nvPicPr>
          <p:blipFill>
            <a:blip r:embed="rId4"/>
            <a:stretch>
              <a:fillRect/>
            </a:stretch>
          </p:blipFill>
          <p:spPr>
            <a:xfrm flipH="1">
              <a:off x="73270" y="172328"/>
              <a:ext cx="8343104" cy="1253794"/>
            </a:xfrm>
            <a:prstGeom prst="rect">
              <a:avLst/>
            </a:prstGeom>
          </p:spPr>
        </p:pic>
        <p:sp>
          <p:nvSpPr>
            <p:cNvPr id="15" name="文本框 14">
              <a:extLst>
                <a:ext uri="{FF2B5EF4-FFF2-40B4-BE49-F238E27FC236}">
                  <a16:creationId xmlns:a16="http://schemas.microsoft.com/office/drawing/2014/main" id="{2DD01101-4818-45B3-8D82-F985B80570FD}"/>
                </a:ext>
              </a:extLst>
            </p:cNvPr>
            <p:cNvSpPr txBox="1"/>
            <p:nvPr/>
          </p:nvSpPr>
          <p:spPr>
            <a:xfrm>
              <a:off x="852060" y="490591"/>
              <a:ext cx="38087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一带一路</a:t>
              </a:r>
            </a:p>
          </p:txBody>
        </p:sp>
      </p:grpSp>
    </p:spTree>
    <p:extLst>
      <p:ext uri="{BB962C8B-B14F-4D97-AF65-F5344CB8AC3E}">
        <p14:creationId xmlns:p14="http://schemas.microsoft.com/office/powerpoint/2010/main" val="759645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地图上有字&#10;&#10;描述已自动生成"/>
          <p:cNvPicPr>
            <a:picLocks noChangeAspect="1"/>
          </p:cNvPicPr>
          <p:nvPr/>
        </p:nvPicPr>
        <p:blipFill>
          <a:blip r:embed="rId2"/>
          <a:srcRect/>
          <a:stretch>
            <a:fillRect/>
          </a:stretch>
        </p:blipFill>
        <p:spPr>
          <a:xfrm>
            <a:off x="0" y="1"/>
            <a:ext cx="12192000" cy="6593682"/>
          </a:xfrm>
          <a:custGeom>
            <a:avLst/>
            <a:gdLst>
              <a:gd name="connsiteX0" fmla="*/ 780720 w 12192000"/>
              <a:gd name="connsiteY0" fmla="*/ 2857498 h 5715000"/>
              <a:gd name="connsiteX1" fmla="*/ 780720 w 12192000"/>
              <a:gd name="connsiteY1" fmla="*/ 4350694 h 5715000"/>
              <a:gd name="connsiteX2" fmla="*/ 2635322 w 12192000"/>
              <a:gd name="connsiteY2" fmla="*/ 4350694 h 5715000"/>
              <a:gd name="connsiteX3" fmla="*/ 2635322 w 12192000"/>
              <a:gd name="connsiteY3" fmla="*/ 2857498 h 5715000"/>
              <a:gd name="connsiteX4" fmla="*/ 0 w 12192000"/>
              <a:gd name="connsiteY4" fmla="*/ 0 h 5715000"/>
              <a:gd name="connsiteX5" fmla="*/ 12192000 w 12192000"/>
              <a:gd name="connsiteY5" fmla="*/ 0 h 5715000"/>
              <a:gd name="connsiteX6" fmla="*/ 12192000 w 12192000"/>
              <a:gd name="connsiteY6" fmla="*/ 5715000 h 5715000"/>
              <a:gd name="connsiteX7" fmla="*/ 0 w 12192000"/>
              <a:gd name="connsiteY7" fmla="*/ 5715000 h 571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15000">
                <a:moveTo>
                  <a:pt x="780720" y="2857498"/>
                </a:moveTo>
                <a:lnTo>
                  <a:pt x="780720" y="4350694"/>
                </a:lnTo>
                <a:lnTo>
                  <a:pt x="2635322" y="4350694"/>
                </a:lnTo>
                <a:lnTo>
                  <a:pt x="2635322" y="2857498"/>
                </a:lnTo>
                <a:close/>
                <a:moveTo>
                  <a:pt x="0" y="0"/>
                </a:moveTo>
                <a:lnTo>
                  <a:pt x="12192000" y="0"/>
                </a:lnTo>
                <a:lnTo>
                  <a:pt x="12192000" y="5715000"/>
                </a:lnTo>
                <a:lnTo>
                  <a:pt x="0" y="5715000"/>
                </a:lnTo>
                <a:close/>
              </a:path>
            </a:pathLst>
          </a:custGeom>
        </p:spPr>
      </p:pic>
      <p:sp>
        <p:nvSpPr>
          <p:cNvPr id="6" name="矩形 5"/>
          <p:cNvSpPr/>
          <p:nvPr/>
        </p:nvSpPr>
        <p:spPr>
          <a:xfrm>
            <a:off x="0" y="0"/>
            <a:ext cx="12192000" cy="68580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一带一路</a:t>
            </a:r>
          </a:p>
        </p:txBody>
      </p:sp>
      <p:pic>
        <p:nvPicPr>
          <p:cNvPr id="14" name="Picture 3"/>
          <p:cNvPicPr>
            <a:picLocks noChangeAspect="1" noChangeArrowheads="1"/>
          </p:cNvPicPr>
          <p:nvPr/>
        </p:nvPicPr>
        <p:blipFill>
          <a:blip r:embed="rId3"/>
          <a:stretch>
            <a:fillRect/>
          </a:stretch>
        </p:blipFill>
        <p:spPr bwMode="auto">
          <a:xfrm>
            <a:off x="0" y="6031149"/>
            <a:ext cx="12192000" cy="826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3095625" y="1445587"/>
            <a:ext cx="6000749" cy="4850174"/>
          </a:xfrm>
          <a:prstGeom prst="rect">
            <a:avLst/>
          </a:prstGeom>
        </p:spPr>
        <p:txBody>
          <a:bodyPr wrap="square">
            <a:spAutoFit/>
          </a:bodyPr>
          <a:lstStyle/>
          <a:p>
            <a:pPr indent="457200">
              <a:lnSpc>
                <a:spcPct val="150000"/>
              </a:lnSpc>
            </a:pP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一带一路”的提出在国际上有不同的声音，有一些朋友持怀疑的态度：中国为什么要搞“一带一路”？中国是不是用“一带一路”这个战略为工具，以亚洲基础设施投资银行和丝路基金为手段，称霸世界，推行新殖民主义？更多的朋友对“一带一路”战略持高度肯定和大力支持的态度。他们认为中国的“一带一路”战略是能够促进中国和沿线国家之间的基础设施的互联互通。有利于促进区域的南南合作、南北互动、共享发展、互利共盈。而且也有利于在新的国际环境中间来推动全方位的国际合作。还有一些朋友他们也提出了担心，他们担心中国的“一带一路”战略，以及支撑“一带一路”战略的机构和组织，如“亚洲基础设施投资银行”和“丝路基金”等，能否遵循国际标准，能否兼顾本国的利益和沿线东道国的利益，能否履行社会责任和保护生态环境的责任。</a:t>
            </a:r>
            <a:endParaRPr lang="zh-CN" altLang="en-US" sz="1600" dirty="0">
              <a:latin typeface="微软雅黑" panose="020B0503020204020204" pitchFamily="34" charset="-122"/>
              <a:ea typeface="微软雅黑" panose="020B0503020204020204" pitchFamily="34" charset="-122"/>
              <a:cs typeface="阿里巴巴普惠体 M" panose="00020600040101010101" pitchFamily="18" charset="-122"/>
            </a:endParaRPr>
          </a:p>
        </p:txBody>
      </p:sp>
      <p:grpSp>
        <p:nvGrpSpPr>
          <p:cNvPr id="9" name="组合 8">
            <a:extLst>
              <a:ext uri="{FF2B5EF4-FFF2-40B4-BE49-F238E27FC236}">
                <a16:creationId xmlns:a16="http://schemas.microsoft.com/office/drawing/2014/main" id="{49952384-0835-479B-8405-9DF0AF641D76}"/>
              </a:ext>
            </a:extLst>
          </p:cNvPr>
          <p:cNvGrpSpPr/>
          <p:nvPr/>
        </p:nvGrpSpPr>
        <p:grpSpPr>
          <a:xfrm>
            <a:off x="73270" y="102868"/>
            <a:ext cx="8343104" cy="1323254"/>
            <a:chOff x="73270" y="102868"/>
            <a:chExt cx="8343104" cy="1323254"/>
          </a:xfrm>
        </p:grpSpPr>
        <p:sp>
          <p:nvSpPr>
            <p:cNvPr id="11" name="文本框 10">
              <a:extLst>
                <a:ext uri="{FF2B5EF4-FFF2-40B4-BE49-F238E27FC236}">
                  <a16:creationId xmlns:a16="http://schemas.microsoft.com/office/drawing/2014/main" id="{A36867C3-F5BD-4C43-ACD8-161DFA8CC5DA}"/>
                </a:ext>
              </a:extLst>
            </p:cNvPr>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抗疫中的制度优势</a:t>
              </a:r>
            </a:p>
          </p:txBody>
        </p:sp>
        <p:pic>
          <p:nvPicPr>
            <p:cNvPr id="13" name="图片 12" descr="电脑萤幕画面&#10;&#10;描述已自动生成">
              <a:extLst>
                <a:ext uri="{FF2B5EF4-FFF2-40B4-BE49-F238E27FC236}">
                  <a16:creationId xmlns:a16="http://schemas.microsoft.com/office/drawing/2014/main" id="{53FE0DF0-F3C1-494B-86CE-0D3DCC0DC8C7}"/>
                </a:ext>
              </a:extLst>
            </p:cNvPr>
            <p:cNvPicPr>
              <a:picLocks noChangeAspect="1"/>
            </p:cNvPicPr>
            <p:nvPr/>
          </p:nvPicPr>
          <p:blipFill>
            <a:blip r:embed="rId4"/>
            <a:stretch>
              <a:fillRect/>
            </a:stretch>
          </p:blipFill>
          <p:spPr>
            <a:xfrm flipH="1">
              <a:off x="73270" y="172328"/>
              <a:ext cx="8343104" cy="1253794"/>
            </a:xfrm>
            <a:prstGeom prst="rect">
              <a:avLst/>
            </a:prstGeom>
          </p:spPr>
        </p:pic>
        <p:sp>
          <p:nvSpPr>
            <p:cNvPr id="15" name="文本框 14">
              <a:extLst>
                <a:ext uri="{FF2B5EF4-FFF2-40B4-BE49-F238E27FC236}">
                  <a16:creationId xmlns:a16="http://schemas.microsoft.com/office/drawing/2014/main" id="{DD3B0ACE-635D-48CF-9A62-DE8751345231}"/>
                </a:ext>
              </a:extLst>
            </p:cNvPr>
            <p:cNvSpPr txBox="1"/>
            <p:nvPr/>
          </p:nvSpPr>
          <p:spPr>
            <a:xfrm>
              <a:off x="852060" y="490591"/>
              <a:ext cx="38087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一带一路</a:t>
              </a:r>
            </a:p>
          </p:txBody>
        </p:sp>
      </p:grpSp>
    </p:spTree>
    <p:extLst>
      <p:ext uri="{BB962C8B-B14F-4D97-AF65-F5344CB8AC3E}">
        <p14:creationId xmlns:p14="http://schemas.microsoft.com/office/powerpoint/2010/main" val="22061467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地图上有字&#10;&#10;描述已自动生成"/>
          <p:cNvPicPr>
            <a:picLocks noChangeAspect="1"/>
          </p:cNvPicPr>
          <p:nvPr/>
        </p:nvPicPr>
        <p:blipFill>
          <a:blip r:embed="rId2"/>
          <a:srcRect/>
          <a:stretch>
            <a:fillRect/>
          </a:stretch>
        </p:blipFill>
        <p:spPr>
          <a:xfrm>
            <a:off x="0" y="1"/>
            <a:ext cx="12192000" cy="6593682"/>
          </a:xfrm>
          <a:custGeom>
            <a:avLst/>
            <a:gdLst>
              <a:gd name="connsiteX0" fmla="*/ 780720 w 12192000"/>
              <a:gd name="connsiteY0" fmla="*/ 2857498 h 5715000"/>
              <a:gd name="connsiteX1" fmla="*/ 780720 w 12192000"/>
              <a:gd name="connsiteY1" fmla="*/ 4350694 h 5715000"/>
              <a:gd name="connsiteX2" fmla="*/ 2635322 w 12192000"/>
              <a:gd name="connsiteY2" fmla="*/ 4350694 h 5715000"/>
              <a:gd name="connsiteX3" fmla="*/ 2635322 w 12192000"/>
              <a:gd name="connsiteY3" fmla="*/ 2857498 h 5715000"/>
              <a:gd name="connsiteX4" fmla="*/ 0 w 12192000"/>
              <a:gd name="connsiteY4" fmla="*/ 0 h 5715000"/>
              <a:gd name="connsiteX5" fmla="*/ 12192000 w 12192000"/>
              <a:gd name="connsiteY5" fmla="*/ 0 h 5715000"/>
              <a:gd name="connsiteX6" fmla="*/ 12192000 w 12192000"/>
              <a:gd name="connsiteY6" fmla="*/ 5715000 h 5715000"/>
              <a:gd name="connsiteX7" fmla="*/ 0 w 12192000"/>
              <a:gd name="connsiteY7" fmla="*/ 5715000 h 571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15000">
                <a:moveTo>
                  <a:pt x="780720" y="2857498"/>
                </a:moveTo>
                <a:lnTo>
                  <a:pt x="780720" y="4350694"/>
                </a:lnTo>
                <a:lnTo>
                  <a:pt x="2635322" y="4350694"/>
                </a:lnTo>
                <a:lnTo>
                  <a:pt x="2635322" y="2857498"/>
                </a:lnTo>
                <a:close/>
                <a:moveTo>
                  <a:pt x="0" y="0"/>
                </a:moveTo>
                <a:lnTo>
                  <a:pt x="12192000" y="0"/>
                </a:lnTo>
                <a:lnTo>
                  <a:pt x="12192000" y="5715000"/>
                </a:lnTo>
                <a:lnTo>
                  <a:pt x="0" y="5715000"/>
                </a:lnTo>
                <a:close/>
              </a:path>
            </a:pathLst>
          </a:custGeom>
        </p:spPr>
      </p:pic>
      <p:sp>
        <p:nvSpPr>
          <p:cNvPr id="6" name="矩形 5"/>
          <p:cNvSpPr/>
          <p:nvPr/>
        </p:nvSpPr>
        <p:spPr>
          <a:xfrm>
            <a:off x="0" y="0"/>
            <a:ext cx="12192000" cy="68580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一带一路</a:t>
            </a:r>
          </a:p>
        </p:txBody>
      </p:sp>
      <p:pic>
        <p:nvPicPr>
          <p:cNvPr id="14" name="Picture 3"/>
          <p:cNvPicPr>
            <a:picLocks noChangeAspect="1" noChangeArrowheads="1"/>
          </p:cNvPicPr>
          <p:nvPr/>
        </p:nvPicPr>
        <p:blipFill>
          <a:blip r:embed="rId3"/>
          <a:stretch>
            <a:fillRect/>
          </a:stretch>
        </p:blipFill>
        <p:spPr bwMode="auto">
          <a:xfrm>
            <a:off x="0" y="6031149"/>
            <a:ext cx="12192000" cy="826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2491778" y="1483147"/>
            <a:ext cx="7208443" cy="1156855"/>
          </a:xfrm>
          <a:prstGeom prst="rect">
            <a:avLst/>
          </a:prstGeom>
        </p:spPr>
        <p:txBody>
          <a:bodyPr wrap="square">
            <a:spAutoFit/>
          </a:bodyPr>
          <a:lstStyle/>
          <a:p>
            <a:pPr indent="457200">
              <a:lnSpc>
                <a:spcPct val="150000"/>
              </a:lnSpc>
            </a:pP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那么为什么中国要提出“一带一路”？为什么“一带一路”中绝大多数的国家都是发展中国家和新兴经济体和转型中的国家，即所谓的穷国穷人穷地区？邓小平在三十年前曾经提出过三个重要的观点</a:t>
            </a:r>
            <a:endParaRPr lang="zh-CN" altLang="en-US" sz="1600" dirty="0">
              <a:latin typeface="微软雅黑" panose="020B0503020204020204" pitchFamily="34" charset="-122"/>
              <a:ea typeface="微软雅黑" panose="020B0503020204020204" pitchFamily="34" charset="-122"/>
              <a:cs typeface="阿里巴巴普惠体 M" panose="00020600040101010101" pitchFamily="18" charset="-122"/>
            </a:endParaRPr>
          </a:p>
        </p:txBody>
      </p:sp>
      <p:grpSp>
        <p:nvGrpSpPr>
          <p:cNvPr id="2" name="组合 1">
            <a:extLst>
              <a:ext uri="{FF2B5EF4-FFF2-40B4-BE49-F238E27FC236}">
                <a16:creationId xmlns:a16="http://schemas.microsoft.com/office/drawing/2014/main" id="{826F6D41-8C07-4575-93F1-CC6352CDF328}"/>
              </a:ext>
            </a:extLst>
          </p:cNvPr>
          <p:cNvGrpSpPr/>
          <p:nvPr/>
        </p:nvGrpSpPr>
        <p:grpSpPr>
          <a:xfrm>
            <a:off x="805098" y="2686217"/>
            <a:ext cx="10581803" cy="3287907"/>
            <a:chOff x="218818" y="2421927"/>
            <a:chExt cx="10581803" cy="3287907"/>
          </a:xfrm>
        </p:grpSpPr>
        <p:grpSp>
          <p:nvGrpSpPr>
            <p:cNvPr id="15" name="Group 39">
              <a:extLst>
                <a:ext uri="{FF2B5EF4-FFF2-40B4-BE49-F238E27FC236}">
                  <a16:creationId xmlns:a16="http://schemas.microsoft.com/office/drawing/2014/main" id="{87EDE91B-5D46-4903-AA07-98D11C865494}"/>
                </a:ext>
              </a:extLst>
            </p:cNvPr>
            <p:cNvGrpSpPr/>
            <p:nvPr/>
          </p:nvGrpSpPr>
          <p:grpSpPr>
            <a:xfrm>
              <a:off x="1396454" y="2427267"/>
              <a:ext cx="556229" cy="504379"/>
              <a:chOff x="6369311" y="2040370"/>
              <a:chExt cx="755703" cy="755703"/>
            </a:xfrm>
          </p:grpSpPr>
          <p:sp>
            <p:nvSpPr>
              <p:cNvPr id="25" name="Oval 7">
                <a:extLst>
                  <a:ext uri="{FF2B5EF4-FFF2-40B4-BE49-F238E27FC236}">
                    <a16:creationId xmlns:a16="http://schemas.microsoft.com/office/drawing/2014/main" id="{14EB123B-A1B7-4103-A1C6-3249127EFDE6}"/>
                  </a:ext>
                </a:extLst>
              </p:cNvPr>
              <p:cNvSpPr/>
              <p:nvPr/>
            </p:nvSpPr>
            <p:spPr>
              <a:xfrm>
                <a:off x="6369311" y="2040370"/>
                <a:ext cx="755703" cy="75570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just">
                  <a:lnSpc>
                    <a:spcPct val="120000"/>
                  </a:lnSpc>
                </a:pPr>
                <a:endParaRPr lang="en-GB" sz="1600" b="1">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TextBox 11">
                <a:extLst>
                  <a:ext uri="{FF2B5EF4-FFF2-40B4-BE49-F238E27FC236}">
                    <a16:creationId xmlns:a16="http://schemas.microsoft.com/office/drawing/2014/main" id="{DE8DCAF9-8F74-4837-BDAE-4433E0F0264E}"/>
                  </a:ext>
                </a:extLst>
              </p:cNvPr>
              <p:cNvSpPr txBox="1"/>
              <p:nvPr/>
            </p:nvSpPr>
            <p:spPr>
              <a:xfrm>
                <a:off x="6544402" y="2148071"/>
                <a:ext cx="405520" cy="5402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en-US" altLang="zh-CN" sz="16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1</a:t>
                </a:r>
                <a:endParaRPr lang="en-GB" sz="16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6" name="Group 39">
              <a:extLst>
                <a:ext uri="{FF2B5EF4-FFF2-40B4-BE49-F238E27FC236}">
                  <a16:creationId xmlns:a16="http://schemas.microsoft.com/office/drawing/2014/main" id="{14E250CD-E64B-4821-A314-96FFDF9C0DEB}"/>
                </a:ext>
              </a:extLst>
            </p:cNvPr>
            <p:cNvGrpSpPr/>
            <p:nvPr/>
          </p:nvGrpSpPr>
          <p:grpSpPr>
            <a:xfrm>
              <a:off x="5231606" y="2421928"/>
              <a:ext cx="556229" cy="504379"/>
              <a:chOff x="6369311" y="2040370"/>
              <a:chExt cx="755703" cy="755703"/>
            </a:xfrm>
          </p:grpSpPr>
          <p:sp>
            <p:nvSpPr>
              <p:cNvPr id="23" name="Oval 7">
                <a:extLst>
                  <a:ext uri="{FF2B5EF4-FFF2-40B4-BE49-F238E27FC236}">
                    <a16:creationId xmlns:a16="http://schemas.microsoft.com/office/drawing/2014/main" id="{2DE9A5E8-A5F7-49D8-A813-9CAA7487B66B}"/>
                  </a:ext>
                </a:extLst>
              </p:cNvPr>
              <p:cNvSpPr/>
              <p:nvPr/>
            </p:nvSpPr>
            <p:spPr>
              <a:xfrm>
                <a:off x="6369311" y="2040370"/>
                <a:ext cx="755703" cy="75570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just">
                  <a:lnSpc>
                    <a:spcPct val="120000"/>
                  </a:lnSpc>
                </a:pPr>
                <a:endParaRPr lang="en-GB" sz="1600" b="1">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TextBox 11">
                <a:extLst>
                  <a:ext uri="{FF2B5EF4-FFF2-40B4-BE49-F238E27FC236}">
                    <a16:creationId xmlns:a16="http://schemas.microsoft.com/office/drawing/2014/main" id="{5483D719-0C9E-414C-8D1D-8385791C8B48}"/>
                  </a:ext>
                </a:extLst>
              </p:cNvPr>
              <p:cNvSpPr txBox="1"/>
              <p:nvPr/>
            </p:nvSpPr>
            <p:spPr>
              <a:xfrm>
                <a:off x="6532495" y="2148071"/>
                <a:ext cx="405520" cy="5402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en-US" altLang="zh-CN" sz="16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2</a:t>
                </a:r>
                <a:endParaRPr lang="en-GB" sz="16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7" name="Group 39">
              <a:extLst>
                <a:ext uri="{FF2B5EF4-FFF2-40B4-BE49-F238E27FC236}">
                  <a16:creationId xmlns:a16="http://schemas.microsoft.com/office/drawing/2014/main" id="{190AA7C2-6EAF-4060-BA7D-DBE963070BB6}"/>
                </a:ext>
              </a:extLst>
            </p:cNvPr>
            <p:cNvGrpSpPr/>
            <p:nvPr/>
          </p:nvGrpSpPr>
          <p:grpSpPr>
            <a:xfrm>
              <a:off x="9066758" y="2421927"/>
              <a:ext cx="556229" cy="504379"/>
              <a:chOff x="6369311" y="2040370"/>
              <a:chExt cx="755703" cy="755703"/>
            </a:xfrm>
          </p:grpSpPr>
          <p:sp>
            <p:nvSpPr>
              <p:cNvPr id="21" name="Oval 7">
                <a:extLst>
                  <a:ext uri="{FF2B5EF4-FFF2-40B4-BE49-F238E27FC236}">
                    <a16:creationId xmlns:a16="http://schemas.microsoft.com/office/drawing/2014/main" id="{2C2A2976-E09F-46EB-9798-12A20E81C7DE}"/>
                  </a:ext>
                </a:extLst>
              </p:cNvPr>
              <p:cNvSpPr/>
              <p:nvPr/>
            </p:nvSpPr>
            <p:spPr>
              <a:xfrm>
                <a:off x="6369311" y="2040370"/>
                <a:ext cx="755703" cy="75570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just">
                  <a:lnSpc>
                    <a:spcPct val="120000"/>
                  </a:lnSpc>
                </a:pPr>
                <a:endParaRPr lang="en-GB" sz="1600" b="1">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TextBox 11">
                <a:extLst>
                  <a:ext uri="{FF2B5EF4-FFF2-40B4-BE49-F238E27FC236}">
                    <a16:creationId xmlns:a16="http://schemas.microsoft.com/office/drawing/2014/main" id="{088C1CEF-C366-4C29-B3BB-6D6D100B6319}"/>
                  </a:ext>
                </a:extLst>
              </p:cNvPr>
              <p:cNvSpPr txBox="1"/>
              <p:nvPr/>
            </p:nvSpPr>
            <p:spPr>
              <a:xfrm>
                <a:off x="6532495" y="2148071"/>
                <a:ext cx="405520" cy="5402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en-US" altLang="zh-CN" sz="16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3</a:t>
                </a:r>
                <a:endParaRPr lang="en-GB" sz="16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18" name="矩形 17">
              <a:extLst>
                <a:ext uri="{FF2B5EF4-FFF2-40B4-BE49-F238E27FC236}">
                  <a16:creationId xmlns:a16="http://schemas.microsoft.com/office/drawing/2014/main" id="{67BD3087-E649-4EC5-AA38-A2384CCEDE5D}"/>
                </a:ext>
              </a:extLst>
            </p:cNvPr>
            <p:cNvSpPr/>
            <p:nvPr/>
          </p:nvSpPr>
          <p:spPr>
            <a:xfrm>
              <a:off x="218818" y="3247621"/>
              <a:ext cx="2911499" cy="2462213"/>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latin typeface="微软雅黑" panose="020B0503020204020204" pitchFamily="34" charset="-122"/>
                  <a:ea typeface="微软雅黑" panose="020B0503020204020204" pitchFamily="34" charset="-122"/>
                  <a:cs typeface="阿里巴巴普惠体 M" panose="00020600040101010101" pitchFamily="18" charset="-122"/>
                  <a:sym typeface="+mn-lt"/>
                </a:rPr>
                <a:t>第一个重要的观点是在</a:t>
              </a:r>
              <a:r>
                <a:rPr lang="en-US" altLang="zh-CN" sz="1400" dirty="0">
                  <a:latin typeface="微软雅黑" panose="020B0503020204020204" pitchFamily="34" charset="-122"/>
                  <a:ea typeface="微软雅黑" panose="020B0503020204020204" pitchFamily="34" charset="-122"/>
                  <a:cs typeface="阿里巴巴普惠体 M" panose="00020600040101010101" pitchFamily="18" charset="-122"/>
                  <a:sym typeface="+mn-lt"/>
                </a:rPr>
                <a:t>1984</a:t>
              </a:r>
              <a:r>
                <a:rPr lang="zh-CN" altLang="en-US" sz="1400" dirty="0">
                  <a:latin typeface="微软雅黑" panose="020B0503020204020204" pitchFamily="34" charset="-122"/>
                  <a:ea typeface="微软雅黑" panose="020B0503020204020204" pitchFamily="34" charset="-122"/>
                  <a:cs typeface="阿里巴巴普惠体 M" panose="00020600040101010101" pitchFamily="18" charset="-122"/>
                  <a:sym typeface="+mn-lt"/>
                </a:rPr>
                <a:t>年邓小平在一次会议上讲我们中国的对外开放是三个方面的开放，既包括对西方发达国家的开放，也包括对前苏东转型中国家的开放，还包括对广大的发展中国家的开放。因此经过三十五年的改革开放，我国有了一定的实力，开放重心开始转向统筹三个方面开放，因此发展中国家转型中国家就成为我们新一轮高水平开放的一个重要组成部分。</a:t>
              </a:r>
            </a:p>
          </p:txBody>
        </p:sp>
        <p:sp>
          <p:nvSpPr>
            <p:cNvPr id="27" name="矩形 26">
              <a:extLst>
                <a:ext uri="{FF2B5EF4-FFF2-40B4-BE49-F238E27FC236}">
                  <a16:creationId xmlns:a16="http://schemas.microsoft.com/office/drawing/2014/main" id="{77B5E42F-C13E-45BF-975D-EFE32F133CED}"/>
                </a:ext>
              </a:extLst>
            </p:cNvPr>
            <p:cNvSpPr/>
            <p:nvPr/>
          </p:nvSpPr>
          <p:spPr>
            <a:xfrm>
              <a:off x="4045206" y="3247621"/>
              <a:ext cx="2911499" cy="1600438"/>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latin typeface="微软雅黑" panose="020B0503020204020204" pitchFamily="34" charset="-122"/>
                  <a:ea typeface="微软雅黑" panose="020B0503020204020204" pitchFamily="34" charset="-122"/>
                  <a:cs typeface="阿里巴巴普惠体 M" panose="00020600040101010101" pitchFamily="18" charset="-122"/>
                  <a:sym typeface="+mn-lt"/>
                </a:rPr>
                <a:t>第二个观点是两个大局的思想。第一个大局思想是三十年前全国人民要首先支持东部沿海地区率先开放开发。第二个大局思想是等到东部沿海地区发展到一定程度，东部沿海地区就有责任来支持中西部地区的开放和开发。</a:t>
              </a:r>
            </a:p>
          </p:txBody>
        </p:sp>
        <p:sp>
          <p:nvSpPr>
            <p:cNvPr id="28" name="矩形 27">
              <a:extLst>
                <a:ext uri="{FF2B5EF4-FFF2-40B4-BE49-F238E27FC236}">
                  <a16:creationId xmlns:a16="http://schemas.microsoft.com/office/drawing/2014/main" id="{D6BAED33-2559-4501-8F66-5FD337B936C3}"/>
                </a:ext>
              </a:extLst>
            </p:cNvPr>
            <p:cNvSpPr/>
            <p:nvPr/>
          </p:nvSpPr>
          <p:spPr>
            <a:xfrm>
              <a:off x="7889122" y="3247621"/>
              <a:ext cx="2911499" cy="138499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latin typeface="微软雅黑" panose="020B0503020204020204" pitchFamily="34" charset="-122"/>
                  <a:ea typeface="微软雅黑" panose="020B0503020204020204" pitchFamily="34" charset="-122"/>
                  <a:cs typeface="阿里巴巴普惠体 M" panose="00020600040101010101" pitchFamily="18" charset="-122"/>
                  <a:sym typeface="+mn-lt"/>
                </a:rPr>
                <a:t>第三个重要的观点，改革开放其实是有两层含义，对外叫开放，对内是改革。因此我们可以看到，邓小平在三十年前提出来的开放的思想它是一个对外开放和对内改革两者之间相辅相成，缺一不可的。</a:t>
              </a:r>
            </a:p>
          </p:txBody>
        </p:sp>
      </p:grpSp>
      <p:sp>
        <p:nvSpPr>
          <p:cNvPr id="29" name="矩形 28">
            <a:extLst>
              <a:ext uri="{FF2B5EF4-FFF2-40B4-BE49-F238E27FC236}">
                <a16:creationId xmlns:a16="http://schemas.microsoft.com/office/drawing/2014/main" id="{AD64EEBC-BE2F-412E-8FC4-69DE53C12157}"/>
              </a:ext>
            </a:extLst>
          </p:cNvPr>
          <p:cNvSpPr/>
          <p:nvPr/>
        </p:nvSpPr>
        <p:spPr>
          <a:xfrm>
            <a:off x="5457499" y="4954201"/>
            <a:ext cx="6000749" cy="1156855"/>
          </a:xfrm>
          <a:prstGeom prst="rect">
            <a:avLst/>
          </a:prstGeom>
        </p:spPr>
        <p:txBody>
          <a:bodyPr wrap="square">
            <a:spAutoFit/>
          </a:bodyPr>
          <a:lstStyle/>
          <a:p>
            <a:pPr indent="457200">
              <a:lnSpc>
                <a:spcPct val="150000"/>
              </a:lnSpc>
            </a:pP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我们通过“一带一路”的建设来统筹三个方面的开放，来统筹两个大局，来统筹对外开放和国内的改革。只有这样才能够真正使中国在新时期能够发挥我们负责任大国的地位和作用。</a:t>
            </a:r>
            <a:endParaRPr lang="zh-CN" altLang="en-US" sz="1600" dirty="0">
              <a:latin typeface="微软雅黑" panose="020B0503020204020204" pitchFamily="34" charset="-122"/>
              <a:ea typeface="微软雅黑" panose="020B0503020204020204" pitchFamily="34" charset="-122"/>
              <a:cs typeface="阿里巴巴普惠体 M" panose="00020600040101010101" pitchFamily="18" charset="-122"/>
            </a:endParaRPr>
          </a:p>
        </p:txBody>
      </p:sp>
      <p:grpSp>
        <p:nvGrpSpPr>
          <p:cNvPr id="30" name="组合 29">
            <a:extLst>
              <a:ext uri="{FF2B5EF4-FFF2-40B4-BE49-F238E27FC236}">
                <a16:creationId xmlns:a16="http://schemas.microsoft.com/office/drawing/2014/main" id="{300FCA44-01D0-4987-BB25-192580C4890A}"/>
              </a:ext>
            </a:extLst>
          </p:cNvPr>
          <p:cNvGrpSpPr/>
          <p:nvPr/>
        </p:nvGrpSpPr>
        <p:grpSpPr>
          <a:xfrm>
            <a:off x="73270" y="102868"/>
            <a:ext cx="8343104" cy="1323254"/>
            <a:chOff x="73270" y="102868"/>
            <a:chExt cx="8343104" cy="1323254"/>
          </a:xfrm>
        </p:grpSpPr>
        <p:sp>
          <p:nvSpPr>
            <p:cNvPr id="31" name="文本框 30">
              <a:extLst>
                <a:ext uri="{FF2B5EF4-FFF2-40B4-BE49-F238E27FC236}">
                  <a16:creationId xmlns:a16="http://schemas.microsoft.com/office/drawing/2014/main" id="{64BB5499-F63E-49D2-BC0D-46E579BE3BDC}"/>
                </a:ext>
              </a:extLst>
            </p:cNvPr>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抗疫中的制度优势</a:t>
              </a:r>
            </a:p>
          </p:txBody>
        </p:sp>
        <p:pic>
          <p:nvPicPr>
            <p:cNvPr id="32" name="图片 31" descr="电脑萤幕画面&#10;&#10;描述已自动生成">
              <a:extLst>
                <a:ext uri="{FF2B5EF4-FFF2-40B4-BE49-F238E27FC236}">
                  <a16:creationId xmlns:a16="http://schemas.microsoft.com/office/drawing/2014/main" id="{7F108548-9269-4E40-AAD3-AB93658A1D09}"/>
                </a:ext>
              </a:extLst>
            </p:cNvPr>
            <p:cNvPicPr>
              <a:picLocks noChangeAspect="1"/>
            </p:cNvPicPr>
            <p:nvPr/>
          </p:nvPicPr>
          <p:blipFill>
            <a:blip r:embed="rId4"/>
            <a:stretch>
              <a:fillRect/>
            </a:stretch>
          </p:blipFill>
          <p:spPr>
            <a:xfrm flipH="1">
              <a:off x="73270" y="172328"/>
              <a:ext cx="8343104" cy="1253794"/>
            </a:xfrm>
            <a:prstGeom prst="rect">
              <a:avLst/>
            </a:prstGeom>
          </p:spPr>
        </p:pic>
        <p:sp>
          <p:nvSpPr>
            <p:cNvPr id="33" name="文本框 32">
              <a:extLst>
                <a:ext uri="{FF2B5EF4-FFF2-40B4-BE49-F238E27FC236}">
                  <a16:creationId xmlns:a16="http://schemas.microsoft.com/office/drawing/2014/main" id="{8F150037-A43D-4081-90BA-715C8327866F}"/>
                </a:ext>
              </a:extLst>
            </p:cNvPr>
            <p:cNvSpPr txBox="1"/>
            <p:nvPr/>
          </p:nvSpPr>
          <p:spPr>
            <a:xfrm>
              <a:off x="852060" y="490591"/>
              <a:ext cx="38087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一带一路</a:t>
              </a:r>
            </a:p>
          </p:txBody>
        </p:sp>
      </p:grpSp>
    </p:spTree>
    <p:extLst>
      <p:ext uri="{BB962C8B-B14F-4D97-AF65-F5344CB8AC3E}">
        <p14:creationId xmlns:p14="http://schemas.microsoft.com/office/powerpoint/2010/main" val="599796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图片包含 游戏机, 红色, 船, 桌子&#10;&#10;描述已自动生成"/>
          <p:cNvPicPr>
            <a:picLocks noChangeAspect="1"/>
          </p:cNvPicPr>
          <p:nvPr/>
        </p:nvPicPr>
        <p:blipFill rotWithShape="1">
          <a:blip r:embed="rId2"/>
          <a:srcRect l="-32769"/>
          <a:stretch>
            <a:fillRect/>
          </a:stretch>
        </p:blipFill>
        <p:spPr>
          <a:xfrm>
            <a:off x="-4072270" y="0"/>
            <a:ext cx="16264270" cy="6971635"/>
          </a:xfrm>
          <a:prstGeom prst="rect">
            <a:avLst/>
          </a:prstGeom>
        </p:spPr>
      </p:pic>
      <p:sp>
        <p:nvSpPr>
          <p:cNvPr id="4" name="文本框 3"/>
          <p:cNvSpPr txBox="1"/>
          <p:nvPr/>
        </p:nvSpPr>
        <p:spPr>
          <a:xfrm>
            <a:off x="4059865" y="1245387"/>
            <a:ext cx="1031051" cy="1107996"/>
          </a:xfrm>
          <a:prstGeom prst="rect">
            <a:avLst/>
          </a:prstGeom>
          <a:noFill/>
        </p:spPr>
        <p:txBody>
          <a:bodyPr wrap="none" rtlCol="0">
            <a:spAutoFit/>
          </a:bodyPr>
          <a:lstStyle/>
          <a:p>
            <a:r>
              <a:rPr lang="zh-CN" altLang="en-US" sz="6600">
                <a:solidFill>
                  <a:srgbClr val="C7000B"/>
                </a:solidFill>
                <a:latin typeface="汉仪菱心体简" panose="02010609000101010101" pitchFamily="49" charset="-122"/>
                <a:ea typeface="汉仪菱心体简" panose="02010609000101010101" pitchFamily="49" charset="-122"/>
              </a:rPr>
              <a:t>第</a:t>
            </a:r>
            <a:endParaRPr lang="zh-CN" altLang="en-US" sz="6600" dirty="0">
              <a:solidFill>
                <a:srgbClr val="C7000B"/>
              </a:solidFill>
              <a:latin typeface="汉仪菱心体简" panose="02010609000101010101" pitchFamily="49" charset="-122"/>
              <a:ea typeface="汉仪菱心体简" panose="02010609000101010101" pitchFamily="49" charset="-122"/>
            </a:endParaRPr>
          </a:p>
        </p:txBody>
      </p:sp>
      <p:sp>
        <p:nvSpPr>
          <p:cNvPr id="6" name="文本框 5"/>
          <p:cNvSpPr txBox="1"/>
          <p:nvPr/>
        </p:nvSpPr>
        <p:spPr>
          <a:xfrm>
            <a:off x="4898065" y="1245387"/>
            <a:ext cx="184731" cy="1107996"/>
          </a:xfrm>
          <a:prstGeom prst="rect">
            <a:avLst/>
          </a:prstGeom>
          <a:noFill/>
        </p:spPr>
        <p:txBody>
          <a:bodyPr wrap="none" rtlCol="0">
            <a:spAutoFit/>
          </a:bodyPr>
          <a:lstStyle/>
          <a:p>
            <a:endParaRPr lang="zh-CN" altLang="en-US" sz="6600" dirty="0">
              <a:solidFill>
                <a:srgbClr val="C7000B"/>
              </a:solidFill>
              <a:latin typeface="汉仪菱心体简" panose="02010609000101010101" pitchFamily="49" charset="-122"/>
              <a:ea typeface="汉仪菱心体简" panose="02010609000101010101" pitchFamily="49" charset="-122"/>
            </a:endParaRPr>
          </a:p>
        </p:txBody>
      </p:sp>
      <p:sp>
        <p:nvSpPr>
          <p:cNvPr id="7" name="文本框 6"/>
          <p:cNvSpPr txBox="1"/>
          <p:nvPr/>
        </p:nvSpPr>
        <p:spPr>
          <a:xfrm>
            <a:off x="5034955" y="590566"/>
            <a:ext cx="1069524" cy="2215991"/>
          </a:xfrm>
          <a:prstGeom prst="rect">
            <a:avLst/>
          </a:prstGeom>
          <a:noFill/>
        </p:spPr>
        <p:txBody>
          <a:bodyPr wrap="none" rtlCol="0">
            <a:spAutoFit/>
          </a:bodyPr>
          <a:lstStyle/>
          <a:p>
            <a:r>
              <a:rPr lang="en-US" altLang="zh-CN" sz="13800" i="1" dirty="0">
                <a:solidFill>
                  <a:srgbClr val="C7000B"/>
                </a:solidFill>
                <a:effectLst>
                  <a:outerShdw blurRad="50800" dist="38100" dir="2700000" algn="tl" rotWithShape="0">
                    <a:prstClr val="black">
                      <a:alpha val="40000"/>
                    </a:prstClr>
                  </a:outerShdw>
                </a:effectLst>
                <a:latin typeface="汉仪菱心体简" panose="02010609000101010101" pitchFamily="49" charset="-122"/>
                <a:ea typeface="汉仪菱心体简" panose="02010609000101010101" pitchFamily="49" charset="-122"/>
              </a:rPr>
              <a:t>2</a:t>
            </a:r>
            <a:endParaRPr lang="zh-CN" altLang="en-US" sz="13800" dirty="0">
              <a:solidFill>
                <a:srgbClr val="C7000B"/>
              </a:solidFill>
              <a:effectLst>
                <a:outerShdw blurRad="50800" dist="38100" dir="2700000" algn="tl" rotWithShape="0">
                  <a:prstClr val="black">
                    <a:alpha val="40000"/>
                  </a:prstClr>
                </a:outerShdw>
              </a:effectLst>
              <a:latin typeface="汉仪菱心体简" panose="02010609000101010101" pitchFamily="49" charset="-122"/>
              <a:ea typeface="汉仪菱心体简" panose="02010609000101010101" pitchFamily="49" charset="-122"/>
            </a:endParaRPr>
          </a:p>
        </p:txBody>
      </p:sp>
      <p:sp>
        <p:nvSpPr>
          <p:cNvPr id="8" name="文本框 7"/>
          <p:cNvSpPr txBox="1"/>
          <p:nvPr/>
        </p:nvSpPr>
        <p:spPr>
          <a:xfrm>
            <a:off x="6356978" y="1245387"/>
            <a:ext cx="184731" cy="1107996"/>
          </a:xfrm>
          <a:prstGeom prst="rect">
            <a:avLst/>
          </a:prstGeom>
          <a:noFill/>
        </p:spPr>
        <p:txBody>
          <a:bodyPr wrap="none" rtlCol="0">
            <a:spAutoFit/>
          </a:bodyPr>
          <a:lstStyle/>
          <a:p>
            <a:endParaRPr lang="zh-CN" altLang="en-US" sz="6600" dirty="0">
              <a:solidFill>
                <a:srgbClr val="C7000B"/>
              </a:solidFill>
              <a:latin typeface="汉仪菱心体简" panose="02010609000101010101" pitchFamily="49" charset="-122"/>
              <a:ea typeface="汉仪菱心体简" panose="02010609000101010101" pitchFamily="49" charset="-122"/>
            </a:endParaRPr>
          </a:p>
        </p:txBody>
      </p:sp>
      <p:sp>
        <p:nvSpPr>
          <p:cNvPr id="9" name="文本框 8"/>
          <p:cNvSpPr txBox="1"/>
          <p:nvPr/>
        </p:nvSpPr>
        <p:spPr>
          <a:xfrm>
            <a:off x="6240935" y="1245387"/>
            <a:ext cx="1031051" cy="1107996"/>
          </a:xfrm>
          <a:prstGeom prst="rect">
            <a:avLst/>
          </a:prstGeom>
          <a:noFill/>
        </p:spPr>
        <p:txBody>
          <a:bodyPr wrap="none" rtlCol="0">
            <a:spAutoFit/>
          </a:bodyPr>
          <a:lstStyle/>
          <a:p>
            <a:r>
              <a:rPr lang="zh-CN" altLang="en-US" sz="6600" dirty="0">
                <a:solidFill>
                  <a:srgbClr val="C7000B"/>
                </a:solidFill>
                <a:latin typeface="汉仪菱心体简" panose="02010609000101010101" pitchFamily="49" charset="-122"/>
                <a:ea typeface="汉仪菱心体简" panose="02010609000101010101" pitchFamily="49" charset="-122"/>
              </a:rPr>
              <a:t>部</a:t>
            </a:r>
          </a:p>
        </p:txBody>
      </p:sp>
      <p:sp>
        <p:nvSpPr>
          <p:cNvPr id="10" name="文本框 9"/>
          <p:cNvSpPr txBox="1"/>
          <p:nvPr/>
        </p:nvSpPr>
        <p:spPr>
          <a:xfrm>
            <a:off x="7156971" y="1245387"/>
            <a:ext cx="1031051" cy="1107996"/>
          </a:xfrm>
          <a:prstGeom prst="rect">
            <a:avLst/>
          </a:prstGeom>
          <a:noFill/>
        </p:spPr>
        <p:txBody>
          <a:bodyPr wrap="none" rtlCol="0">
            <a:spAutoFit/>
          </a:bodyPr>
          <a:lstStyle/>
          <a:p>
            <a:r>
              <a:rPr lang="zh-CN" altLang="en-US" sz="6600" dirty="0">
                <a:solidFill>
                  <a:srgbClr val="C7000B"/>
                </a:solidFill>
                <a:latin typeface="汉仪菱心体简" panose="02010609000101010101" pitchFamily="49" charset="-122"/>
                <a:ea typeface="汉仪菱心体简" panose="02010609000101010101" pitchFamily="49" charset="-122"/>
              </a:rPr>
              <a:t>分</a:t>
            </a:r>
          </a:p>
        </p:txBody>
      </p:sp>
      <p:sp>
        <p:nvSpPr>
          <p:cNvPr id="11" name="文本框 10"/>
          <p:cNvSpPr txBox="1"/>
          <p:nvPr/>
        </p:nvSpPr>
        <p:spPr>
          <a:xfrm>
            <a:off x="4059865" y="2545728"/>
            <a:ext cx="6830302" cy="1107996"/>
          </a:xfrm>
          <a:prstGeom prst="rect">
            <a:avLst/>
          </a:prstGeom>
          <a:noFill/>
        </p:spPr>
        <p:txBody>
          <a:bodyPr wrap="square" rtlCol="0">
            <a:spAutoFit/>
          </a:bodyPr>
          <a:lstStyle/>
          <a:p>
            <a:r>
              <a:rPr lang="zh-CN" altLang="en-US" sz="6600" b="1" dirty="0">
                <a:solidFill>
                  <a:srgbClr val="C00000"/>
                </a:solidFill>
                <a:effectLst>
                  <a:outerShdw blurRad="38100" dist="38100" dir="2700000" algn="tl">
                    <a:srgbClr val="000000">
                      <a:alpha val="43137"/>
                    </a:srgbClr>
                  </a:outerShdw>
                </a:effectLst>
                <a:latin typeface="阿里巴巴普惠体 M" panose="00020600040101010101" pitchFamily="18" charset="-122"/>
                <a:ea typeface="阿里巴巴普惠体 M" panose="00020600040101010101" pitchFamily="18" charset="-122"/>
                <a:cs typeface="阿里巴巴普惠体 M" panose="00020600040101010101" pitchFamily="18" charset="-122"/>
              </a:rPr>
              <a:t>制度优势</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地图上有字&#10;&#10;描述已自动生成"/>
          <p:cNvPicPr>
            <a:picLocks noChangeAspect="1"/>
          </p:cNvPicPr>
          <p:nvPr/>
        </p:nvPicPr>
        <p:blipFill>
          <a:blip r:embed="rId2"/>
          <a:srcRect/>
          <a:stretch>
            <a:fillRect/>
          </a:stretch>
        </p:blipFill>
        <p:spPr>
          <a:xfrm>
            <a:off x="0" y="1"/>
            <a:ext cx="12192000" cy="6593682"/>
          </a:xfrm>
          <a:custGeom>
            <a:avLst/>
            <a:gdLst>
              <a:gd name="connsiteX0" fmla="*/ 780720 w 12192000"/>
              <a:gd name="connsiteY0" fmla="*/ 2857498 h 5715000"/>
              <a:gd name="connsiteX1" fmla="*/ 780720 w 12192000"/>
              <a:gd name="connsiteY1" fmla="*/ 4350694 h 5715000"/>
              <a:gd name="connsiteX2" fmla="*/ 2635322 w 12192000"/>
              <a:gd name="connsiteY2" fmla="*/ 4350694 h 5715000"/>
              <a:gd name="connsiteX3" fmla="*/ 2635322 w 12192000"/>
              <a:gd name="connsiteY3" fmla="*/ 2857498 h 5715000"/>
              <a:gd name="connsiteX4" fmla="*/ 0 w 12192000"/>
              <a:gd name="connsiteY4" fmla="*/ 0 h 5715000"/>
              <a:gd name="connsiteX5" fmla="*/ 12192000 w 12192000"/>
              <a:gd name="connsiteY5" fmla="*/ 0 h 5715000"/>
              <a:gd name="connsiteX6" fmla="*/ 12192000 w 12192000"/>
              <a:gd name="connsiteY6" fmla="*/ 5715000 h 5715000"/>
              <a:gd name="connsiteX7" fmla="*/ 0 w 12192000"/>
              <a:gd name="connsiteY7" fmla="*/ 5715000 h 571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15000">
                <a:moveTo>
                  <a:pt x="780720" y="2857498"/>
                </a:moveTo>
                <a:lnTo>
                  <a:pt x="780720" y="4350694"/>
                </a:lnTo>
                <a:lnTo>
                  <a:pt x="2635322" y="4350694"/>
                </a:lnTo>
                <a:lnTo>
                  <a:pt x="2635322" y="2857498"/>
                </a:lnTo>
                <a:close/>
                <a:moveTo>
                  <a:pt x="0" y="0"/>
                </a:moveTo>
                <a:lnTo>
                  <a:pt x="12192000" y="0"/>
                </a:lnTo>
                <a:lnTo>
                  <a:pt x="12192000" y="5715000"/>
                </a:lnTo>
                <a:lnTo>
                  <a:pt x="0" y="5715000"/>
                </a:lnTo>
                <a:close/>
              </a:path>
            </a:pathLst>
          </a:custGeom>
        </p:spPr>
      </p:pic>
      <p:sp>
        <p:nvSpPr>
          <p:cNvPr id="6" name="矩形 5"/>
          <p:cNvSpPr/>
          <p:nvPr/>
        </p:nvSpPr>
        <p:spPr>
          <a:xfrm>
            <a:off x="0" y="0"/>
            <a:ext cx="12192000" cy="68580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制度优势</a:t>
            </a:r>
          </a:p>
        </p:txBody>
      </p:sp>
      <p:pic>
        <p:nvPicPr>
          <p:cNvPr id="14" name="Picture 3"/>
          <p:cNvPicPr>
            <a:picLocks noChangeAspect="1" noChangeArrowheads="1"/>
          </p:cNvPicPr>
          <p:nvPr/>
        </p:nvPicPr>
        <p:blipFill>
          <a:blip r:embed="rId3"/>
          <a:stretch>
            <a:fillRect/>
          </a:stretch>
        </p:blipFill>
        <p:spPr bwMode="auto">
          <a:xfrm>
            <a:off x="0" y="6031149"/>
            <a:ext cx="12192000" cy="826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组合 8">
            <a:extLst>
              <a:ext uri="{FF2B5EF4-FFF2-40B4-BE49-F238E27FC236}">
                <a16:creationId xmlns:a16="http://schemas.microsoft.com/office/drawing/2014/main" id="{455D62CA-62C8-4BC2-9E6D-BE4D5EAFBAC7}"/>
              </a:ext>
            </a:extLst>
          </p:cNvPr>
          <p:cNvGrpSpPr/>
          <p:nvPr/>
        </p:nvGrpSpPr>
        <p:grpSpPr>
          <a:xfrm>
            <a:off x="3514470" y="1689327"/>
            <a:ext cx="5163060" cy="4054494"/>
            <a:chOff x="929332" y="2000766"/>
            <a:chExt cx="5163060" cy="4054494"/>
          </a:xfrm>
        </p:grpSpPr>
        <p:sp>
          <p:nvSpPr>
            <p:cNvPr id="11" name="文本框 10">
              <a:extLst>
                <a:ext uri="{FF2B5EF4-FFF2-40B4-BE49-F238E27FC236}">
                  <a16:creationId xmlns:a16="http://schemas.microsoft.com/office/drawing/2014/main" id="{33E98DEE-760F-4039-B746-D8A2282250B5}"/>
                </a:ext>
              </a:extLst>
            </p:cNvPr>
            <p:cNvSpPr txBox="1"/>
            <p:nvPr/>
          </p:nvSpPr>
          <p:spPr>
            <a:xfrm>
              <a:off x="1814333" y="2000766"/>
              <a:ext cx="3737003" cy="584775"/>
            </a:xfrm>
            <a:prstGeom prst="rect">
              <a:avLst/>
            </a:prstGeom>
            <a:noFill/>
          </p:spPr>
          <p:txBody>
            <a:bodyPr wrap="square" rtlCol="0">
              <a:spAutoFit/>
            </a:bodyPr>
            <a:lstStyle/>
            <a:p>
              <a:r>
                <a:rPr lang="zh-CN" altLang="en-US" sz="3200" dirty="0">
                  <a:solidFill>
                    <a:srgbClr val="C7000B"/>
                  </a:solidFill>
                  <a:latin typeface="汉仪菱心体简" panose="02010609000101010101" pitchFamily="49" charset="-122"/>
                  <a:ea typeface="汉仪菱心体简" panose="02010609000101010101" pitchFamily="49" charset="-122"/>
                </a:rPr>
                <a:t>制度优势有哪些</a:t>
              </a:r>
            </a:p>
          </p:txBody>
        </p:sp>
        <p:grpSp>
          <p:nvGrpSpPr>
            <p:cNvPr id="13" name="Group 39">
              <a:extLst>
                <a:ext uri="{FF2B5EF4-FFF2-40B4-BE49-F238E27FC236}">
                  <a16:creationId xmlns:a16="http://schemas.microsoft.com/office/drawing/2014/main" id="{4DDF1C53-907E-4597-AADE-0C49053DAFB1}"/>
                </a:ext>
              </a:extLst>
            </p:cNvPr>
            <p:cNvGrpSpPr/>
            <p:nvPr/>
          </p:nvGrpSpPr>
          <p:grpSpPr>
            <a:xfrm>
              <a:off x="929332" y="2981774"/>
              <a:ext cx="556229" cy="504379"/>
              <a:chOff x="6369311" y="2040370"/>
              <a:chExt cx="755703" cy="755703"/>
            </a:xfrm>
          </p:grpSpPr>
          <p:sp>
            <p:nvSpPr>
              <p:cNvPr id="28" name="Oval 7">
                <a:extLst>
                  <a:ext uri="{FF2B5EF4-FFF2-40B4-BE49-F238E27FC236}">
                    <a16:creationId xmlns:a16="http://schemas.microsoft.com/office/drawing/2014/main" id="{D10F0142-C9F9-45E0-B115-057335388205}"/>
                  </a:ext>
                </a:extLst>
              </p:cNvPr>
              <p:cNvSpPr/>
              <p:nvPr/>
            </p:nvSpPr>
            <p:spPr>
              <a:xfrm>
                <a:off x="6369311" y="2040370"/>
                <a:ext cx="755703" cy="75570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just">
                  <a:lnSpc>
                    <a:spcPct val="120000"/>
                  </a:lnSpc>
                </a:pPr>
                <a:endParaRPr lang="en-GB" sz="1600" b="1">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TextBox 11">
                <a:extLst>
                  <a:ext uri="{FF2B5EF4-FFF2-40B4-BE49-F238E27FC236}">
                    <a16:creationId xmlns:a16="http://schemas.microsoft.com/office/drawing/2014/main" id="{0A0846C8-C525-4566-A376-C7BE033E747B}"/>
                  </a:ext>
                </a:extLst>
              </p:cNvPr>
              <p:cNvSpPr txBox="1"/>
              <p:nvPr/>
            </p:nvSpPr>
            <p:spPr>
              <a:xfrm>
                <a:off x="6544402" y="2148071"/>
                <a:ext cx="405520" cy="5402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en-US" altLang="zh-CN" sz="16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1</a:t>
                </a:r>
                <a:endParaRPr lang="en-GB" sz="16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5" name="Group 39">
              <a:extLst>
                <a:ext uri="{FF2B5EF4-FFF2-40B4-BE49-F238E27FC236}">
                  <a16:creationId xmlns:a16="http://schemas.microsoft.com/office/drawing/2014/main" id="{E7367292-1DC0-4977-8D34-2D30118B1144}"/>
                </a:ext>
              </a:extLst>
            </p:cNvPr>
            <p:cNvGrpSpPr/>
            <p:nvPr/>
          </p:nvGrpSpPr>
          <p:grpSpPr>
            <a:xfrm>
              <a:off x="929332" y="3824340"/>
              <a:ext cx="556229" cy="504379"/>
              <a:chOff x="6369311" y="2040370"/>
              <a:chExt cx="755703" cy="755703"/>
            </a:xfrm>
          </p:grpSpPr>
          <p:sp>
            <p:nvSpPr>
              <p:cNvPr id="26" name="Oval 7">
                <a:extLst>
                  <a:ext uri="{FF2B5EF4-FFF2-40B4-BE49-F238E27FC236}">
                    <a16:creationId xmlns:a16="http://schemas.microsoft.com/office/drawing/2014/main" id="{F28E7E0C-6A45-40C6-B2E3-38842A9C0E70}"/>
                  </a:ext>
                </a:extLst>
              </p:cNvPr>
              <p:cNvSpPr/>
              <p:nvPr/>
            </p:nvSpPr>
            <p:spPr>
              <a:xfrm>
                <a:off x="6369311" y="2040370"/>
                <a:ext cx="755703" cy="75570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just">
                  <a:lnSpc>
                    <a:spcPct val="120000"/>
                  </a:lnSpc>
                </a:pPr>
                <a:endParaRPr lang="en-GB" sz="1600" b="1">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TextBox 11">
                <a:extLst>
                  <a:ext uri="{FF2B5EF4-FFF2-40B4-BE49-F238E27FC236}">
                    <a16:creationId xmlns:a16="http://schemas.microsoft.com/office/drawing/2014/main" id="{CA1A0E1C-F509-4225-B8A7-FB3316471ABE}"/>
                  </a:ext>
                </a:extLst>
              </p:cNvPr>
              <p:cNvSpPr txBox="1"/>
              <p:nvPr/>
            </p:nvSpPr>
            <p:spPr>
              <a:xfrm>
                <a:off x="6532495" y="2148071"/>
                <a:ext cx="405520" cy="5402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en-US" altLang="zh-CN" sz="16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2</a:t>
                </a:r>
                <a:endParaRPr lang="en-GB" sz="16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6" name="Group 39">
              <a:extLst>
                <a:ext uri="{FF2B5EF4-FFF2-40B4-BE49-F238E27FC236}">
                  <a16:creationId xmlns:a16="http://schemas.microsoft.com/office/drawing/2014/main" id="{0D6E3C82-279D-4834-99DB-2C8ACFF2A2BD}"/>
                </a:ext>
              </a:extLst>
            </p:cNvPr>
            <p:cNvGrpSpPr/>
            <p:nvPr/>
          </p:nvGrpSpPr>
          <p:grpSpPr>
            <a:xfrm>
              <a:off x="929332" y="4667512"/>
              <a:ext cx="556229" cy="504379"/>
              <a:chOff x="6369311" y="2040370"/>
              <a:chExt cx="755703" cy="755703"/>
            </a:xfrm>
          </p:grpSpPr>
          <p:sp>
            <p:nvSpPr>
              <p:cNvPr id="24" name="Oval 7">
                <a:extLst>
                  <a:ext uri="{FF2B5EF4-FFF2-40B4-BE49-F238E27FC236}">
                    <a16:creationId xmlns:a16="http://schemas.microsoft.com/office/drawing/2014/main" id="{81B09F23-76AA-4530-99BE-8D280D12C306}"/>
                  </a:ext>
                </a:extLst>
              </p:cNvPr>
              <p:cNvSpPr/>
              <p:nvPr/>
            </p:nvSpPr>
            <p:spPr>
              <a:xfrm>
                <a:off x="6369311" y="2040370"/>
                <a:ext cx="755703" cy="75570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just">
                  <a:lnSpc>
                    <a:spcPct val="120000"/>
                  </a:lnSpc>
                </a:pPr>
                <a:endParaRPr lang="en-GB" sz="1600" b="1">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TextBox 11">
                <a:extLst>
                  <a:ext uri="{FF2B5EF4-FFF2-40B4-BE49-F238E27FC236}">
                    <a16:creationId xmlns:a16="http://schemas.microsoft.com/office/drawing/2014/main" id="{C12F4AFE-40DF-4521-B826-DDD9BD562B8A}"/>
                  </a:ext>
                </a:extLst>
              </p:cNvPr>
              <p:cNvSpPr txBox="1"/>
              <p:nvPr/>
            </p:nvSpPr>
            <p:spPr>
              <a:xfrm>
                <a:off x="6532495" y="2148071"/>
                <a:ext cx="405520" cy="5402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en-US" altLang="zh-CN" sz="16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3</a:t>
                </a:r>
                <a:endParaRPr lang="en-GB" sz="16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17" name="矩形 16">
              <a:extLst>
                <a:ext uri="{FF2B5EF4-FFF2-40B4-BE49-F238E27FC236}">
                  <a16:creationId xmlns:a16="http://schemas.microsoft.com/office/drawing/2014/main" id="{C7804647-BDD4-46B7-928C-16A8542A9D98}"/>
                </a:ext>
              </a:extLst>
            </p:cNvPr>
            <p:cNvSpPr/>
            <p:nvPr/>
          </p:nvSpPr>
          <p:spPr>
            <a:xfrm>
              <a:off x="1666094" y="2941575"/>
              <a:ext cx="4426295" cy="58477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dirty="0">
                  <a:latin typeface="微软雅黑" panose="020B0503020204020204" pitchFamily="34" charset="-122"/>
                  <a:ea typeface="微软雅黑" panose="020B0503020204020204" pitchFamily="34" charset="-122"/>
                  <a:cs typeface="阿里巴巴普惠体 M" panose="00020600040101010101" pitchFamily="18" charset="-122"/>
                  <a:sym typeface="+mn-lt"/>
                </a:rPr>
                <a:t>人民民主专政将人民的利益和国家的利益相统一 ，确保民主真正可以落到实处</a:t>
              </a:r>
            </a:p>
          </p:txBody>
        </p:sp>
        <p:grpSp>
          <p:nvGrpSpPr>
            <p:cNvPr id="18" name="Group 39">
              <a:extLst>
                <a:ext uri="{FF2B5EF4-FFF2-40B4-BE49-F238E27FC236}">
                  <a16:creationId xmlns:a16="http://schemas.microsoft.com/office/drawing/2014/main" id="{7E019AC7-6A92-4672-98D4-844F314E6188}"/>
                </a:ext>
              </a:extLst>
            </p:cNvPr>
            <p:cNvGrpSpPr/>
            <p:nvPr/>
          </p:nvGrpSpPr>
          <p:grpSpPr>
            <a:xfrm>
              <a:off x="929332" y="5510684"/>
              <a:ext cx="556229" cy="504379"/>
              <a:chOff x="6369311" y="2040370"/>
              <a:chExt cx="755703" cy="755703"/>
            </a:xfrm>
          </p:grpSpPr>
          <p:sp>
            <p:nvSpPr>
              <p:cNvPr id="22" name="Oval 7">
                <a:extLst>
                  <a:ext uri="{FF2B5EF4-FFF2-40B4-BE49-F238E27FC236}">
                    <a16:creationId xmlns:a16="http://schemas.microsoft.com/office/drawing/2014/main" id="{FEF00DF6-CBD9-454D-8D2B-6FB27FEB85CA}"/>
                  </a:ext>
                </a:extLst>
              </p:cNvPr>
              <p:cNvSpPr/>
              <p:nvPr/>
            </p:nvSpPr>
            <p:spPr>
              <a:xfrm>
                <a:off x="6369311" y="2040370"/>
                <a:ext cx="755703" cy="75570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just">
                  <a:lnSpc>
                    <a:spcPct val="120000"/>
                  </a:lnSpc>
                </a:pPr>
                <a:endParaRPr lang="en-GB" sz="1600" b="1">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TextBox 11">
                <a:extLst>
                  <a:ext uri="{FF2B5EF4-FFF2-40B4-BE49-F238E27FC236}">
                    <a16:creationId xmlns:a16="http://schemas.microsoft.com/office/drawing/2014/main" id="{A0331DB3-B725-4A87-A485-08871A91A2F7}"/>
                  </a:ext>
                </a:extLst>
              </p:cNvPr>
              <p:cNvSpPr txBox="1"/>
              <p:nvPr/>
            </p:nvSpPr>
            <p:spPr>
              <a:xfrm>
                <a:off x="6532495" y="2148071"/>
                <a:ext cx="405520" cy="5402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en-US" altLang="zh-CN" sz="16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4</a:t>
                </a:r>
                <a:endParaRPr lang="en-GB" sz="16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19" name="矩形 18">
              <a:extLst>
                <a:ext uri="{FF2B5EF4-FFF2-40B4-BE49-F238E27FC236}">
                  <a16:creationId xmlns:a16="http://schemas.microsoft.com/office/drawing/2014/main" id="{80EFAB49-4967-4740-8EE9-161270006653}"/>
                </a:ext>
              </a:extLst>
            </p:cNvPr>
            <p:cNvSpPr/>
            <p:nvPr/>
          </p:nvSpPr>
          <p:spPr>
            <a:xfrm>
              <a:off x="1666096" y="3786149"/>
              <a:ext cx="4426295" cy="58477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dirty="0">
                  <a:latin typeface="微软雅黑" panose="020B0503020204020204" pitchFamily="34" charset="-122"/>
                  <a:ea typeface="微软雅黑" panose="020B0503020204020204" pitchFamily="34" charset="-122"/>
                  <a:cs typeface="阿里巴巴普惠体 M" panose="00020600040101010101" pitchFamily="18" charset="-122"/>
                  <a:sym typeface="+mn-lt"/>
                </a:rPr>
                <a:t>坚持中国共产党领导下的民主集中制，中央集权有助于集中力量办大事</a:t>
              </a:r>
            </a:p>
          </p:txBody>
        </p:sp>
        <p:sp>
          <p:nvSpPr>
            <p:cNvPr id="20" name="矩形 19">
              <a:extLst>
                <a:ext uri="{FF2B5EF4-FFF2-40B4-BE49-F238E27FC236}">
                  <a16:creationId xmlns:a16="http://schemas.microsoft.com/office/drawing/2014/main" id="{BF541E51-248F-45BA-AFBF-D07E92B2028D}"/>
                </a:ext>
              </a:extLst>
            </p:cNvPr>
            <p:cNvSpPr/>
            <p:nvPr/>
          </p:nvSpPr>
          <p:spPr>
            <a:xfrm>
              <a:off x="1666097" y="4627313"/>
              <a:ext cx="4426295" cy="58477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dirty="0">
                  <a:latin typeface="微软雅黑" panose="020B0503020204020204" pitchFamily="34" charset="-122"/>
                  <a:ea typeface="微软雅黑" panose="020B0503020204020204" pitchFamily="34" charset="-122"/>
                  <a:cs typeface="阿里巴巴普惠体 M" panose="00020600040101010101" pitchFamily="18" charset="-122"/>
                  <a:sym typeface="+mn-lt"/>
                </a:rPr>
                <a:t>我国的基本经济制度</a:t>
              </a:r>
              <a:r>
                <a:rPr lang="en-US" altLang="zh-CN" sz="1600" dirty="0">
                  <a:latin typeface="微软雅黑" panose="020B0503020204020204" pitchFamily="34" charset="-122"/>
                  <a:ea typeface="微软雅黑" panose="020B0503020204020204" pitchFamily="34" charset="-122"/>
                  <a:cs typeface="阿里巴巴普惠体 M" panose="00020600040101010101" pitchFamily="18" charset="-122"/>
                  <a:sym typeface="+mn-lt"/>
                </a:rPr>
                <a:t>——</a:t>
              </a:r>
              <a:r>
                <a:rPr lang="zh-CN" altLang="en-US" sz="1600" dirty="0">
                  <a:latin typeface="微软雅黑" panose="020B0503020204020204" pitchFamily="34" charset="-122"/>
                  <a:ea typeface="微软雅黑" panose="020B0503020204020204" pitchFamily="34" charset="-122"/>
                  <a:cs typeface="阿里巴巴普惠体 M" panose="00020600040101010101" pitchFamily="18" charset="-122"/>
                  <a:sym typeface="+mn-lt"/>
                </a:rPr>
                <a:t>以公有制为主体，多种所有制经济共同发展</a:t>
              </a:r>
            </a:p>
          </p:txBody>
        </p:sp>
        <p:sp>
          <p:nvSpPr>
            <p:cNvPr id="21" name="矩形 20">
              <a:extLst>
                <a:ext uri="{FF2B5EF4-FFF2-40B4-BE49-F238E27FC236}">
                  <a16:creationId xmlns:a16="http://schemas.microsoft.com/office/drawing/2014/main" id="{C5847524-C2AF-4232-A2A2-E95D755D016B}"/>
                </a:ext>
              </a:extLst>
            </p:cNvPr>
            <p:cNvSpPr/>
            <p:nvPr/>
          </p:nvSpPr>
          <p:spPr>
            <a:xfrm>
              <a:off x="1666095" y="5470485"/>
              <a:ext cx="4426295" cy="58477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dirty="0">
                  <a:latin typeface="微软雅黑" panose="020B0503020204020204" pitchFamily="34" charset="-122"/>
                  <a:ea typeface="微软雅黑" panose="020B0503020204020204" pitchFamily="34" charset="-122"/>
                  <a:cs typeface="阿里巴巴普惠体 M" panose="00020600040101010101" pitchFamily="18" charset="-122"/>
                  <a:sym typeface="+mn-lt"/>
                </a:rPr>
                <a:t>中国制度与我国历史传承、文化传统、现实国情相符合，有根、有源、有生命力</a:t>
              </a:r>
            </a:p>
          </p:txBody>
        </p:sp>
      </p:grpSp>
      <p:grpSp>
        <p:nvGrpSpPr>
          <p:cNvPr id="30" name="组合 29">
            <a:extLst>
              <a:ext uri="{FF2B5EF4-FFF2-40B4-BE49-F238E27FC236}">
                <a16:creationId xmlns:a16="http://schemas.microsoft.com/office/drawing/2014/main" id="{C74CF0C5-05E5-4622-8DDD-C00B7CB604F5}"/>
              </a:ext>
            </a:extLst>
          </p:cNvPr>
          <p:cNvGrpSpPr/>
          <p:nvPr/>
        </p:nvGrpSpPr>
        <p:grpSpPr>
          <a:xfrm>
            <a:off x="73270" y="102868"/>
            <a:ext cx="8343104" cy="1323254"/>
            <a:chOff x="73270" y="102868"/>
            <a:chExt cx="8343104" cy="1323254"/>
          </a:xfrm>
        </p:grpSpPr>
        <p:sp>
          <p:nvSpPr>
            <p:cNvPr id="31" name="文本框 30">
              <a:extLst>
                <a:ext uri="{FF2B5EF4-FFF2-40B4-BE49-F238E27FC236}">
                  <a16:creationId xmlns:a16="http://schemas.microsoft.com/office/drawing/2014/main" id="{3BC1C8A5-3F38-4A3E-B037-B17DFFD38B11}"/>
                </a:ext>
              </a:extLst>
            </p:cNvPr>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抗疫中的制度优势</a:t>
              </a:r>
            </a:p>
          </p:txBody>
        </p:sp>
        <p:pic>
          <p:nvPicPr>
            <p:cNvPr id="32" name="图片 31" descr="电脑萤幕画面&#10;&#10;描述已自动生成">
              <a:extLst>
                <a:ext uri="{FF2B5EF4-FFF2-40B4-BE49-F238E27FC236}">
                  <a16:creationId xmlns:a16="http://schemas.microsoft.com/office/drawing/2014/main" id="{BD8FE61A-9CAD-47F5-B0D4-21FA138E6EA0}"/>
                </a:ext>
              </a:extLst>
            </p:cNvPr>
            <p:cNvPicPr>
              <a:picLocks noChangeAspect="1"/>
            </p:cNvPicPr>
            <p:nvPr/>
          </p:nvPicPr>
          <p:blipFill>
            <a:blip r:embed="rId4"/>
            <a:stretch>
              <a:fillRect/>
            </a:stretch>
          </p:blipFill>
          <p:spPr>
            <a:xfrm flipH="1">
              <a:off x="73270" y="172328"/>
              <a:ext cx="8343104" cy="1253794"/>
            </a:xfrm>
            <a:prstGeom prst="rect">
              <a:avLst/>
            </a:prstGeom>
          </p:spPr>
        </p:pic>
        <p:sp>
          <p:nvSpPr>
            <p:cNvPr id="33" name="文本框 32">
              <a:extLst>
                <a:ext uri="{FF2B5EF4-FFF2-40B4-BE49-F238E27FC236}">
                  <a16:creationId xmlns:a16="http://schemas.microsoft.com/office/drawing/2014/main" id="{3509C036-78CE-4D86-A9E2-193917F9B10E}"/>
                </a:ext>
              </a:extLst>
            </p:cNvPr>
            <p:cNvSpPr txBox="1"/>
            <p:nvPr/>
          </p:nvSpPr>
          <p:spPr>
            <a:xfrm>
              <a:off x="852060" y="490591"/>
              <a:ext cx="380871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制度优势</a:t>
              </a:r>
            </a:p>
          </p:txBody>
        </p:sp>
      </p:grpSp>
    </p:spTree>
    <p:extLst>
      <p:ext uri="{BB962C8B-B14F-4D97-AF65-F5344CB8AC3E}">
        <p14:creationId xmlns:p14="http://schemas.microsoft.com/office/powerpoint/2010/main" val="10700028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地图上有字&#10;&#10;描述已自动生成"/>
          <p:cNvPicPr>
            <a:picLocks noChangeAspect="1"/>
          </p:cNvPicPr>
          <p:nvPr/>
        </p:nvPicPr>
        <p:blipFill>
          <a:blip r:embed="rId2"/>
          <a:srcRect/>
          <a:stretch>
            <a:fillRect/>
          </a:stretch>
        </p:blipFill>
        <p:spPr>
          <a:xfrm>
            <a:off x="0" y="1"/>
            <a:ext cx="12192000" cy="6593682"/>
          </a:xfrm>
          <a:custGeom>
            <a:avLst/>
            <a:gdLst>
              <a:gd name="connsiteX0" fmla="*/ 780720 w 12192000"/>
              <a:gd name="connsiteY0" fmla="*/ 2857498 h 5715000"/>
              <a:gd name="connsiteX1" fmla="*/ 780720 w 12192000"/>
              <a:gd name="connsiteY1" fmla="*/ 4350694 h 5715000"/>
              <a:gd name="connsiteX2" fmla="*/ 2635322 w 12192000"/>
              <a:gd name="connsiteY2" fmla="*/ 4350694 h 5715000"/>
              <a:gd name="connsiteX3" fmla="*/ 2635322 w 12192000"/>
              <a:gd name="connsiteY3" fmla="*/ 2857498 h 5715000"/>
              <a:gd name="connsiteX4" fmla="*/ 0 w 12192000"/>
              <a:gd name="connsiteY4" fmla="*/ 0 h 5715000"/>
              <a:gd name="connsiteX5" fmla="*/ 12192000 w 12192000"/>
              <a:gd name="connsiteY5" fmla="*/ 0 h 5715000"/>
              <a:gd name="connsiteX6" fmla="*/ 12192000 w 12192000"/>
              <a:gd name="connsiteY6" fmla="*/ 5715000 h 5715000"/>
              <a:gd name="connsiteX7" fmla="*/ 0 w 12192000"/>
              <a:gd name="connsiteY7" fmla="*/ 5715000 h 571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15000">
                <a:moveTo>
                  <a:pt x="780720" y="2857498"/>
                </a:moveTo>
                <a:lnTo>
                  <a:pt x="780720" y="4350694"/>
                </a:lnTo>
                <a:lnTo>
                  <a:pt x="2635322" y="4350694"/>
                </a:lnTo>
                <a:lnTo>
                  <a:pt x="2635322" y="2857498"/>
                </a:lnTo>
                <a:close/>
                <a:moveTo>
                  <a:pt x="0" y="0"/>
                </a:moveTo>
                <a:lnTo>
                  <a:pt x="12192000" y="0"/>
                </a:lnTo>
                <a:lnTo>
                  <a:pt x="12192000" y="5715000"/>
                </a:lnTo>
                <a:lnTo>
                  <a:pt x="0" y="5715000"/>
                </a:lnTo>
                <a:close/>
              </a:path>
            </a:pathLst>
          </a:custGeom>
        </p:spPr>
      </p:pic>
      <p:sp>
        <p:nvSpPr>
          <p:cNvPr id="6" name="矩形 5"/>
          <p:cNvSpPr/>
          <p:nvPr/>
        </p:nvSpPr>
        <p:spPr>
          <a:xfrm>
            <a:off x="0" y="0"/>
            <a:ext cx="12192000" cy="68580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抗疫中的制度优势</a:t>
            </a:r>
          </a:p>
        </p:txBody>
      </p:sp>
      <p:pic>
        <p:nvPicPr>
          <p:cNvPr id="14" name="Picture 3"/>
          <p:cNvPicPr>
            <a:picLocks noChangeAspect="1" noChangeArrowheads="1"/>
          </p:cNvPicPr>
          <p:nvPr/>
        </p:nvPicPr>
        <p:blipFill>
          <a:blip r:embed="rId3"/>
          <a:stretch>
            <a:fillRect/>
          </a:stretch>
        </p:blipFill>
        <p:spPr bwMode="auto">
          <a:xfrm>
            <a:off x="0" y="6031149"/>
            <a:ext cx="12192000" cy="826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80ABA5C1-BF19-4458-B492-EF5A3A5962A2}"/>
              </a:ext>
            </a:extLst>
          </p:cNvPr>
          <p:cNvSpPr txBox="1"/>
          <p:nvPr/>
        </p:nvSpPr>
        <p:spPr>
          <a:xfrm>
            <a:off x="985421" y="2363461"/>
            <a:ext cx="4882719" cy="369332"/>
          </a:xfrm>
          <a:prstGeom prst="rect">
            <a:avLst/>
          </a:prstGeom>
          <a:noFill/>
        </p:spPr>
        <p:txBody>
          <a:bodyPr wrap="square" rtlCol="0">
            <a:spAutoFit/>
          </a:bodyPr>
          <a:lstStyle/>
          <a:p>
            <a:r>
              <a:rPr lang="zh-CN" altLang="zh-CN" sz="18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抗疫斗争充分展现我们党无比坚强的领导力</a:t>
            </a:r>
          </a:p>
        </p:txBody>
      </p:sp>
      <p:sp>
        <p:nvSpPr>
          <p:cNvPr id="11" name="燕尾形 3">
            <a:extLst>
              <a:ext uri="{FF2B5EF4-FFF2-40B4-BE49-F238E27FC236}">
                <a16:creationId xmlns:a16="http://schemas.microsoft.com/office/drawing/2014/main" id="{733DAB44-E2C9-4925-A067-A84CD085AC7B}"/>
              </a:ext>
            </a:extLst>
          </p:cNvPr>
          <p:cNvSpPr/>
          <p:nvPr/>
        </p:nvSpPr>
        <p:spPr>
          <a:xfrm>
            <a:off x="621730" y="3161334"/>
            <a:ext cx="4180113" cy="535331"/>
          </a:xfrm>
          <a:prstGeom prst="chevron">
            <a:avLst/>
          </a:prstGeom>
          <a:solidFill>
            <a:srgbClr val="C00000"/>
          </a:solidFill>
          <a:ln w="285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zh-CN" sz="1400" b="1" kern="100" dirty="0">
                <a:effectLst/>
                <a:latin typeface="Calibri" panose="020F0502020204030204" pitchFamily="34" charset="0"/>
                <a:ea typeface="宋体" panose="02010600030101010101" pitchFamily="2" charset="-122"/>
                <a:cs typeface="Times New Roman" panose="02020603050405020304" pitchFamily="18" charset="0"/>
              </a:rPr>
              <a:t>抗疫斗争充分展现我们党无比坚强的领导力</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15" name="矩形 14">
            <a:extLst>
              <a:ext uri="{FF2B5EF4-FFF2-40B4-BE49-F238E27FC236}">
                <a16:creationId xmlns:a16="http://schemas.microsoft.com/office/drawing/2014/main" id="{98672573-51B6-4D29-85CF-601C07D4C228}"/>
              </a:ext>
            </a:extLst>
          </p:cNvPr>
          <p:cNvSpPr/>
          <p:nvPr/>
        </p:nvSpPr>
        <p:spPr>
          <a:xfrm>
            <a:off x="5569521" y="1742576"/>
            <a:ext cx="6000749" cy="3372846"/>
          </a:xfrm>
          <a:prstGeom prst="rect">
            <a:avLst/>
          </a:prstGeom>
        </p:spPr>
        <p:txBody>
          <a:bodyPr wrap="square">
            <a:spAutoFit/>
          </a:bodyPr>
          <a:lstStyle/>
          <a:p>
            <a:pPr indent="457200">
              <a:lnSpc>
                <a:spcPct val="150000"/>
              </a:lnSpc>
            </a:pP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中国共产党领导是中国特色社会主义制度的最大优势，中国共产党的领导力集中体现中国特色社会主义制度的优越性。</a:t>
            </a:r>
          </a:p>
          <a:p>
            <a:pPr indent="457200">
              <a:lnSpc>
                <a:spcPct val="150000"/>
              </a:lnSpc>
            </a:pP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一个政党面对重大风险挑战时的表现，最能检验其领导力。我们党在抗疫大战中所发挥的坚强领导核心作用，充分展现了党无比坚强的领导力，充分发挥了中国特色社会主义制度的最大优势。只要毫不动摇坚持和加强党的全面领导，不断增强党的政治领导力、思想引领力、群众组织力、社会号召力，永远保持党同人民群众的血肉联系，我们就一定能够形成强大合力，从容应对各种复杂局面和风险挑战。</a:t>
            </a:r>
          </a:p>
        </p:txBody>
      </p:sp>
      <p:pic>
        <p:nvPicPr>
          <p:cNvPr id="16" name="图片 15" descr="电脑萤幕画面&#10;&#10;描述已自动生成">
            <a:extLst>
              <a:ext uri="{FF2B5EF4-FFF2-40B4-BE49-F238E27FC236}">
                <a16:creationId xmlns:a16="http://schemas.microsoft.com/office/drawing/2014/main" id="{58DF1C9A-628E-4505-AC6D-EE0657D3C988}"/>
              </a:ext>
            </a:extLst>
          </p:cNvPr>
          <p:cNvPicPr>
            <a:picLocks noChangeAspect="1"/>
          </p:cNvPicPr>
          <p:nvPr/>
        </p:nvPicPr>
        <p:blipFill>
          <a:blip r:embed="rId4"/>
          <a:stretch>
            <a:fillRect/>
          </a:stretch>
        </p:blipFill>
        <p:spPr>
          <a:xfrm flipH="1">
            <a:off x="73270" y="172328"/>
            <a:ext cx="8343104" cy="1253794"/>
          </a:xfrm>
          <a:prstGeom prst="rect">
            <a:avLst/>
          </a:prstGeom>
        </p:spPr>
      </p:pic>
      <p:sp>
        <p:nvSpPr>
          <p:cNvPr id="3" name="文本框 2">
            <a:extLst>
              <a:ext uri="{FF2B5EF4-FFF2-40B4-BE49-F238E27FC236}">
                <a16:creationId xmlns:a16="http://schemas.microsoft.com/office/drawing/2014/main" id="{47DE1E9E-17A6-4C99-B085-73A54B9C1954}"/>
              </a:ext>
            </a:extLst>
          </p:cNvPr>
          <p:cNvSpPr txBox="1"/>
          <p:nvPr/>
        </p:nvSpPr>
        <p:spPr>
          <a:xfrm>
            <a:off x="852060" y="490591"/>
            <a:ext cx="3719451"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抗疫中的制度优势</a:t>
            </a:r>
          </a:p>
        </p:txBody>
      </p:sp>
    </p:spTree>
    <p:extLst>
      <p:ext uri="{BB962C8B-B14F-4D97-AF65-F5344CB8AC3E}">
        <p14:creationId xmlns:p14="http://schemas.microsoft.com/office/powerpoint/2010/main" val="15208943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地图上有字&#10;&#10;描述已自动生成"/>
          <p:cNvPicPr>
            <a:picLocks noChangeAspect="1"/>
          </p:cNvPicPr>
          <p:nvPr/>
        </p:nvPicPr>
        <p:blipFill>
          <a:blip r:embed="rId2"/>
          <a:srcRect/>
          <a:stretch>
            <a:fillRect/>
          </a:stretch>
        </p:blipFill>
        <p:spPr>
          <a:xfrm>
            <a:off x="0" y="1"/>
            <a:ext cx="12192000" cy="6593682"/>
          </a:xfrm>
          <a:custGeom>
            <a:avLst/>
            <a:gdLst>
              <a:gd name="connsiteX0" fmla="*/ 780720 w 12192000"/>
              <a:gd name="connsiteY0" fmla="*/ 2857498 h 5715000"/>
              <a:gd name="connsiteX1" fmla="*/ 780720 w 12192000"/>
              <a:gd name="connsiteY1" fmla="*/ 4350694 h 5715000"/>
              <a:gd name="connsiteX2" fmla="*/ 2635322 w 12192000"/>
              <a:gd name="connsiteY2" fmla="*/ 4350694 h 5715000"/>
              <a:gd name="connsiteX3" fmla="*/ 2635322 w 12192000"/>
              <a:gd name="connsiteY3" fmla="*/ 2857498 h 5715000"/>
              <a:gd name="connsiteX4" fmla="*/ 0 w 12192000"/>
              <a:gd name="connsiteY4" fmla="*/ 0 h 5715000"/>
              <a:gd name="connsiteX5" fmla="*/ 12192000 w 12192000"/>
              <a:gd name="connsiteY5" fmla="*/ 0 h 5715000"/>
              <a:gd name="connsiteX6" fmla="*/ 12192000 w 12192000"/>
              <a:gd name="connsiteY6" fmla="*/ 5715000 h 5715000"/>
              <a:gd name="connsiteX7" fmla="*/ 0 w 12192000"/>
              <a:gd name="connsiteY7" fmla="*/ 5715000 h 571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15000">
                <a:moveTo>
                  <a:pt x="780720" y="2857498"/>
                </a:moveTo>
                <a:lnTo>
                  <a:pt x="780720" y="4350694"/>
                </a:lnTo>
                <a:lnTo>
                  <a:pt x="2635322" y="4350694"/>
                </a:lnTo>
                <a:lnTo>
                  <a:pt x="2635322" y="2857498"/>
                </a:lnTo>
                <a:close/>
                <a:moveTo>
                  <a:pt x="0" y="0"/>
                </a:moveTo>
                <a:lnTo>
                  <a:pt x="12192000" y="0"/>
                </a:lnTo>
                <a:lnTo>
                  <a:pt x="12192000" y="5715000"/>
                </a:lnTo>
                <a:lnTo>
                  <a:pt x="0" y="5715000"/>
                </a:lnTo>
                <a:close/>
              </a:path>
            </a:pathLst>
          </a:custGeom>
        </p:spPr>
      </p:pic>
      <p:sp>
        <p:nvSpPr>
          <p:cNvPr id="6" name="矩形 5"/>
          <p:cNvSpPr/>
          <p:nvPr/>
        </p:nvSpPr>
        <p:spPr>
          <a:xfrm>
            <a:off x="0" y="0"/>
            <a:ext cx="12192000" cy="68580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抗疫中的制度优势</a:t>
            </a:r>
          </a:p>
        </p:txBody>
      </p:sp>
      <p:pic>
        <p:nvPicPr>
          <p:cNvPr id="14" name="Picture 3"/>
          <p:cNvPicPr>
            <a:picLocks noChangeAspect="1" noChangeArrowheads="1"/>
          </p:cNvPicPr>
          <p:nvPr/>
        </p:nvPicPr>
        <p:blipFill>
          <a:blip r:embed="rId3"/>
          <a:stretch>
            <a:fillRect/>
          </a:stretch>
        </p:blipFill>
        <p:spPr bwMode="auto">
          <a:xfrm>
            <a:off x="0" y="6031149"/>
            <a:ext cx="12192000" cy="826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80ABA5C1-BF19-4458-B492-EF5A3A5962A2}"/>
              </a:ext>
            </a:extLst>
          </p:cNvPr>
          <p:cNvSpPr txBox="1"/>
          <p:nvPr/>
        </p:nvSpPr>
        <p:spPr>
          <a:xfrm>
            <a:off x="985421" y="2363461"/>
            <a:ext cx="4882719" cy="369332"/>
          </a:xfrm>
          <a:prstGeom prst="rect">
            <a:avLst/>
          </a:prstGeom>
          <a:noFill/>
        </p:spPr>
        <p:txBody>
          <a:bodyPr wrap="square" rtlCol="0">
            <a:spAutoFit/>
          </a:bodyPr>
          <a:lstStyle/>
          <a:p>
            <a:r>
              <a:rPr lang="zh-CN" altLang="zh-CN" sz="18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抗疫斗争充分展现我们党无比坚强的领导力</a:t>
            </a:r>
          </a:p>
        </p:txBody>
      </p:sp>
      <p:sp>
        <p:nvSpPr>
          <p:cNvPr id="11" name="燕尾形 3">
            <a:extLst>
              <a:ext uri="{FF2B5EF4-FFF2-40B4-BE49-F238E27FC236}">
                <a16:creationId xmlns:a16="http://schemas.microsoft.com/office/drawing/2014/main" id="{733DAB44-E2C9-4925-A067-A84CD085AC7B}"/>
              </a:ext>
            </a:extLst>
          </p:cNvPr>
          <p:cNvSpPr/>
          <p:nvPr/>
        </p:nvSpPr>
        <p:spPr>
          <a:xfrm>
            <a:off x="621730" y="3161334"/>
            <a:ext cx="4180113" cy="535331"/>
          </a:xfrm>
          <a:prstGeom prst="chevron">
            <a:avLst/>
          </a:prstGeom>
          <a:solidFill>
            <a:srgbClr val="C00000"/>
          </a:solidFill>
          <a:ln w="285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400" b="1" kern="100" dirty="0">
                <a:effectLst/>
                <a:latin typeface="Calibri" panose="020F0502020204030204" pitchFamily="34" charset="0"/>
                <a:ea typeface="宋体" panose="02010600030101010101" pitchFamily="2" charset="-122"/>
                <a:cs typeface="Times New Roman" panose="02020603050405020304" pitchFamily="18" charset="0"/>
              </a:rPr>
              <a:t>抗疫斗争充分展现中国制度的优越性</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15" name="矩形 14">
            <a:extLst>
              <a:ext uri="{FF2B5EF4-FFF2-40B4-BE49-F238E27FC236}">
                <a16:creationId xmlns:a16="http://schemas.microsoft.com/office/drawing/2014/main" id="{98672573-51B6-4D29-85CF-601C07D4C228}"/>
              </a:ext>
            </a:extLst>
          </p:cNvPr>
          <p:cNvSpPr/>
          <p:nvPr/>
        </p:nvSpPr>
        <p:spPr>
          <a:xfrm>
            <a:off x="5569521" y="1742576"/>
            <a:ext cx="6000749" cy="3372846"/>
          </a:xfrm>
          <a:prstGeom prst="rect">
            <a:avLst/>
          </a:prstGeom>
        </p:spPr>
        <p:txBody>
          <a:bodyPr wrap="square">
            <a:spAutoFit/>
          </a:bodyPr>
          <a:lstStyle/>
          <a:p>
            <a:pPr indent="457200">
              <a:lnSpc>
                <a:spcPct val="150000"/>
              </a:lnSpc>
            </a:pP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习近平总书记指出：“衡量一个国家的制度是否成功、是否优越，一个重要方面就是看其在重大风险挑战面前，能不能号令四面、组织八方共同应对。”中国特色社会主义制度充分体现了以人民为中心的发展思想，能够有效体现人民意志、保障人民权益、激发人民创造力，凝聚起同心同德、奋勇前行的磅礴力量。在这次抗疫斗争中，中国特色社会主义制度展现出非凡的组织动员能力、统筹协调能力、贯彻执行能力，发挥出集中力量办大事、办难事、办急事的独特优势，有力彰显了我国国家制度和国家治理体系的优越性。</a:t>
            </a:r>
          </a:p>
        </p:txBody>
      </p:sp>
      <p:pic>
        <p:nvPicPr>
          <p:cNvPr id="16" name="图片 15" descr="电脑萤幕画面&#10;&#10;描述已自动生成">
            <a:extLst>
              <a:ext uri="{FF2B5EF4-FFF2-40B4-BE49-F238E27FC236}">
                <a16:creationId xmlns:a16="http://schemas.microsoft.com/office/drawing/2014/main" id="{58DF1C9A-628E-4505-AC6D-EE0657D3C988}"/>
              </a:ext>
            </a:extLst>
          </p:cNvPr>
          <p:cNvPicPr>
            <a:picLocks noChangeAspect="1"/>
          </p:cNvPicPr>
          <p:nvPr/>
        </p:nvPicPr>
        <p:blipFill>
          <a:blip r:embed="rId4"/>
          <a:stretch>
            <a:fillRect/>
          </a:stretch>
        </p:blipFill>
        <p:spPr>
          <a:xfrm flipH="1">
            <a:off x="73270" y="172328"/>
            <a:ext cx="8343104" cy="1253794"/>
          </a:xfrm>
          <a:prstGeom prst="rect">
            <a:avLst/>
          </a:prstGeom>
        </p:spPr>
      </p:pic>
      <p:sp>
        <p:nvSpPr>
          <p:cNvPr id="3" name="文本框 2">
            <a:extLst>
              <a:ext uri="{FF2B5EF4-FFF2-40B4-BE49-F238E27FC236}">
                <a16:creationId xmlns:a16="http://schemas.microsoft.com/office/drawing/2014/main" id="{47DE1E9E-17A6-4C99-B085-73A54B9C1954}"/>
              </a:ext>
            </a:extLst>
          </p:cNvPr>
          <p:cNvSpPr txBox="1"/>
          <p:nvPr/>
        </p:nvSpPr>
        <p:spPr>
          <a:xfrm>
            <a:off x="852060" y="490591"/>
            <a:ext cx="3719451"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抗疫中的制度优势</a:t>
            </a:r>
          </a:p>
        </p:txBody>
      </p:sp>
    </p:spTree>
    <p:extLst>
      <p:ext uri="{BB962C8B-B14F-4D97-AF65-F5344CB8AC3E}">
        <p14:creationId xmlns:p14="http://schemas.microsoft.com/office/powerpoint/2010/main" val="36400772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地图上有字&#10;&#10;描述已自动生成"/>
          <p:cNvPicPr>
            <a:picLocks noChangeAspect="1"/>
          </p:cNvPicPr>
          <p:nvPr/>
        </p:nvPicPr>
        <p:blipFill>
          <a:blip r:embed="rId2"/>
          <a:srcRect/>
          <a:stretch>
            <a:fillRect/>
          </a:stretch>
        </p:blipFill>
        <p:spPr>
          <a:xfrm>
            <a:off x="0" y="1"/>
            <a:ext cx="12192000" cy="6593682"/>
          </a:xfrm>
          <a:custGeom>
            <a:avLst/>
            <a:gdLst>
              <a:gd name="connsiteX0" fmla="*/ 780720 w 12192000"/>
              <a:gd name="connsiteY0" fmla="*/ 2857498 h 5715000"/>
              <a:gd name="connsiteX1" fmla="*/ 780720 w 12192000"/>
              <a:gd name="connsiteY1" fmla="*/ 4350694 h 5715000"/>
              <a:gd name="connsiteX2" fmla="*/ 2635322 w 12192000"/>
              <a:gd name="connsiteY2" fmla="*/ 4350694 h 5715000"/>
              <a:gd name="connsiteX3" fmla="*/ 2635322 w 12192000"/>
              <a:gd name="connsiteY3" fmla="*/ 2857498 h 5715000"/>
              <a:gd name="connsiteX4" fmla="*/ 0 w 12192000"/>
              <a:gd name="connsiteY4" fmla="*/ 0 h 5715000"/>
              <a:gd name="connsiteX5" fmla="*/ 12192000 w 12192000"/>
              <a:gd name="connsiteY5" fmla="*/ 0 h 5715000"/>
              <a:gd name="connsiteX6" fmla="*/ 12192000 w 12192000"/>
              <a:gd name="connsiteY6" fmla="*/ 5715000 h 5715000"/>
              <a:gd name="connsiteX7" fmla="*/ 0 w 12192000"/>
              <a:gd name="connsiteY7" fmla="*/ 5715000 h 571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15000">
                <a:moveTo>
                  <a:pt x="780720" y="2857498"/>
                </a:moveTo>
                <a:lnTo>
                  <a:pt x="780720" y="4350694"/>
                </a:lnTo>
                <a:lnTo>
                  <a:pt x="2635322" y="4350694"/>
                </a:lnTo>
                <a:lnTo>
                  <a:pt x="2635322" y="2857498"/>
                </a:lnTo>
                <a:close/>
                <a:moveTo>
                  <a:pt x="0" y="0"/>
                </a:moveTo>
                <a:lnTo>
                  <a:pt x="12192000" y="0"/>
                </a:lnTo>
                <a:lnTo>
                  <a:pt x="12192000" y="5715000"/>
                </a:lnTo>
                <a:lnTo>
                  <a:pt x="0" y="5715000"/>
                </a:lnTo>
                <a:close/>
              </a:path>
            </a:pathLst>
          </a:custGeom>
        </p:spPr>
      </p:pic>
      <p:sp>
        <p:nvSpPr>
          <p:cNvPr id="6" name="矩形 5"/>
          <p:cNvSpPr/>
          <p:nvPr/>
        </p:nvSpPr>
        <p:spPr>
          <a:xfrm>
            <a:off x="0" y="0"/>
            <a:ext cx="12192000" cy="68580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抗疫中的制度优势</a:t>
            </a:r>
          </a:p>
        </p:txBody>
      </p:sp>
      <p:pic>
        <p:nvPicPr>
          <p:cNvPr id="14" name="Picture 3"/>
          <p:cNvPicPr>
            <a:picLocks noChangeAspect="1" noChangeArrowheads="1"/>
          </p:cNvPicPr>
          <p:nvPr/>
        </p:nvPicPr>
        <p:blipFill>
          <a:blip r:embed="rId3"/>
          <a:stretch>
            <a:fillRect/>
          </a:stretch>
        </p:blipFill>
        <p:spPr bwMode="auto">
          <a:xfrm>
            <a:off x="0" y="6031149"/>
            <a:ext cx="12192000" cy="826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80ABA5C1-BF19-4458-B492-EF5A3A5962A2}"/>
              </a:ext>
            </a:extLst>
          </p:cNvPr>
          <p:cNvSpPr txBox="1"/>
          <p:nvPr/>
        </p:nvSpPr>
        <p:spPr>
          <a:xfrm>
            <a:off x="985421" y="2363461"/>
            <a:ext cx="4882719" cy="369332"/>
          </a:xfrm>
          <a:prstGeom prst="rect">
            <a:avLst/>
          </a:prstGeom>
          <a:noFill/>
        </p:spPr>
        <p:txBody>
          <a:bodyPr wrap="square" rtlCol="0">
            <a:spAutoFit/>
          </a:bodyPr>
          <a:lstStyle/>
          <a:p>
            <a:r>
              <a:rPr lang="zh-CN" altLang="zh-CN" sz="18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抗疫斗争充分展现我们党无比坚强的领导力</a:t>
            </a:r>
          </a:p>
        </p:txBody>
      </p:sp>
      <p:sp>
        <p:nvSpPr>
          <p:cNvPr id="11" name="燕尾形 3">
            <a:extLst>
              <a:ext uri="{FF2B5EF4-FFF2-40B4-BE49-F238E27FC236}">
                <a16:creationId xmlns:a16="http://schemas.microsoft.com/office/drawing/2014/main" id="{733DAB44-E2C9-4925-A067-A84CD085AC7B}"/>
              </a:ext>
            </a:extLst>
          </p:cNvPr>
          <p:cNvSpPr/>
          <p:nvPr/>
        </p:nvSpPr>
        <p:spPr>
          <a:xfrm>
            <a:off x="621730" y="3161334"/>
            <a:ext cx="4180113" cy="535331"/>
          </a:xfrm>
          <a:prstGeom prst="chevron">
            <a:avLst/>
          </a:prstGeom>
          <a:solidFill>
            <a:srgbClr val="C00000"/>
          </a:solidFill>
          <a:ln w="285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400" b="1" kern="100" dirty="0">
                <a:effectLst/>
                <a:latin typeface="Calibri" panose="020F0502020204030204" pitchFamily="34" charset="0"/>
                <a:ea typeface="宋体" panose="02010600030101010101" pitchFamily="2" charset="-122"/>
                <a:cs typeface="Times New Roman" panose="02020603050405020304" pitchFamily="18" charset="0"/>
              </a:rPr>
              <a:t>不断发挥中国制度的显著优势</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15" name="矩形 14">
            <a:extLst>
              <a:ext uri="{FF2B5EF4-FFF2-40B4-BE49-F238E27FC236}">
                <a16:creationId xmlns:a16="http://schemas.microsoft.com/office/drawing/2014/main" id="{98672573-51B6-4D29-85CF-601C07D4C228}"/>
              </a:ext>
            </a:extLst>
          </p:cNvPr>
          <p:cNvSpPr/>
          <p:nvPr/>
        </p:nvSpPr>
        <p:spPr>
          <a:xfrm>
            <a:off x="5569521" y="1742576"/>
            <a:ext cx="6000749" cy="2634183"/>
          </a:xfrm>
          <a:prstGeom prst="rect">
            <a:avLst/>
          </a:prstGeom>
        </p:spPr>
        <p:txBody>
          <a:bodyPr wrap="square">
            <a:spAutoFit/>
          </a:bodyPr>
          <a:lstStyle/>
          <a:p>
            <a:pPr indent="457200">
              <a:lnSpc>
                <a:spcPct val="150000"/>
              </a:lnSpc>
            </a:pP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习近平总书记指出：“抗疫斗争伟大实践再次证明，中国特色社会主义制度所具有的显著优势，是抵御风险挑战、提高国家治理效能的根本保证。”只要我们坚持和完善中国特色社会主义制度，推进国家治理体系和治理能力现代化，善于运用制度力量应对风险挑战冲击，我们就一定能够经受住一次次考验，不断化危为机，实现决胜全面建成小康社会、决战脱贫攻坚目标任务，在全面建设社会主义现代化国家的新征程上创造新的历史伟业。</a:t>
            </a:r>
          </a:p>
        </p:txBody>
      </p:sp>
      <p:pic>
        <p:nvPicPr>
          <p:cNvPr id="16" name="图片 15" descr="电脑萤幕画面&#10;&#10;描述已自动生成">
            <a:extLst>
              <a:ext uri="{FF2B5EF4-FFF2-40B4-BE49-F238E27FC236}">
                <a16:creationId xmlns:a16="http://schemas.microsoft.com/office/drawing/2014/main" id="{58DF1C9A-628E-4505-AC6D-EE0657D3C988}"/>
              </a:ext>
            </a:extLst>
          </p:cNvPr>
          <p:cNvPicPr>
            <a:picLocks noChangeAspect="1"/>
          </p:cNvPicPr>
          <p:nvPr/>
        </p:nvPicPr>
        <p:blipFill>
          <a:blip r:embed="rId4"/>
          <a:stretch>
            <a:fillRect/>
          </a:stretch>
        </p:blipFill>
        <p:spPr>
          <a:xfrm flipH="1">
            <a:off x="73270" y="172328"/>
            <a:ext cx="8343104" cy="1253794"/>
          </a:xfrm>
          <a:prstGeom prst="rect">
            <a:avLst/>
          </a:prstGeom>
        </p:spPr>
      </p:pic>
      <p:sp>
        <p:nvSpPr>
          <p:cNvPr id="3" name="文本框 2">
            <a:extLst>
              <a:ext uri="{FF2B5EF4-FFF2-40B4-BE49-F238E27FC236}">
                <a16:creationId xmlns:a16="http://schemas.microsoft.com/office/drawing/2014/main" id="{47DE1E9E-17A6-4C99-B085-73A54B9C1954}"/>
              </a:ext>
            </a:extLst>
          </p:cNvPr>
          <p:cNvSpPr txBox="1"/>
          <p:nvPr/>
        </p:nvSpPr>
        <p:spPr>
          <a:xfrm>
            <a:off x="852060" y="490591"/>
            <a:ext cx="3719451"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抗疫中的制度优势</a:t>
            </a:r>
          </a:p>
        </p:txBody>
      </p:sp>
    </p:spTree>
    <p:extLst>
      <p:ext uri="{BB962C8B-B14F-4D97-AF65-F5344CB8AC3E}">
        <p14:creationId xmlns:p14="http://schemas.microsoft.com/office/powerpoint/2010/main" val="23990944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地图上有字&#10;&#10;描述已自动生成"/>
          <p:cNvPicPr>
            <a:picLocks noChangeAspect="1"/>
          </p:cNvPicPr>
          <p:nvPr/>
        </p:nvPicPr>
        <p:blipFill>
          <a:blip r:embed="rId2"/>
          <a:srcRect/>
          <a:stretch>
            <a:fillRect/>
          </a:stretch>
        </p:blipFill>
        <p:spPr>
          <a:xfrm>
            <a:off x="0" y="1"/>
            <a:ext cx="12192000" cy="6593682"/>
          </a:xfrm>
          <a:custGeom>
            <a:avLst/>
            <a:gdLst>
              <a:gd name="connsiteX0" fmla="*/ 780720 w 12192000"/>
              <a:gd name="connsiteY0" fmla="*/ 2857498 h 5715000"/>
              <a:gd name="connsiteX1" fmla="*/ 780720 w 12192000"/>
              <a:gd name="connsiteY1" fmla="*/ 4350694 h 5715000"/>
              <a:gd name="connsiteX2" fmla="*/ 2635322 w 12192000"/>
              <a:gd name="connsiteY2" fmla="*/ 4350694 h 5715000"/>
              <a:gd name="connsiteX3" fmla="*/ 2635322 w 12192000"/>
              <a:gd name="connsiteY3" fmla="*/ 2857498 h 5715000"/>
              <a:gd name="connsiteX4" fmla="*/ 0 w 12192000"/>
              <a:gd name="connsiteY4" fmla="*/ 0 h 5715000"/>
              <a:gd name="connsiteX5" fmla="*/ 12192000 w 12192000"/>
              <a:gd name="connsiteY5" fmla="*/ 0 h 5715000"/>
              <a:gd name="connsiteX6" fmla="*/ 12192000 w 12192000"/>
              <a:gd name="connsiteY6" fmla="*/ 5715000 h 5715000"/>
              <a:gd name="connsiteX7" fmla="*/ 0 w 12192000"/>
              <a:gd name="connsiteY7" fmla="*/ 5715000 h 571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15000">
                <a:moveTo>
                  <a:pt x="780720" y="2857498"/>
                </a:moveTo>
                <a:lnTo>
                  <a:pt x="780720" y="4350694"/>
                </a:lnTo>
                <a:lnTo>
                  <a:pt x="2635322" y="4350694"/>
                </a:lnTo>
                <a:lnTo>
                  <a:pt x="2635322" y="2857498"/>
                </a:lnTo>
                <a:close/>
                <a:moveTo>
                  <a:pt x="0" y="0"/>
                </a:moveTo>
                <a:lnTo>
                  <a:pt x="12192000" y="0"/>
                </a:lnTo>
                <a:lnTo>
                  <a:pt x="12192000" y="5715000"/>
                </a:lnTo>
                <a:lnTo>
                  <a:pt x="0" y="5715000"/>
                </a:lnTo>
                <a:close/>
              </a:path>
            </a:pathLst>
          </a:custGeom>
        </p:spPr>
      </p:pic>
      <p:sp>
        <p:nvSpPr>
          <p:cNvPr id="6" name="矩形 5"/>
          <p:cNvSpPr/>
          <p:nvPr/>
        </p:nvSpPr>
        <p:spPr>
          <a:xfrm>
            <a:off x="0" y="0"/>
            <a:ext cx="12192000" cy="68580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Picture 3"/>
          <p:cNvPicPr>
            <a:picLocks noChangeAspect="1" noChangeArrowheads="1"/>
          </p:cNvPicPr>
          <p:nvPr/>
        </p:nvPicPr>
        <p:blipFill>
          <a:blip r:embed="rId3"/>
          <a:stretch>
            <a:fillRect/>
          </a:stretch>
        </p:blipFill>
        <p:spPr bwMode="auto">
          <a:xfrm>
            <a:off x="0" y="6031149"/>
            <a:ext cx="12192000" cy="826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80ABA5C1-BF19-4458-B492-EF5A3A5962A2}"/>
              </a:ext>
            </a:extLst>
          </p:cNvPr>
          <p:cNvSpPr txBox="1"/>
          <p:nvPr/>
        </p:nvSpPr>
        <p:spPr>
          <a:xfrm>
            <a:off x="985421" y="2363461"/>
            <a:ext cx="4882719" cy="369332"/>
          </a:xfrm>
          <a:prstGeom prst="rect">
            <a:avLst/>
          </a:prstGeom>
          <a:noFill/>
        </p:spPr>
        <p:txBody>
          <a:bodyPr wrap="square" rtlCol="0">
            <a:spAutoFit/>
          </a:bodyPr>
          <a:lstStyle/>
          <a:p>
            <a:r>
              <a:rPr lang="zh-CN" altLang="zh-CN" sz="18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抗疫斗争充分展现我们党无比坚强的领导力</a:t>
            </a:r>
          </a:p>
        </p:txBody>
      </p:sp>
      <p:sp>
        <p:nvSpPr>
          <p:cNvPr id="15" name="矩形 14">
            <a:extLst>
              <a:ext uri="{FF2B5EF4-FFF2-40B4-BE49-F238E27FC236}">
                <a16:creationId xmlns:a16="http://schemas.microsoft.com/office/drawing/2014/main" id="{98672573-51B6-4D29-85CF-601C07D4C228}"/>
              </a:ext>
            </a:extLst>
          </p:cNvPr>
          <p:cNvSpPr/>
          <p:nvPr/>
        </p:nvSpPr>
        <p:spPr>
          <a:xfrm>
            <a:off x="2867765" y="2042212"/>
            <a:ext cx="6000749" cy="3742178"/>
          </a:xfrm>
          <a:prstGeom prst="rect">
            <a:avLst/>
          </a:prstGeom>
        </p:spPr>
        <p:txBody>
          <a:bodyPr wrap="square">
            <a:spAutoFit/>
          </a:bodyPr>
          <a:lstStyle/>
          <a:p>
            <a:pPr indent="457200">
              <a:lnSpc>
                <a:spcPct val="150000"/>
              </a:lnSpc>
            </a:pP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通过此次抗击疫情阻击战，我们充分认识到了中国制度优势，中国制度的活力也将进一步得到释放。对于我们青年人来说，这次疫情中，对比其他各国对于人民的生命健康对于民族的发展延续的种种作为，我们为自己是一名中国人而感到自豪，为拥有这样的党和政府而感到骄傲，从实践中树立四个自信，成为一个自信的中国人。有这样优越的制度保障，相信今年我们一定会打赢脱贫攻坚战实现第一个百年目标，我也相信通过一代代中华儿女的锲而不舍，持之以恒的奋斗我们终将实现中华民族的伟大复兴。作为广大青年的我们，要立志学习，成为有本领，有理想，有担当的国家中坚力量，在党和人民需要的地方绽放青春之花。</a:t>
            </a:r>
          </a:p>
        </p:txBody>
      </p:sp>
      <p:grpSp>
        <p:nvGrpSpPr>
          <p:cNvPr id="4" name="组合 3">
            <a:extLst>
              <a:ext uri="{FF2B5EF4-FFF2-40B4-BE49-F238E27FC236}">
                <a16:creationId xmlns:a16="http://schemas.microsoft.com/office/drawing/2014/main" id="{A2C548E8-44E2-4808-9C31-9EFDFD803117}"/>
              </a:ext>
            </a:extLst>
          </p:cNvPr>
          <p:cNvGrpSpPr/>
          <p:nvPr/>
        </p:nvGrpSpPr>
        <p:grpSpPr>
          <a:xfrm>
            <a:off x="73270" y="102868"/>
            <a:ext cx="8343104" cy="1323254"/>
            <a:chOff x="73270" y="102868"/>
            <a:chExt cx="8343104" cy="1323254"/>
          </a:xfrm>
        </p:grpSpPr>
        <p:sp>
          <p:nvSpPr>
            <p:cNvPr id="10" name="文本框 9"/>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抗疫中的制度优势</a:t>
              </a:r>
            </a:p>
          </p:txBody>
        </p:sp>
        <p:pic>
          <p:nvPicPr>
            <p:cNvPr id="16" name="图片 15" descr="电脑萤幕画面&#10;&#10;描述已自动生成">
              <a:extLst>
                <a:ext uri="{FF2B5EF4-FFF2-40B4-BE49-F238E27FC236}">
                  <a16:creationId xmlns:a16="http://schemas.microsoft.com/office/drawing/2014/main" id="{58DF1C9A-628E-4505-AC6D-EE0657D3C988}"/>
                </a:ext>
              </a:extLst>
            </p:cNvPr>
            <p:cNvPicPr>
              <a:picLocks noChangeAspect="1"/>
            </p:cNvPicPr>
            <p:nvPr/>
          </p:nvPicPr>
          <p:blipFill>
            <a:blip r:embed="rId4"/>
            <a:stretch>
              <a:fillRect/>
            </a:stretch>
          </p:blipFill>
          <p:spPr>
            <a:xfrm flipH="1">
              <a:off x="73270" y="172328"/>
              <a:ext cx="8343104" cy="1253794"/>
            </a:xfrm>
            <a:prstGeom prst="rect">
              <a:avLst/>
            </a:prstGeom>
          </p:spPr>
        </p:pic>
        <p:sp>
          <p:nvSpPr>
            <p:cNvPr id="3" name="文本框 2">
              <a:extLst>
                <a:ext uri="{FF2B5EF4-FFF2-40B4-BE49-F238E27FC236}">
                  <a16:creationId xmlns:a16="http://schemas.microsoft.com/office/drawing/2014/main" id="{47DE1E9E-17A6-4C99-B085-73A54B9C1954}"/>
                </a:ext>
              </a:extLst>
            </p:cNvPr>
            <p:cNvSpPr txBox="1"/>
            <p:nvPr/>
          </p:nvSpPr>
          <p:spPr>
            <a:xfrm>
              <a:off x="852060" y="490591"/>
              <a:ext cx="3719451"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抗疫中的制度优势</a:t>
              </a:r>
            </a:p>
          </p:txBody>
        </p:sp>
      </p:grpSp>
    </p:spTree>
    <p:extLst>
      <p:ext uri="{BB962C8B-B14F-4D97-AF65-F5344CB8AC3E}">
        <p14:creationId xmlns:p14="http://schemas.microsoft.com/office/powerpoint/2010/main" val="23735428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图片包含 游戏机, 红色, 船, 桌子&#10;&#10;描述已自动生成"/>
          <p:cNvPicPr>
            <a:picLocks noChangeAspect="1"/>
          </p:cNvPicPr>
          <p:nvPr/>
        </p:nvPicPr>
        <p:blipFill rotWithShape="1">
          <a:blip r:embed="rId2"/>
          <a:srcRect l="-32769"/>
          <a:stretch>
            <a:fillRect/>
          </a:stretch>
        </p:blipFill>
        <p:spPr>
          <a:xfrm>
            <a:off x="-4072270" y="0"/>
            <a:ext cx="16264270" cy="6971635"/>
          </a:xfrm>
          <a:prstGeom prst="rect">
            <a:avLst/>
          </a:prstGeom>
        </p:spPr>
      </p:pic>
      <p:sp>
        <p:nvSpPr>
          <p:cNvPr id="4" name="文本框 3"/>
          <p:cNvSpPr txBox="1"/>
          <p:nvPr/>
        </p:nvSpPr>
        <p:spPr>
          <a:xfrm>
            <a:off x="4059865" y="1245387"/>
            <a:ext cx="1031051" cy="1107996"/>
          </a:xfrm>
          <a:prstGeom prst="rect">
            <a:avLst/>
          </a:prstGeom>
          <a:noFill/>
        </p:spPr>
        <p:txBody>
          <a:bodyPr wrap="none" rtlCol="0">
            <a:spAutoFit/>
          </a:bodyPr>
          <a:lstStyle/>
          <a:p>
            <a:r>
              <a:rPr lang="zh-CN" altLang="en-US" sz="6600">
                <a:solidFill>
                  <a:srgbClr val="C7000B"/>
                </a:solidFill>
                <a:latin typeface="汉仪菱心体简" panose="02010609000101010101" pitchFamily="49" charset="-122"/>
                <a:ea typeface="汉仪菱心体简" panose="02010609000101010101" pitchFamily="49" charset="-122"/>
              </a:rPr>
              <a:t>第</a:t>
            </a:r>
            <a:endParaRPr lang="zh-CN" altLang="en-US" sz="6600" dirty="0">
              <a:solidFill>
                <a:srgbClr val="C7000B"/>
              </a:solidFill>
              <a:latin typeface="汉仪菱心体简" panose="02010609000101010101" pitchFamily="49" charset="-122"/>
              <a:ea typeface="汉仪菱心体简" panose="02010609000101010101" pitchFamily="49" charset="-122"/>
            </a:endParaRPr>
          </a:p>
        </p:txBody>
      </p:sp>
      <p:sp>
        <p:nvSpPr>
          <p:cNvPr id="6" name="文本框 5"/>
          <p:cNvSpPr txBox="1"/>
          <p:nvPr/>
        </p:nvSpPr>
        <p:spPr>
          <a:xfrm>
            <a:off x="4898065" y="1245387"/>
            <a:ext cx="184731" cy="1107996"/>
          </a:xfrm>
          <a:prstGeom prst="rect">
            <a:avLst/>
          </a:prstGeom>
          <a:noFill/>
        </p:spPr>
        <p:txBody>
          <a:bodyPr wrap="none" rtlCol="0">
            <a:spAutoFit/>
          </a:bodyPr>
          <a:lstStyle/>
          <a:p>
            <a:endParaRPr lang="zh-CN" altLang="en-US" sz="6600" dirty="0">
              <a:solidFill>
                <a:srgbClr val="C7000B"/>
              </a:solidFill>
              <a:latin typeface="汉仪菱心体简" panose="02010609000101010101" pitchFamily="49" charset="-122"/>
              <a:ea typeface="汉仪菱心体简" panose="02010609000101010101" pitchFamily="49" charset="-122"/>
            </a:endParaRPr>
          </a:p>
        </p:txBody>
      </p:sp>
      <p:sp>
        <p:nvSpPr>
          <p:cNvPr id="7" name="文本框 6"/>
          <p:cNvSpPr txBox="1"/>
          <p:nvPr/>
        </p:nvSpPr>
        <p:spPr>
          <a:xfrm>
            <a:off x="4881543" y="634954"/>
            <a:ext cx="1069524" cy="2215991"/>
          </a:xfrm>
          <a:prstGeom prst="rect">
            <a:avLst/>
          </a:prstGeom>
          <a:noFill/>
        </p:spPr>
        <p:txBody>
          <a:bodyPr wrap="none" rtlCol="0">
            <a:spAutoFit/>
          </a:bodyPr>
          <a:lstStyle/>
          <a:p>
            <a:r>
              <a:rPr lang="en-US" altLang="zh-CN" sz="13800" i="1" dirty="0">
                <a:solidFill>
                  <a:srgbClr val="C7000B"/>
                </a:solidFill>
                <a:effectLst>
                  <a:outerShdw blurRad="50800" dist="38100" dir="2700000" algn="tl" rotWithShape="0">
                    <a:prstClr val="black">
                      <a:alpha val="40000"/>
                    </a:prstClr>
                  </a:outerShdw>
                </a:effectLst>
                <a:latin typeface="汉仪菱心体简" panose="02010609000101010101" pitchFamily="49" charset="-122"/>
                <a:ea typeface="汉仪菱心体简" panose="02010609000101010101" pitchFamily="49" charset="-122"/>
              </a:rPr>
              <a:t>3</a:t>
            </a:r>
            <a:endParaRPr lang="zh-CN" altLang="en-US" sz="13800" dirty="0">
              <a:solidFill>
                <a:srgbClr val="C7000B"/>
              </a:solidFill>
              <a:effectLst>
                <a:outerShdw blurRad="50800" dist="38100" dir="2700000" algn="tl" rotWithShape="0">
                  <a:prstClr val="black">
                    <a:alpha val="40000"/>
                  </a:prstClr>
                </a:outerShdw>
              </a:effectLst>
              <a:latin typeface="汉仪菱心体简" panose="02010609000101010101" pitchFamily="49" charset="-122"/>
              <a:ea typeface="汉仪菱心体简" panose="02010609000101010101" pitchFamily="49" charset="-122"/>
            </a:endParaRPr>
          </a:p>
        </p:txBody>
      </p:sp>
      <p:sp>
        <p:nvSpPr>
          <p:cNvPr id="8" name="文本框 7"/>
          <p:cNvSpPr txBox="1"/>
          <p:nvPr/>
        </p:nvSpPr>
        <p:spPr>
          <a:xfrm>
            <a:off x="6356978" y="1245387"/>
            <a:ext cx="184731" cy="1107996"/>
          </a:xfrm>
          <a:prstGeom prst="rect">
            <a:avLst/>
          </a:prstGeom>
          <a:noFill/>
        </p:spPr>
        <p:txBody>
          <a:bodyPr wrap="none" rtlCol="0">
            <a:spAutoFit/>
          </a:bodyPr>
          <a:lstStyle/>
          <a:p>
            <a:endParaRPr lang="zh-CN" altLang="en-US" sz="6600" dirty="0">
              <a:solidFill>
                <a:srgbClr val="C7000B"/>
              </a:solidFill>
              <a:latin typeface="汉仪菱心体简" panose="02010609000101010101" pitchFamily="49" charset="-122"/>
              <a:ea typeface="汉仪菱心体简" panose="02010609000101010101" pitchFamily="49" charset="-122"/>
            </a:endParaRPr>
          </a:p>
        </p:txBody>
      </p:sp>
      <p:sp>
        <p:nvSpPr>
          <p:cNvPr id="9" name="文本框 8"/>
          <p:cNvSpPr txBox="1"/>
          <p:nvPr/>
        </p:nvSpPr>
        <p:spPr>
          <a:xfrm>
            <a:off x="6096000" y="1245387"/>
            <a:ext cx="1031051" cy="1107996"/>
          </a:xfrm>
          <a:prstGeom prst="rect">
            <a:avLst/>
          </a:prstGeom>
          <a:noFill/>
        </p:spPr>
        <p:txBody>
          <a:bodyPr wrap="none" rtlCol="0">
            <a:spAutoFit/>
          </a:bodyPr>
          <a:lstStyle/>
          <a:p>
            <a:r>
              <a:rPr lang="zh-CN" altLang="en-US" sz="6600" dirty="0">
                <a:solidFill>
                  <a:srgbClr val="C7000B"/>
                </a:solidFill>
                <a:latin typeface="汉仪菱心体简" panose="02010609000101010101" pitchFamily="49" charset="-122"/>
                <a:ea typeface="汉仪菱心体简" panose="02010609000101010101" pitchFamily="49" charset="-122"/>
              </a:rPr>
              <a:t>部</a:t>
            </a:r>
          </a:p>
        </p:txBody>
      </p:sp>
      <p:sp>
        <p:nvSpPr>
          <p:cNvPr id="10" name="文本框 9"/>
          <p:cNvSpPr txBox="1"/>
          <p:nvPr/>
        </p:nvSpPr>
        <p:spPr>
          <a:xfrm>
            <a:off x="7012036" y="1245387"/>
            <a:ext cx="1031051" cy="1107996"/>
          </a:xfrm>
          <a:prstGeom prst="rect">
            <a:avLst/>
          </a:prstGeom>
          <a:noFill/>
        </p:spPr>
        <p:txBody>
          <a:bodyPr wrap="none" rtlCol="0">
            <a:spAutoFit/>
          </a:bodyPr>
          <a:lstStyle/>
          <a:p>
            <a:r>
              <a:rPr lang="zh-CN" altLang="en-US" sz="6600" dirty="0">
                <a:solidFill>
                  <a:srgbClr val="C7000B"/>
                </a:solidFill>
                <a:latin typeface="汉仪菱心体简" panose="02010609000101010101" pitchFamily="49" charset="-122"/>
                <a:ea typeface="汉仪菱心体简" panose="02010609000101010101" pitchFamily="49" charset="-122"/>
              </a:rPr>
              <a:t>分</a:t>
            </a:r>
          </a:p>
        </p:txBody>
      </p:sp>
      <p:sp>
        <p:nvSpPr>
          <p:cNvPr id="11" name="文本框 10"/>
          <p:cNvSpPr txBox="1"/>
          <p:nvPr/>
        </p:nvSpPr>
        <p:spPr>
          <a:xfrm>
            <a:off x="4059865" y="2545728"/>
            <a:ext cx="6830302" cy="1107996"/>
          </a:xfrm>
          <a:prstGeom prst="rect">
            <a:avLst/>
          </a:prstGeom>
          <a:noFill/>
        </p:spPr>
        <p:txBody>
          <a:bodyPr wrap="square" rtlCol="0">
            <a:spAutoFit/>
          </a:bodyPr>
          <a:lstStyle/>
          <a:p>
            <a:r>
              <a:rPr lang="zh-CN" altLang="en-US" sz="6600" b="1" dirty="0">
                <a:solidFill>
                  <a:srgbClr val="C00000"/>
                </a:solidFill>
                <a:effectLst>
                  <a:outerShdw blurRad="38100" dist="38100" dir="2700000" algn="tl">
                    <a:srgbClr val="000000">
                      <a:alpha val="43137"/>
                    </a:srgbClr>
                  </a:outerShdw>
                </a:effectLst>
                <a:latin typeface="阿里巴巴普惠体 M" panose="00020600040101010101" pitchFamily="18" charset="-122"/>
                <a:ea typeface="阿里巴巴普惠体 M" panose="00020600040101010101" pitchFamily="18" charset="-122"/>
                <a:cs typeface="阿里巴巴普惠体 M" panose="00020600040101010101" pitchFamily="18" charset="-122"/>
              </a:rPr>
              <a:t>捍卫国家主权</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地图上有字&#10;&#10;描述已自动生成"/>
          <p:cNvPicPr>
            <a:picLocks noChangeAspect="1"/>
          </p:cNvPicPr>
          <p:nvPr/>
        </p:nvPicPr>
        <p:blipFill>
          <a:blip r:embed="rId2"/>
          <a:srcRect/>
          <a:stretch>
            <a:fillRect/>
          </a:stretch>
        </p:blipFill>
        <p:spPr>
          <a:xfrm>
            <a:off x="0" y="1"/>
            <a:ext cx="12192000" cy="6593682"/>
          </a:xfrm>
          <a:custGeom>
            <a:avLst/>
            <a:gdLst>
              <a:gd name="connsiteX0" fmla="*/ 780720 w 12192000"/>
              <a:gd name="connsiteY0" fmla="*/ 2857498 h 5715000"/>
              <a:gd name="connsiteX1" fmla="*/ 780720 w 12192000"/>
              <a:gd name="connsiteY1" fmla="*/ 4350694 h 5715000"/>
              <a:gd name="connsiteX2" fmla="*/ 2635322 w 12192000"/>
              <a:gd name="connsiteY2" fmla="*/ 4350694 h 5715000"/>
              <a:gd name="connsiteX3" fmla="*/ 2635322 w 12192000"/>
              <a:gd name="connsiteY3" fmla="*/ 2857498 h 5715000"/>
              <a:gd name="connsiteX4" fmla="*/ 0 w 12192000"/>
              <a:gd name="connsiteY4" fmla="*/ 0 h 5715000"/>
              <a:gd name="connsiteX5" fmla="*/ 12192000 w 12192000"/>
              <a:gd name="connsiteY5" fmla="*/ 0 h 5715000"/>
              <a:gd name="connsiteX6" fmla="*/ 12192000 w 12192000"/>
              <a:gd name="connsiteY6" fmla="*/ 5715000 h 5715000"/>
              <a:gd name="connsiteX7" fmla="*/ 0 w 12192000"/>
              <a:gd name="connsiteY7" fmla="*/ 5715000 h 571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15000">
                <a:moveTo>
                  <a:pt x="780720" y="2857498"/>
                </a:moveTo>
                <a:lnTo>
                  <a:pt x="780720" y="4350694"/>
                </a:lnTo>
                <a:lnTo>
                  <a:pt x="2635322" y="4350694"/>
                </a:lnTo>
                <a:lnTo>
                  <a:pt x="2635322" y="2857498"/>
                </a:lnTo>
                <a:close/>
                <a:moveTo>
                  <a:pt x="0" y="0"/>
                </a:moveTo>
                <a:lnTo>
                  <a:pt x="12192000" y="0"/>
                </a:lnTo>
                <a:lnTo>
                  <a:pt x="12192000" y="5715000"/>
                </a:lnTo>
                <a:lnTo>
                  <a:pt x="0" y="5715000"/>
                </a:lnTo>
                <a:close/>
              </a:path>
            </a:pathLst>
          </a:custGeom>
        </p:spPr>
      </p:pic>
      <p:sp>
        <p:nvSpPr>
          <p:cNvPr id="6" name="矩形 5"/>
          <p:cNvSpPr/>
          <p:nvPr/>
        </p:nvSpPr>
        <p:spPr>
          <a:xfrm>
            <a:off x="0" y="0"/>
            <a:ext cx="12192000" cy="68580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Picture 3"/>
          <p:cNvPicPr>
            <a:picLocks noChangeAspect="1" noChangeArrowheads="1"/>
          </p:cNvPicPr>
          <p:nvPr/>
        </p:nvPicPr>
        <p:blipFill>
          <a:blip r:embed="rId3"/>
          <a:stretch>
            <a:fillRect/>
          </a:stretch>
        </p:blipFill>
        <p:spPr bwMode="auto">
          <a:xfrm>
            <a:off x="0" y="6031149"/>
            <a:ext cx="12192000" cy="826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80ABA5C1-BF19-4458-B492-EF5A3A5962A2}"/>
              </a:ext>
            </a:extLst>
          </p:cNvPr>
          <p:cNvSpPr txBox="1"/>
          <p:nvPr/>
        </p:nvSpPr>
        <p:spPr>
          <a:xfrm>
            <a:off x="985421" y="2363461"/>
            <a:ext cx="4882719" cy="369332"/>
          </a:xfrm>
          <a:prstGeom prst="rect">
            <a:avLst/>
          </a:prstGeom>
          <a:noFill/>
        </p:spPr>
        <p:txBody>
          <a:bodyPr wrap="square" rtlCol="0">
            <a:spAutoFit/>
          </a:bodyPr>
          <a:lstStyle/>
          <a:p>
            <a:r>
              <a:rPr lang="zh-CN" altLang="zh-CN" sz="18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抗疫斗争充分展现我们党无比坚强的领导力</a:t>
            </a:r>
          </a:p>
        </p:txBody>
      </p:sp>
      <p:sp>
        <p:nvSpPr>
          <p:cNvPr id="15" name="矩形 14">
            <a:extLst>
              <a:ext uri="{FF2B5EF4-FFF2-40B4-BE49-F238E27FC236}">
                <a16:creationId xmlns:a16="http://schemas.microsoft.com/office/drawing/2014/main" id="{98672573-51B6-4D29-85CF-601C07D4C228}"/>
              </a:ext>
            </a:extLst>
          </p:cNvPr>
          <p:cNvSpPr/>
          <p:nvPr/>
        </p:nvSpPr>
        <p:spPr>
          <a:xfrm>
            <a:off x="2867765" y="2042212"/>
            <a:ext cx="6000749" cy="1895519"/>
          </a:xfrm>
          <a:prstGeom prst="rect">
            <a:avLst/>
          </a:prstGeom>
        </p:spPr>
        <p:txBody>
          <a:bodyPr wrap="square">
            <a:spAutoFit/>
          </a:bodyPr>
          <a:lstStyle/>
          <a:p>
            <a:pPr indent="457200">
              <a:lnSpc>
                <a:spcPct val="150000"/>
              </a:lnSpc>
            </a:pP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国家主权是指国家区别于其他社会集团的最重要属性，是一个国家固有的在国内的最高权力和在国际上的独立自主权利。任何国家都有权按照自己的意愿，根据本国的情况，选择自己的社会制度、国家形式，组织自己的政府，独立自主地决定、处理本国的内部和外部事务，其他国家无权进行任何形式的侵犯或干涉。</a:t>
            </a:r>
          </a:p>
        </p:txBody>
      </p:sp>
      <p:grpSp>
        <p:nvGrpSpPr>
          <p:cNvPr id="4" name="组合 3">
            <a:extLst>
              <a:ext uri="{FF2B5EF4-FFF2-40B4-BE49-F238E27FC236}">
                <a16:creationId xmlns:a16="http://schemas.microsoft.com/office/drawing/2014/main" id="{A2C548E8-44E2-4808-9C31-9EFDFD803117}"/>
              </a:ext>
            </a:extLst>
          </p:cNvPr>
          <p:cNvGrpSpPr/>
          <p:nvPr/>
        </p:nvGrpSpPr>
        <p:grpSpPr>
          <a:xfrm>
            <a:off x="73270" y="102868"/>
            <a:ext cx="8343104" cy="1323254"/>
            <a:chOff x="73270" y="102868"/>
            <a:chExt cx="8343104" cy="1323254"/>
          </a:xfrm>
        </p:grpSpPr>
        <p:sp>
          <p:nvSpPr>
            <p:cNvPr id="10" name="文本框 9"/>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抗疫中的制度优势</a:t>
              </a:r>
            </a:p>
          </p:txBody>
        </p:sp>
        <p:pic>
          <p:nvPicPr>
            <p:cNvPr id="16" name="图片 15" descr="电脑萤幕画面&#10;&#10;描述已自动生成">
              <a:extLst>
                <a:ext uri="{FF2B5EF4-FFF2-40B4-BE49-F238E27FC236}">
                  <a16:creationId xmlns:a16="http://schemas.microsoft.com/office/drawing/2014/main" id="{58DF1C9A-628E-4505-AC6D-EE0657D3C988}"/>
                </a:ext>
              </a:extLst>
            </p:cNvPr>
            <p:cNvPicPr>
              <a:picLocks noChangeAspect="1"/>
            </p:cNvPicPr>
            <p:nvPr/>
          </p:nvPicPr>
          <p:blipFill>
            <a:blip r:embed="rId4"/>
            <a:stretch>
              <a:fillRect/>
            </a:stretch>
          </p:blipFill>
          <p:spPr>
            <a:xfrm flipH="1">
              <a:off x="73270" y="172328"/>
              <a:ext cx="8343104" cy="1253794"/>
            </a:xfrm>
            <a:prstGeom prst="rect">
              <a:avLst/>
            </a:prstGeom>
          </p:spPr>
        </p:pic>
        <p:sp>
          <p:nvSpPr>
            <p:cNvPr id="3" name="文本框 2">
              <a:extLst>
                <a:ext uri="{FF2B5EF4-FFF2-40B4-BE49-F238E27FC236}">
                  <a16:creationId xmlns:a16="http://schemas.microsoft.com/office/drawing/2014/main" id="{47DE1E9E-17A6-4C99-B085-73A54B9C1954}"/>
                </a:ext>
              </a:extLst>
            </p:cNvPr>
            <p:cNvSpPr txBox="1"/>
            <p:nvPr/>
          </p:nvSpPr>
          <p:spPr>
            <a:xfrm>
              <a:off x="852060" y="490591"/>
              <a:ext cx="3719451"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什么是国家主权</a:t>
              </a:r>
            </a:p>
          </p:txBody>
        </p:sp>
      </p:grpSp>
    </p:spTree>
    <p:extLst>
      <p:ext uri="{BB962C8B-B14F-4D97-AF65-F5344CB8AC3E}">
        <p14:creationId xmlns:p14="http://schemas.microsoft.com/office/powerpoint/2010/main" val="8472033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地图上有字&#10;&#10;描述已自动生成"/>
          <p:cNvPicPr>
            <a:picLocks noChangeAspect="1"/>
          </p:cNvPicPr>
          <p:nvPr/>
        </p:nvPicPr>
        <p:blipFill>
          <a:blip r:embed="rId2"/>
          <a:srcRect/>
          <a:stretch>
            <a:fillRect/>
          </a:stretch>
        </p:blipFill>
        <p:spPr>
          <a:xfrm>
            <a:off x="0" y="1"/>
            <a:ext cx="12192000" cy="6593682"/>
          </a:xfrm>
          <a:custGeom>
            <a:avLst/>
            <a:gdLst>
              <a:gd name="connsiteX0" fmla="*/ 780720 w 12192000"/>
              <a:gd name="connsiteY0" fmla="*/ 2857498 h 5715000"/>
              <a:gd name="connsiteX1" fmla="*/ 780720 w 12192000"/>
              <a:gd name="connsiteY1" fmla="*/ 4350694 h 5715000"/>
              <a:gd name="connsiteX2" fmla="*/ 2635322 w 12192000"/>
              <a:gd name="connsiteY2" fmla="*/ 4350694 h 5715000"/>
              <a:gd name="connsiteX3" fmla="*/ 2635322 w 12192000"/>
              <a:gd name="connsiteY3" fmla="*/ 2857498 h 5715000"/>
              <a:gd name="connsiteX4" fmla="*/ 0 w 12192000"/>
              <a:gd name="connsiteY4" fmla="*/ 0 h 5715000"/>
              <a:gd name="connsiteX5" fmla="*/ 12192000 w 12192000"/>
              <a:gd name="connsiteY5" fmla="*/ 0 h 5715000"/>
              <a:gd name="connsiteX6" fmla="*/ 12192000 w 12192000"/>
              <a:gd name="connsiteY6" fmla="*/ 5715000 h 5715000"/>
              <a:gd name="connsiteX7" fmla="*/ 0 w 12192000"/>
              <a:gd name="connsiteY7" fmla="*/ 5715000 h 571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15000">
                <a:moveTo>
                  <a:pt x="780720" y="2857498"/>
                </a:moveTo>
                <a:lnTo>
                  <a:pt x="780720" y="4350694"/>
                </a:lnTo>
                <a:lnTo>
                  <a:pt x="2635322" y="4350694"/>
                </a:lnTo>
                <a:lnTo>
                  <a:pt x="2635322" y="2857498"/>
                </a:lnTo>
                <a:close/>
                <a:moveTo>
                  <a:pt x="0" y="0"/>
                </a:moveTo>
                <a:lnTo>
                  <a:pt x="12192000" y="0"/>
                </a:lnTo>
                <a:lnTo>
                  <a:pt x="12192000" y="5715000"/>
                </a:lnTo>
                <a:lnTo>
                  <a:pt x="0" y="5715000"/>
                </a:lnTo>
                <a:close/>
              </a:path>
            </a:pathLst>
          </a:custGeom>
        </p:spPr>
      </p:pic>
      <p:sp>
        <p:nvSpPr>
          <p:cNvPr id="6" name="矩形 5"/>
          <p:cNvSpPr/>
          <p:nvPr/>
        </p:nvSpPr>
        <p:spPr>
          <a:xfrm>
            <a:off x="0" y="0"/>
            <a:ext cx="12192000" cy="68580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Picture 3"/>
          <p:cNvPicPr>
            <a:picLocks noChangeAspect="1" noChangeArrowheads="1"/>
          </p:cNvPicPr>
          <p:nvPr/>
        </p:nvPicPr>
        <p:blipFill>
          <a:blip r:embed="rId3"/>
          <a:stretch>
            <a:fillRect/>
          </a:stretch>
        </p:blipFill>
        <p:spPr bwMode="auto">
          <a:xfrm>
            <a:off x="0" y="6031149"/>
            <a:ext cx="12192000" cy="826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80ABA5C1-BF19-4458-B492-EF5A3A5962A2}"/>
              </a:ext>
            </a:extLst>
          </p:cNvPr>
          <p:cNvSpPr txBox="1"/>
          <p:nvPr/>
        </p:nvSpPr>
        <p:spPr>
          <a:xfrm>
            <a:off x="985421" y="2363461"/>
            <a:ext cx="4882719" cy="369332"/>
          </a:xfrm>
          <a:prstGeom prst="rect">
            <a:avLst/>
          </a:prstGeom>
          <a:noFill/>
        </p:spPr>
        <p:txBody>
          <a:bodyPr wrap="square" rtlCol="0">
            <a:spAutoFit/>
          </a:bodyPr>
          <a:lstStyle/>
          <a:p>
            <a:r>
              <a:rPr lang="zh-CN" altLang="zh-CN" sz="18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抗疫斗争充分展现我们党无比坚强的领导力</a:t>
            </a:r>
          </a:p>
        </p:txBody>
      </p:sp>
      <p:sp>
        <p:nvSpPr>
          <p:cNvPr id="15" name="矩形 14">
            <a:extLst>
              <a:ext uri="{FF2B5EF4-FFF2-40B4-BE49-F238E27FC236}">
                <a16:creationId xmlns:a16="http://schemas.microsoft.com/office/drawing/2014/main" id="{98672573-51B6-4D29-85CF-601C07D4C228}"/>
              </a:ext>
            </a:extLst>
          </p:cNvPr>
          <p:cNvSpPr/>
          <p:nvPr/>
        </p:nvSpPr>
        <p:spPr>
          <a:xfrm>
            <a:off x="2867765" y="2042212"/>
            <a:ext cx="6000749" cy="2264851"/>
          </a:xfrm>
          <a:prstGeom prst="rect">
            <a:avLst/>
          </a:prstGeom>
        </p:spPr>
        <p:txBody>
          <a:bodyPr wrap="square">
            <a:spAutoFit/>
          </a:bodyPr>
          <a:lstStyle/>
          <a:p>
            <a:pPr indent="457200">
              <a:lnSpc>
                <a:spcPct val="150000"/>
              </a:lnSpc>
            </a:pP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抗美援朝战争是中国人民不畏强权和反抗外 来侵略的英勇壮举，它不仅打破了美国不可战胜的 神话，极大地提高了中国的国际威望和国际地位， 而且为中国赢得了长期的和平建设环境，保证了国 民经济的平稳恢复和长期发展。抗美援朝战争的胜 利，不仅是前线战士浴血奋战和英勇牺牲的辉煌成 果，也是国内轰轰烈烈抗美援朝运动的伟大结晶。</a:t>
            </a:r>
          </a:p>
        </p:txBody>
      </p:sp>
      <p:grpSp>
        <p:nvGrpSpPr>
          <p:cNvPr id="4" name="组合 3">
            <a:extLst>
              <a:ext uri="{FF2B5EF4-FFF2-40B4-BE49-F238E27FC236}">
                <a16:creationId xmlns:a16="http://schemas.microsoft.com/office/drawing/2014/main" id="{A2C548E8-44E2-4808-9C31-9EFDFD803117}"/>
              </a:ext>
            </a:extLst>
          </p:cNvPr>
          <p:cNvGrpSpPr/>
          <p:nvPr/>
        </p:nvGrpSpPr>
        <p:grpSpPr>
          <a:xfrm>
            <a:off x="73270" y="102868"/>
            <a:ext cx="8343104" cy="1323254"/>
            <a:chOff x="73270" y="102868"/>
            <a:chExt cx="8343104" cy="1323254"/>
          </a:xfrm>
        </p:grpSpPr>
        <p:sp>
          <p:nvSpPr>
            <p:cNvPr id="10" name="文本框 9"/>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抗疫中的制度优势</a:t>
              </a:r>
            </a:p>
          </p:txBody>
        </p:sp>
        <p:pic>
          <p:nvPicPr>
            <p:cNvPr id="16" name="图片 15" descr="电脑萤幕画面&#10;&#10;描述已自动生成">
              <a:extLst>
                <a:ext uri="{FF2B5EF4-FFF2-40B4-BE49-F238E27FC236}">
                  <a16:creationId xmlns:a16="http://schemas.microsoft.com/office/drawing/2014/main" id="{58DF1C9A-628E-4505-AC6D-EE0657D3C988}"/>
                </a:ext>
              </a:extLst>
            </p:cNvPr>
            <p:cNvPicPr>
              <a:picLocks noChangeAspect="1"/>
            </p:cNvPicPr>
            <p:nvPr/>
          </p:nvPicPr>
          <p:blipFill>
            <a:blip r:embed="rId4"/>
            <a:stretch>
              <a:fillRect/>
            </a:stretch>
          </p:blipFill>
          <p:spPr>
            <a:xfrm flipH="1">
              <a:off x="73270" y="172328"/>
              <a:ext cx="8343104" cy="1253794"/>
            </a:xfrm>
            <a:prstGeom prst="rect">
              <a:avLst/>
            </a:prstGeom>
          </p:spPr>
        </p:pic>
        <p:sp>
          <p:nvSpPr>
            <p:cNvPr id="3" name="文本框 2">
              <a:extLst>
                <a:ext uri="{FF2B5EF4-FFF2-40B4-BE49-F238E27FC236}">
                  <a16:creationId xmlns:a16="http://schemas.microsoft.com/office/drawing/2014/main" id="{47DE1E9E-17A6-4C99-B085-73A54B9C1954}"/>
                </a:ext>
              </a:extLst>
            </p:cNvPr>
            <p:cNvSpPr txBox="1"/>
            <p:nvPr/>
          </p:nvSpPr>
          <p:spPr>
            <a:xfrm>
              <a:off x="852060" y="490591"/>
              <a:ext cx="3719451"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抗美援朝</a:t>
              </a:r>
            </a:p>
          </p:txBody>
        </p:sp>
      </p:grpSp>
    </p:spTree>
    <p:extLst>
      <p:ext uri="{BB962C8B-B14F-4D97-AF65-F5344CB8AC3E}">
        <p14:creationId xmlns:p14="http://schemas.microsoft.com/office/powerpoint/2010/main" val="16174409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地图上有字&#10;&#10;描述已自动生成"/>
          <p:cNvPicPr>
            <a:picLocks noChangeAspect="1"/>
          </p:cNvPicPr>
          <p:nvPr/>
        </p:nvPicPr>
        <p:blipFill>
          <a:blip r:embed="rId2"/>
          <a:srcRect/>
          <a:stretch>
            <a:fillRect/>
          </a:stretch>
        </p:blipFill>
        <p:spPr>
          <a:xfrm>
            <a:off x="0" y="1"/>
            <a:ext cx="12192000" cy="6593682"/>
          </a:xfrm>
          <a:custGeom>
            <a:avLst/>
            <a:gdLst>
              <a:gd name="connsiteX0" fmla="*/ 780720 w 12192000"/>
              <a:gd name="connsiteY0" fmla="*/ 2857498 h 5715000"/>
              <a:gd name="connsiteX1" fmla="*/ 780720 w 12192000"/>
              <a:gd name="connsiteY1" fmla="*/ 4350694 h 5715000"/>
              <a:gd name="connsiteX2" fmla="*/ 2635322 w 12192000"/>
              <a:gd name="connsiteY2" fmla="*/ 4350694 h 5715000"/>
              <a:gd name="connsiteX3" fmla="*/ 2635322 w 12192000"/>
              <a:gd name="connsiteY3" fmla="*/ 2857498 h 5715000"/>
              <a:gd name="connsiteX4" fmla="*/ 0 w 12192000"/>
              <a:gd name="connsiteY4" fmla="*/ 0 h 5715000"/>
              <a:gd name="connsiteX5" fmla="*/ 12192000 w 12192000"/>
              <a:gd name="connsiteY5" fmla="*/ 0 h 5715000"/>
              <a:gd name="connsiteX6" fmla="*/ 12192000 w 12192000"/>
              <a:gd name="connsiteY6" fmla="*/ 5715000 h 5715000"/>
              <a:gd name="connsiteX7" fmla="*/ 0 w 12192000"/>
              <a:gd name="connsiteY7" fmla="*/ 5715000 h 571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15000">
                <a:moveTo>
                  <a:pt x="780720" y="2857498"/>
                </a:moveTo>
                <a:lnTo>
                  <a:pt x="780720" y="4350694"/>
                </a:lnTo>
                <a:lnTo>
                  <a:pt x="2635322" y="4350694"/>
                </a:lnTo>
                <a:lnTo>
                  <a:pt x="2635322" y="2857498"/>
                </a:lnTo>
                <a:close/>
                <a:moveTo>
                  <a:pt x="0" y="0"/>
                </a:moveTo>
                <a:lnTo>
                  <a:pt x="12192000" y="0"/>
                </a:lnTo>
                <a:lnTo>
                  <a:pt x="12192000" y="5715000"/>
                </a:lnTo>
                <a:lnTo>
                  <a:pt x="0" y="5715000"/>
                </a:lnTo>
                <a:close/>
              </a:path>
            </a:pathLst>
          </a:custGeom>
        </p:spPr>
      </p:pic>
      <p:sp>
        <p:nvSpPr>
          <p:cNvPr id="6" name="矩形 5"/>
          <p:cNvSpPr/>
          <p:nvPr/>
        </p:nvSpPr>
        <p:spPr>
          <a:xfrm>
            <a:off x="0" y="0"/>
            <a:ext cx="12192000" cy="68580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抗疫中的制度优势</a:t>
            </a:r>
          </a:p>
        </p:txBody>
      </p:sp>
      <p:pic>
        <p:nvPicPr>
          <p:cNvPr id="14" name="Picture 3"/>
          <p:cNvPicPr>
            <a:picLocks noChangeAspect="1" noChangeArrowheads="1"/>
          </p:cNvPicPr>
          <p:nvPr/>
        </p:nvPicPr>
        <p:blipFill>
          <a:blip r:embed="rId3"/>
          <a:stretch>
            <a:fillRect/>
          </a:stretch>
        </p:blipFill>
        <p:spPr bwMode="auto">
          <a:xfrm>
            <a:off x="0" y="6031149"/>
            <a:ext cx="12192000" cy="826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80ABA5C1-BF19-4458-B492-EF5A3A5962A2}"/>
              </a:ext>
            </a:extLst>
          </p:cNvPr>
          <p:cNvSpPr txBox="1"/>
          <p:nvPr/>
        </p:nvSpPr>
        <p:spPr>
          <a:xfrm>
            <a:off x="985421" y="2363461"/>
            <a:ext cx="4882719" cy="369332"/>
          </a:xfrm>
          <a:prstGeom prst="rect">
            <a:avLst/>
          </a:prstGeom>
          <a:noFill/>
        </p:spPr>
        <p:txBody>
          <a:bodyPr wrap="square" rtlCol="0">
            <a:spAutoFit/>
          </a:bodyPr>
          <a:lstStyle/>
          <a:p>
            <a:r>
              <a:rPr lang="zh-CN" altLang="zh-CN" sz="18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抗疫斗争充分展现我们党无比坚强的领导力</a:t>
            </a:r>
          </a:p>
        </p:txBody>
      </p:sp>
      <p:sp>
        <p:nvSpPr>
          <p:cNvPr id="11" name="燕尾形 3">
            <a:extLst>
              <a:ext uri="{FF2B5EF4-FFF2-40B4-BE49-F238E27FC236}">
                <a16:creationId xmlns:a16="http://schemas.microsoft.com/office/drawing/2014/main" id="{733DAB44-E2C9-4925-A067-A84CD085AC7B}"/>
              </a:ext>
            </a:extLst>
          </p:cNvPr>
          <p:cNvSpPr/>
          <p:nvPr/>
        </p:nvSpPr>
        <p:spPr>
          <a:xfrm>
            <a:off x="621730" y="3161334"/>
            <a:ext cx="4180113" cy="535331"/>
          </a:xfrm>
          <a:prstGeom prst="chevron">
            <a:avLst/>
          </a:prstGeom>
          <a:solidFill>
            <a:srgbClr val="C00000"/>
          </a:solidFill>
          <a:ln w="285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400" b="1" kern="100" dirty="0">
                <a:effectLst/>
                <a:latin typeface="微软雅黑" panose="020B0503020204020204" pitchFamily="34" charset="-122"/>
                <a:ea typeface="微软雅黑" panose="020B0503020204020204" pitchFamily="34" charset="-122"/>
                <a:cs typeface="Times New Roman" panose="02020603050405020304" pitchFamily="18" charset="0"/>
              </a:rPr>
              <a:t>坚持爱国主义教育与时事教育相统一</a:t>
            </a:r>
            <a:endParaRPr lang="zh-CN"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id="{98672573-51B6-4D29-85CF-601C07D4C228}"/>
              </a:ext>
            </a:extLst>
          </p:cNvPr>
          <p:cNvSpPr/>
          <p:nvPr/>
        </p:nvSpPr>
        <p:spPr>
          <a:xfrm>
            <a:off x="5496547" y="1813147"/>
            <a:ext cx="6000749" cy="3660682"/>
          </a:xfrm>
          <a:prstGeom prst="rect">
            <a:avLst/>
          </a:prstGeom>
        </p:spPr>
        <p:txBody>
          <a:bodyPr wrap="square">
            <a:spAutoFit/>
          </a:bodyPr>
          <a:lstStyle/>
          <a:p>
            <a:pPr indent="457200">
              <a:lnSpc>
                <a:spcPct val="150000"/>
              </a:lnSpc>
            </a:pPr>
            <a:r>
              <a:rPr lang="zh-CN" altLang="en-US"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朝鲜战争爆发后，国内民众对抗美援朝的态度和认识还存在一定的偏差，还存在着一部分对抗美援朝的所谓“消极性”心态，国内民众的这些消极情绪和心态对当时的抗美援朝形势极为不利，人们亟需一场以时事教育为主要内容的爱国主义教育。基于这种情况，</a:t>
            </a:r>
            <a:r>
              <a:rPr lang="en-US" altLang="zh-CN"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1950</a:t>
            </a:r>
            <a:r>
              <a:rPr lang="zh-CN" altLang="en-US"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年</a:t>
            </a:r>
            <a:r>
              <a:rPr lang="en-US" altLang="zh-CN"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10</a:t>
            </a:r>
            <a:r>
              <a:rPr lang="zh-CN" altLang="en-US"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月</a:t>
            </a:r>
            <a:r>
              <a:rPr lang="en-US" altLang="zh-CN"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26</a:t>
            </a:r>
            <a:r>
              <a:rPr lang="zh-CN" altLang="en-US"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日，中共中央发布</a:t>
            </a:r>
            <a:r>
              <a:rPr lang="en-US" altLang="zh-CN"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a:t>
            </a:r>
            <a:r>
              <a:rPr lang="zh-CN" altLang="en-US"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关于在全国进行时事宣传的指示</a:t>
            </a:r>
            <a:r>
              <a:rPr lang="en-US" altLang="zh-CN"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a:t>
            </a:r>
            <a:r>
              <a:rPr lang="zh-CN" altLang="en-US"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a:t>
            </a:r>
            <a:r>
              <a:rPr lang="en-US" altLang="zh-CN"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a:t>
            </a:r>
            <a:r>
              <a:rPr lang="zh-CN" altLang="en-US"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指示</a:t>
            </a:r>
            <a:r>
              <a:rPr lang="en-US" altLang="zh-CN"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a:t>
            </a:r>
            <a:r>
              <a:rPr lang="zh-CN" altLang="en-US"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从多方面说明了朝鲜形势对中国的重要影响， 论证了抗美援朝的必要性和正义性，也让全国人民对美帝国主义有了更为清晰的认识。</a:t>
            </a:r>
            <a:r>
              <a:rPr lang="en-US" altLang="zh-CN"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a:t>
            </a:r>
            <a:r>
              <a:rPr lang="zh-CN" altLang="en-US"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指示</a:t>
            </a:r>
            <a:r>
              <a:rPr lang="en-US" altLang="zh-CN"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a:t>
            </a:r>
            <a:r>
              <a:rPr lang="zh-CN" altLang="en-US"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发布以后，全国立即开始了以时事教育为主要内容的爱国主义教育工作，并开展了“仇视、 鄙视、蔑视”美帝国主义的“三视”教育活动。在论证抗美援朝的必要性方面，</a:t>
            </a:r>
            <a:r>
              <a:rPr lang="en-US" altLang="zh-CN"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a:t>
            </a:r>
            <a:r>
              <a:rPr lang="zh-CN" altLang="en-US"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人民日报</a:t>
            </a:r>
            <a:r>
              <a:rPr lang="en-US" altLang="zh-CN"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a:t>
            </a:r>
            <a:r>
              <a:rPr lang="zh-CN" altLang="en-US"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先后 发表了</a:t>
            </a:r>
            <a:r>
              <a:rPr lang="en-US" altLang="zh-CN"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a:t>
            </a:r>
            <a:r>
              <a:rPr lang="zh-CN" altLang="en-US"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为什么我们对美国侵略朝鲜不能置之不理</a:t>
            </a:r>
            <a:r>
              <a:rPr lang="en-US" altLang="zh-CN"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a:t>
            </a:r>
            <a:r>
              <a:rPr lang="zh-CN" altLang="en-US"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中国人民支援部队抗美援朝保家卫国的重要意义</a:t>
            </a:r>
            <a:r>
              <a:rPr lang="en-US" altLang="zh-CN"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a:t>
            </a:r>
            <a:r>
              <a:rPr lang="zh-CN" altLang="en-US"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等社论和文章；在正确认识美帝国主义方面，</a:t>
            </a:r>
            <a:r>
              <a:rPr lang="en-US" altLang="zh-CN"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a:t>
            </a:r>
            <a:r>
              <a:rPr lang="zh-CN" altLang="en-US"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人民日报</a:t>
            </a:r>
            <a:r>
              <a:rPr lang="en-US" altLang="zh-CN"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a:t>
            </a:r>
            <a:r>
              <a:rPr lang="zh-CN" altLang="en-US"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刊登了</a:t>
            </a:r>
            <a:r>
              <a:rPr lang="en-US" altLang="zh-CN"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a:t>
            </a:r>
            <a:r>
              <a:rPr lang="zh-CN" altLang="en-US"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怎样认识美国</a:t>
            </a:r>
            <a:r>
              <a:rPr lang="en-US" altLang="zh-CN"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a:t>
            </a:r>
            <a:r>
              <a:rPr lang="zh-CN" altLang="en-US"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的宣传提纲。通过这些时事宣传和爱国主义教育活动， 全国人民受到了深刻的爱国主义洗礼，普遍认识到 抗美援朝的必要性和重要意义，基本清除了人们长 期存在的“恐美、崇美、亲美”心理，更加激发了中国人民抗美援朝保家卫国的爱国热情。</a:t>
            </a:r>
          </a:p>
        </p:txBody>
      </p:sp>
      <p:sp>
        <p:nvSpPr>
          <p:cNvPr id="3" name="文本框 2">
            <a:extLst>
              <a:ext uri="{FF2B5EF4-FFF2-40B4-BE49-F238E27FC236}">
                <a16:creationId xmlns:a16="http://schemas.microsoft.com/office/drawing/2014/main" id="{47DE1E9E-17A6-4C99-B085-73A54B9C1954}"/>
              </a:ext>
            </a:extLst>
          </p:cNvPr>
          <p:cNvSpPr txBox="1"/>
          <p:nvPr/>
        </p:nvSpPr>
        <p:spPr>
          <a:xfrm>
            <a:off x="852060" y="490591"/>
            <a:ext cx="3719451"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抗疫中的制度优势</a:t>
            </a:r>
          </a:p>
        </p:txBody>
      </p:sp>
      <p:grpSp>
        <p:nvGrpSpPr>
          <p:cNvPr id="13" name="组合 12">
            <a:extLst>
              <a:ext uri="{FF2B5EF4-FFF2-40B4-BE49-F238E27FC236}">
                <a16:creationId xmlns:a16="http://schemas.microsoft.com/office/drawing/2014/main" id="{E9F96A3C-8766-42EE-93F2-E75AE349A230}"/>
              </a:ext>
            </a:extLst>
          </p:cNvPr>
          <p:cNvGrpSpPr/>
          <p:nvPr/>
        </p:nvGrpSpPr>
        <p:grpSpPr>
          <a:xfrm>
            <a:off x="73270" y="102868"/>
            <a:ext cx="8343104" cy="1323254"/>
            <a:chOff x="73270" y="102868"/>
            <a:chExt cx="8343104" cy="1323254"/>
          </a:xfrm>
        </p:grpSpPr>
        <p:sp>
          <p:nvSpPr>
            <p:cNvPr id="17" name="文本框 16">
              <a:extLst>
                <a:ext uri="{FF2B5EF4-FFF2-40B4-BE49-F238E27FC236}">
                  <a16:creationId xmlns:a16="http://schemas.microsoft.com/office/drawing/2014/main" id="{C89D5E13-2037-4E07-A17D-1651442C620E}"/>
                </a:ext>
              </a:extLst>
            </p:cNvPr>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抗疫中的制度优势</a:t>
              </a:r>
            </a:p>
          </p:txBody>
        </p:sp>
        <p:pic>
          <p:nvPicPr>
            <p:cNvPr id="18" name="图片 17" descr="电脑萤幕画面&#10;&#10;描述已自动生成">
              <a:extLst>
                <a:ext uri="{FF2B5EF4-FFF2-40B4-BE49-F238E27FC236}">
                  <a16:creationId xmlns:a16="http://schemas.microsoft.com/office/drawing/2014/main" id="{CF9FE4A3-8B55-4D2E-9E80-CF73A529FE7C}"/>
                </a:ext>
              </a:extLst>
            </p:cNvPr>
            <p:cNvPicPr>
              <a:picLocks noChangeAspect="1"/>
            </p:cNvPicPr>
            <p:nvPr/>
          </p:nvPicPr>
          <p:blipFill>
            <a:blip r:embed="rId4"/>
            <a:stretch>
              <a:fillRect/>
            </a:stretch>
          </p:blipFill>
          <p:spPr>
            <a:xfrm flipH="1">
              <a:off x="73270" y="172328"/>
              <a:ext cx="8343104" cy="1253794"/>
            </a:xfrm>
            <a:prstGeom prst="rect">
              <a:avLst/>
            </a:prstGeom>
          </p:spPr>
        </p:pic>
        <p:sp>
          <p:nvSpPr>
            <p:cNvPr id="19" name="文本框 18">
              <a:extLst>
                <a:ext uri="{FF2B5EF4-FFF2-40B4-BE49-F238E27FC236}">
                  <a16:creationId xmlns:a16="http://schemas.microsoft.com/office/drawing/2014/main" id="{C9E50BF1-1203-4257-83CF-1A37CB6FE712}"/>
                </a:ext>
              </a:extLst>
            </p:cNvPr>
            <p:cNvSpPr txBox="1"/>
            <p:nvPr/>
          </p:nvSpPr>
          <p:spPr>
            <a:xfrm>
              <a:off x="852060" y="629948"/>
              <a:ext cx="3719451" cy="338554"/>
            </a:xfrm>
            <a:prstGeom prst="rect">
              <a:avLst/>
            </a:prstGeom>
            <a:noFill/>
          </p:spPr>
          <p:txBody>
            <a:bodyPr wrap="square" rtlCol="0">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抗美援朝时期爱国主义教育的基本经验</a:t>
              </a:r>
            </a:p>
          </p:txBody>
        </p:sp>
      </p:grpSp>
    </p:spTree>
    <p:extLst>
      <p:ext uri="{BB962C8B-B14F-4D97-AF65-F5344CB8AC3E}">
        <p14:creationId xmlns:p14="http://schemas.microsoft.com/office/powerpoint/2010/main" val="20369645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地图上有字&#10;&#10;描述已自动生成"/>
          <p:cNvPicPr>
            <a:picLocks noChangeAspect="1"/>
          </p:cNvPicPr>
          <p:nvPr/>
        </p:nvPicPr>
        <p:blipFill>
          <a:blip r:embed="rId2"/>
          <a:srcRect/>
          <a:stretch>
            <a:fillRect/>
          </a:stretch>
        </p:blipFill>
        <p:spPr>
          <a:xfrm>
            <a:off x="0" y="1"/>
            <a:ext cx="12192000" cy="6593682"/>
          </a:xfrm>
          <a:custGeom>
            <a:avLst/>
            <a:gdLst>
              <a:gd name="connsiteX0" fmla="*/ 780720 w 12192000"/>
              <a:gd name="connsiteY0" fmla="*/ 2857498 h 5715000"/>
              <a:gd name="connsiteX1" fmla="*/ 780720 w 12192000"/>
              <a:gd name="connsiteY1" fmla="*/ 4350694 h 5715000"/>
              <a:gd name="connsiteX2" fmla="*/ 2635322 w 12192000"/>
              <a:gd name="connsiteY2" fmla="*/ 4350694 h 5715000"/>
              <a:gd name="connsiteX3" fmla="*/ 2635322 w 12192000"/>
              <a:gd name="connsiteY3" fmla="*/ 2857498 h 5715000"/>
              <a:gd name="connsiteX4" fmla="*/ 0 w 12192000"/>
              <a:gd name="connsiteY4" fmla="*/ 0 h 5715000"/>
              <a:gd name="connsiteX5" fmla="*/ 12192000 w 12192000"/>
              <a:gd name="connsiteY5" fmla="*/ 0 h 5715000"/>
              <a:gd name="connsiteX6" fmla="*/ 12192000 w 12192000"/>
              <a:gd name="connsiteY6" fmla="*/ 5715000 h 5715000"/>
              <a:gd name="connsiteX7" fmla="*/ 0 w 12192000"/>
              <a:gd name="connsiteY7" fmla="*/ 5715000 h 571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15000">
                <a:moveTo>
                  <a:pt x="780720" y="2857498"/>
                </a:moveTo>
                <a:lnTo>
                  <a:pt x="780720" y="4350694"/>
                </a:lnTo>
                <a:lnTo>
                  <a:pt x="2635322" y="4350694"/>
                </a:lnTo>
                <a:lnTo>
                  <a:pt x="2635322" y="2857498"/>
                </a:lnTo>
                <a:close/>
                <a:moveTo>
                  <a:pt x="0" y="0"/>
                </a:moveTo>
                <a:lnTo>
                  <a:pt x="12192000" y="0"/>
                </a:lnTo>
                <a:lnTo>
                  <a:pt x="12192000" y="5715000"/>
                </a:lnTo>
                <a:lnTo>
                  <a:pt x="0" y="5715000"/>
                </a:lnTo>
                <a:close/>
              </a:path>
            </a:pathLst>
          </a:custGeom>
        </p:spPr>
      </p:pic>
      <p:sp>
        <p:nvSpPr>
          <p:cNvPr id="6" name="矩形 5"/>
          <p:cNvSpPr/>
          <p:nvPr/>
        </p:nvSpPr>
        <p:spPr>
          <a:xfrm>
            <a:off x="0" y="0"/>
            <a:ext cx="12192000" cy="68580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抗疫中的制度优势</a:t>
            </a:r>
          </a:p>
        </p:txBody>
      </p:sp>
      <p:pic>
        <p:nvPicPr>
          <p:cNvPr id="14" name="Picture 3"/>
          <p:cNvPicPr>
            <a:picLocks noChangeAspect="1" noChangeArrowheads="1"/>
          </p:cNvPicPr>
          <p:nvPr/>
        </p:nvPicPr>
        <p:blipFill>
          <a:blip r:embed="rId3"/>
          <a:stretch>
            <a:fillRect/>
          </a:stretch>
        </p:blipFill>
        <p:spPr bwMode="auto">
          <a:xfrm>
            <a:off x="0" y="6031149"/>
            <a:ext cx="12192000" cy="826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80ABA5C1-BF19-4458-B492-EF5A3A5962A2}"/>
              </a:ext>
            </a:extLst>
          </p:cNvPr>
          <p:cNvSpPr txBox="1"/>
          <p:nvPr/>
        </p:nvSpPr>
        <p:spPr>
          <a:xfrm>
            <a:off x="985421" y="2363461"/>
            <a:ext cx="4882719" cy="369332"/>
          </a:xfrm>
          <a:prstGeom prst="rect">
            <a:avLst/>
          </a:prstGeom>
          <a:noFill/>
        </p:spPr>
        <p:txBody>
          <a:bodyPr wrap="square" rtlCol="0">
            <a:spAutoFit/>
          </a:bodyPr>
          <a:lstStyle/>
          <a:p>
            <a:r>
              <a:rPr lang="zh-CN" altLang="zh-CN" sz="18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抗疫斗争充分展现我们党无比坚强的领导力</a:t>
            </a:r>
          </a:p>
        </p:txBody>
      </p:sp>
      <p:sp>
        <p:nvSpPr>
          <p:cNvPr id="11" name="燕尾形 3">
            <a:extLst>
              <a:ext uri="{FF2B5EF4-FFF2-40B4-BE49-F238E27FC236}">
                <a16:creationId xmlns:a16="http://schemas.microsoft.com/office/drawing/2014/main" id="{733DAB44-E2C9-4925-A067-A84CD085AC7B}"/>
              </a:ext>
            </a:extLst>
          </p:cNvPr>
          <p:cNvSpPr/>
          <p:nvPr/>
        </p:nvSpPr>
        <p:spPr>
          <a:xfrm>
            <a:off x="621730" y="3161334"/>
            <a:ext cx="4180113" cy="535331"/>
          </a:xfrm>
          <a:prstGeom prst="chevron">
            <a:avLst/>
          </a:prstGeom>
          <a:solidFill>
            <a:srgbClr val="C00000"/>
          </a:solidFill>
          <a:ln w="285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200" b="1" kern="100" dirty="0">
                <a:effectLst/>
                <a:latin typeface="微软雅黑" panose="020B0503020204020204" pitchFamily="34" charset="-122"/>
                <a:ea typeface="微软雅黑" panose="020B0503020204020204" pitchFamily="34" charset="-122"/>
                <a:cs typeface="Times New Roman" panose="02020603050405020304" pitchFamily="18" charset="0"/>
              </a:rPr>
              <a:t>坚持爱国主义教育与革命英雄主义教育相统一</a:t>
            </a:r>
            <a:endParaRPr lang="zh-CN" alt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id="{98672573-51B6-4D29-85CF-601C07D4C228}"/>
              </a:ext>
            </a:extLst>
          </p:cNvPr>
          <p:cNvSpPr/>
          <p:nvPr/>
        </p:nvSpPr>
        <p:spPr>
          <a:xfrm>
            <a:off x="5569521" y="1742576"/>
            <a:ext cx="6000749" cy="3932230"/>
          </a:xfrm>
          <a:prstGeom prst="rect">
            <a:avLst/>
          </a:prstGeom>
        </p:spPr>
        <p:txBody>
          <a:bodyPr wrap="square">
            <a:spAutoFit/>
          </a:bodyPr>
          <a:lstStyle/>
          <a:p>
            <a:pPr indent="457200">
              <a:lnSpc>
                <a:spcPct val="150000"/>
              </a:lnSpc>
            </a:pPr>
            <a:r>
              <a:rPr lang="zh-CN" altLang="en-US" sz="14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经过长期的革命斗争，中国共产党领导的人民 军队形成了以“一不怕苦，二不怕死”为核心的革命英雄主义精神的优良传统。在抗美援朝战争中， 中国人民志愿军充分发挥了我军长期以来的革命英雄主义的优良传统，中共中央号召在志愿军和人民群众中广泛开展革命英雄主义教育，极大地激发了志愿军的战斗积极性，增强人民群众的爱国热情和对志愿军战士的爱戴之情。</a:t>
            </a:r>
          </a:p>
          <a:p>
            <a:pPr indent="457200">
              <a:lnSpc>
                <a:spcPct val="150000"/>
              </a:lnSpc>
            </a:pPr>
            <a:r>
              <a:rPr lang="zh-CN" altLang="en-US" sz="14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在国内宣传战线上，国内众多媒体向全国人民宣传抗美援朝战争中涌现的英 雄人物和事迹，讴歌中国人民志愿军的不朽功绩，号召全国人民向革命英雄学习。</a:t>
            </a:r>
            <a:r>
              <a:rPr lang="en-US" altLang="zh-CN" sz="14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a:t>
            </a:r>
            <a:r>
              <a:rPr lang="zh-CN" altLang="en-US" sz="14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人民日报</a:t>
            </a:r>
            <a:r>
              <a:rPr lang="en-US" altLang="zh-CN" sz="14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a:t>
            </a:r>
            <a:r>
              <a:rPr lang="zh-CN" altLang="en-US" sz="14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先后刊登了</a:t>
            </a:r>
            <a:r>
              <a:rPr lang="en-US" altLang="zh-CN" sz="14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a:t>
            </a:r>
            <a:r>
              <a:rPr lang="zh-CN" altLang="en-US" sz="14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不朽的国际主义战士</a:t>
            </a:r>
            <a:r>
              <a:rPr lang="en-US" altLang="zh-CN" sz="14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a:t>
            </a:r>
            <a:r>
              <a:rPr lang="zh-CN" altLang="en-US" sz="14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伟大的邱少云战士</a:t>
            </a:r>
            <a:r>
              <a:rPr lang="en-US" altLang="zh-CN" sz="14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a:t>
            </a:r>
            <a:r>
              <a:rPr lang="zh-CN" altLang="en-US" sz="14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马特洛索夫式的英雄黄继光</a:t>
            </a:r>
            <a:r>
              <a:rPr lang="en-US" altLang="zh-CN" sz="14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 </a:t>
            </a:r>
            <a:r>
              <a:rPr lang="zh-CN" altLang="en-US" sz="14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等文章宣传罗盛教、邱少云和黄继光的英雄事迹。 这些宣传和报道使全国人民都受到了革命英雄主义的精神洗礼，更激励着前线战士继续奋勇杀敌。</a:t>
            </a:r>
          </a:p>
        </p:txBody>
      </p:sp>
      <p:sp>
        <p:nvSpPr>
          <p:cNvPr id="3" name="文本框 2">
            <a:extLst>
              <a:ext uri="{FF2B5EF4-FFF2-40B4-BE49-F238E27FC236}">
                <a16:creationId xmlns:a16="http://schemas.microsoft.com/office/drawing/2014/main" id="{47DE1E9E-17A6-4C99-B085-73A54B9C1954}"/>
              </a:ext>
            </a:extLst>
          </p:cNvPr>
          <p:cNvSpPr txBox="1"/>
          <p:nvPr/>
        </p:nvSpPr>
        <p:spPr>
          <a:xfrm>
            <a:off x="852060" y="490591"/>
            <a:ext cx="3719451"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抗疫中的制度优势</a:t>
            </a:r>
          </a:p>
        </p:txBody>
      </p:sp>
      <p:grpSp>
        <p:nvGrpSpPr>
          <p:cNvPr id="13" name="组合 12">
            <a:extLst>
              <a:ext uri="{FF2B5EF4-FFF2-40B4-BE49-F238E27FC236}">
                <a16:creationId xmlns:a16="http://schemas.microsoft.com/office/drawing/2014/main" id="{E9F96A3C-8766-42EE-93F2-E75AE349A230}"/>
              </a:ext>
            </a:extLst>
          </p:cNvPr>
          <p:cNvGrpSpPr/>
          <p:nvPr/>
        </p:nvGrpSpPr>
        <p:grpSpPr>
          <a:xfrm>
            <a:off x="73270" y="102868"/>
            <a:ext cx="8343104" cy="1323254"/>
            <a:chOff x="73270" y="102868"/>
            <a:chExt cx="8343104" cy="1323254"/>
          </a:xfrm>
        </p:grpSpPr>
        <p:sp>
          <p:nvSpPr>
            <p:cNvPr id="17" name="文本框 16">
              <a:extLst>
                <a:ext uri="{FF2B5EF4-FFF2-40B4-BE49-F238E27FC236}">
                  <a16:creationId xmlns:a16="http://schemas.microsoft.com/office/drawing/2014/main" id="{C89D5E13-2037-4E07-A17D-1651442C620E}"/>
                </a:ext>
              </a:extLst>
            </p:cNvPr>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抗疫中的制度优势</a:t>
              </a:r>
            </a:p>
          </p:txBody>
        </p:sp>
        <p:pic>
          <p:nvPicPr>
            <p:cNvPr id="18" name="图片 17" descr="电脑萤幕画面&#10;&#10;描述已自动生成">
              <a:extLst>
                <a:ext uri="{FF2B5EF4-FFF2-40B4-BE49-F238E27FC236}">
                  <a16:creationId xmlns:a16="http://schemas.microsoft.com/office/drawing/2014/main" id="{CF9FE4A3-8B55-4D2E-9E80-CF73A529FE7C}"/>
                </a:ext>
              </a:extLst>
            </p:cNvPr>
            <p:cNvPicPr>
              <a:picLocks noChangeAspect="1"/>
            </p:cNvPicPr>
            <p:nvPr/>
          </p:nvPicPr>
          <p:blipFill>
            <a:blip r:embed="rId4"/>
            <a:stretch>
              <a:fillRect/>
            </a:stretch>
          </p:blipFill>
          <p:spPr>
            <a:xfrm flipH="1">
              <a:off x="73270" y="172328"/>
              <a:ext cx="8343104" cy="1253794"/>
            </a:xfrm>
            <a:prstGeom prst="rect">
              <a:avLst/>
            </a:prstGeom>
          </p:spPr>
        </p:pic>
        <p:sp>
          <p:nvSpPr>
            <p:cNvPr id="19" name="文本框 18">
              <a:extLst>
                <a:ext uri="{FF2B5EF4-FFF2-40B4-BE49-F238E27FC236}">
                  <a16:creationId xmlns:a16="http://schemas.microsoft.com/office/drawing/2014/main" id="{C9E50BF1-1203-4257-83CF-1A37CB6FE712}"/>
                </a:ext>
              </a:extLst>
            </p:cNvPr>
            <p:cNvSpPr txBox="1"/>
            <p:nvPr/>
          </p:nvSpPr>
          <p:spPr>
            <a:xfrm>
              <a:off x="852060" y="629948"/>
              <a:ext cx="3719451" cy="338554"/>
            </a:xfrm>
            <a:prstGeom prst="rect">
              <a:avLst/>
            </a:prstGeom>
            <a:noFill/>
          </p:spPr>
          <p:txBody>
            <a:bodyPr wrap="square" rtlCol="0">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抗美援朝时期爱国主义教育的基本经验</a:t>
              </a:r>
            </a:p>
          </p:txBody>
        </p:sp>
      </p:grpSp>
    </p:spTree>
    <p:extLst>
      <p:ext uri="{BB962C8B-B14F-4D97-AF65-F5344CB8AC3E}">
        <p14:creationId xmlns:p14="http://schemas.microsoft.com/office/powerpoint/2010/main" val="3871261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地图上有字&#10;&#10;描述已自动生成"/>
          <p:cNvPicPr>
            <a:picLocks noChangeAspect="1"/>
          </p:cNvPicPr>
          <p:nvPr/>
        </p:nvPicPr>
        <p:blipFill>
          <a:blip r:embed="rId2"/>
          <a:srcRect/>
          <a:stretch>
            <a:fillRect/>
          </a:stretch>
        </p:blipFill>
        <p:spPr>
          <a:xfrm>
            <a:off x="0" y="1"/>
            <a:ext cx="12192000" cy="6593682"/>
          </a:xfrm>
          <a:custGeom>
            <a:avLst/>
            <a:gdLst>
              <a:gd name="connsiteX0" fmla="*/ 780720 w 12192000"/>
              <a:gd name="connsiteY0" fmla="*/ 2857498 h 5715000"/>
              <a:gd name="connsiteX1" fmla="*/ 780720 w 12192000"/>
              <a:gd name="connsiteY1" fmla="*/ 4350694 h 5715000"/>
              <a:gd name="connsiteX2" fmla="*/ 2635322 w 12192000"/>
              <a:gd name="connsiteY2" fmla="*/ 4350694 h 5715000"/>
              <a:gd name="connsiteX3" fmla="*/ 2635322 w 12192000"/>
              <a:gd name="connsiteY3" fmla="*/ 2857498 h 5715000"/>
              <a:gd name="connsiteX4" fmla="*/ 0 w 12192000"/>
              <a:gd name="connsiteY4" fmla="*/ 0 h 5715000"/>
              <a:gd name="connsiteX5" fmla="*/ 12192000 w 12192000"/>
              <a:gd name="connsiteY5" fmla="*/ 0 h 5715000"/>
              <a:gd name="connsiteX6" fmla="*/ 12192000 w 12192000"/>
              <a:gd name="connsiteY6" fmla="*/ 5715000 h 5715000"/>
              <a:gd name="connsiteX7" fmla="*/ 0 w 12192000"/>
              <a:gd name="connsiteY7" fmla="*/ 5715000 h 571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15000">
                <a:moveTo>
                  <a:pt x="780720" y="2857498"/>
                </a:moveTo>
                <a:lnTo>
                  <a:pt x="780720" y="4350694"/>
                </a:lnTo>
                <a:lnTo>
                  <a:pt x="2635322" y="4350694"/>
                </a:lnTo>
                <a:lnTo>
                  <a:pt x="2635322" y="2857498"/>
                </a:lnTo>
                <a:close/>
                <a:moveTo>
                  <a:pt x="0" y="0"/>
                </a:moveTo>
                <a:lnTo>
                  <a:pt x="12192000" y="0"/>
                </a:lnTo>
                <a:lnTo>
                  <a:pt x="12192000" y="5715000"/>
                </a:lnTo>
                <a:lnTo>
                  <a:pt x="0" y="5715000"/>
                </a:lnTo>
                <a:close/>
              </a:path>
            </a:pathLst>
          </a:custGeom>
        </p:spPr>
      </p:pic>
      <p:sp>
        <p:nvSpPr>
          <p:cNvPr id="6" name="矩形 5"/>
          <p:cNvSpPr/>
          <p:nvPr/>
        </p:nvSpPr>
        <p:spPr>
          <a:xfrm>
            <a:off x="0" y="0"/>
            <a:ext cx="12192000" cy="68580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抗疫中的制度优势</a:t>
            </a:r>
          </a:p>
        </p:txBody>
      </p:sp>
      <p:pic>
        <p:nvPicPr>
          <p:cNvPr id="14" name="Picture 3"/>
          <p:cNvPicPr>
            <a:picLocks noChangeAspect="1" noChangeArrowheads="1"/>
          </p:cNvPicPr>
          <p:nvPr/>
        </p:nvPicPr>
        <p:blipFill>
          <a:blip r:embed="rId3"/>
          <a:stretch>
            <a:fillRect/>
          </a:stretch>
        </p:blipFill>
        <p:spPr bwMode="auto">
          <a:xfrm>
            <a:off x="0" y="6031149"/>
            <a:ext cx="12192000" cy="826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80ABA5C1-BF19-4458-B492-EF5A3A5962A2}"/>
              </a:ext>
            </a:extLst>
          </p:cNvPr>
          <p:cNvSpPr txBox="1"/>
          <p:nvPr/>
        </p:nvSpPr>
        <p:spPr>
          <a:xfrm>
            <a:off x="985421" y="2363461"/>
            <a:ext cx="4882719" cy="369332"/>
          </a:xfrm>
          <a:prstGeom prst="rect">
            <a:avLst/>
          </a:prstGeom>
          <a:noFill/>
        </p:spPr>
        <p:txBody>
          <a:bodyPr wrap="square" rtlCol="0">
            <a:spAutoFit/>
          </a:bodyPr>
          <a:lstStyle/>
          <a:p>
            <a:r>
              <a:rPr lang="zh-CN" altLang="zh-CN" sz="18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抗疫斗争充分展现我们党无比坚强的领导力</a:t>
            </a:r>
          </a:p>
        </p:txBody>
      </p:sp>
      <p:sp>
        <p:nvSpPr>
          <p:cNvPr id="11" name="燕尾形 3">
            <a:extLst>
              <a:ext uri="{FF2B5EF4-FFF2-40B4-BE49-F238E27FC236}">
                <a16:creationId xmlns:a16="http://schemas.microsoft.com/office/drawing/2014/main" id="{733DAB44-E2C9-4925-A067-A84CD085AC7B}"/>
              </a:ext>
            </a:extLst>
          </p:cNvPr>
          <p:cNvSpPr/>
          <p:nvPr/>
        </p:nvSpPr>
        <p:spPr>
          <a:xfrm>
            <a:off x="621730" y="3161334"/>
            <a:ext cx="4180113" cy="535331"/>
          </a:xfrm>
          <a:prstGeom prst="chevron">
            <a:avLst/>
          </a:prstGeom>
          <a:solidFill>
            <a:srgbClr val="C00000"/>
          </a:solidFill>
          <a:ln w="285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400" b="1" kern="100" dirty="0">
                <a:effectLst/>
                <a:latin typeface="微软雅黑" panose="020B0503020204020204" pitchFamily="34" charset="-122"/>
                <a:ea typeface="微软雅黑" panose="020B0503020204020204" pitchFamily="34" charset="-122"/>
                <a:cs typeface="Times New Roman" panose="02020603050405020304" pitchFamily="18" charset="0"/>
              </a:rPr>
              <a:t>坚持爱国主义教育与群众性爱国运动相结合</a:t>
            </a:r>
            <a:endParaRPr lang="zh-CN"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id="{98672573-51B6-4D29-85CF-601C07D4C228}"/>
              </a:ext>
            </a:extLst>
          </p:cNvPr>
          <p:cNvSpPr/>
          <p:nvPr/>
        </p:nvSpPr>
        <p:spPr>
          <a:xfrm>
            <a:off x="5569521" y="1335693"/>
            <a:ext cx="6000749" cy="4901726"/>
          </a:xfrm>
          <a:prstGeom prst="rect">
            <a:avLst/>
          </a:prstGeom>
        </p:spPr>
        <p:txBody>
          <a:bodyPr wrap="square">
            <a:spAutoFit/>
          </a:bodyPr>
          <a:lstStyle/>
          <a:p>
            <a:pPr indent="457200">
              <a:lnSpc>
                <a:spcPct val="150000"/>
              </a:lnSpc>
            </a:pPr>
            <a:r>
              <a:rPr lang="zh-CN" altLang="en-US" sz="14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坚持群众路线是中国共产党的优良传统和最大政治优势，也是党领导中国革命和建设取得胜利的重要法宝。抗美援朝时期爱国主义教育的最显著特征，就在于党和政府始终坚持群众路线，紧密依靠群众运动，坚持爱国主义教育与群众性爱国运动相结合。</a:t>
            </a:r>
          </a:p>
          <a:p>
            <a:pPr indent="457200">
              <a:lnSpc>
                <a:spcPct val="150000"/>
              </a:lnSpc>
            </a:pPr>
            <a:r>
              <a:rPr lang="zh-CN" altLang="en-US" sz="14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从基层农民的捐献粮食，到普通工人的捐献工资，再到演艺界、工商界、宗教界等人士直接捐献财物，全国上下涌现出无数生动感人的捐献事例，广大人民群众在捐献武器运动中得到了深刻的爱国主义教育，不仅激发了全国人民更为浓厚的爱国情怀，而且为前线战士提供了巨大的物质支援和精神鼓舞。针对美国发动的细菌战，全国又掀起了反细菌战运动和爱国防疫卫生运动，全国的卫生状况和人民的健康水平得到较大提高，不仅 挫败了美国发动的细菌战，更为我国的卫生事业的发展奠定了广泛的群众基础。与此同时，全国人民广泛开展诉苦、游行示威等运动来控诉、抗议和揭 露美国的侵略暴行，进一步提高了人民群众的民族觉 悟和爱国热情，等等。这些群众性爱国运动把中国人民牢牢地团结在一起，激发了亿万人民群众的精神力量，极大地支援了抗美援朝战争。</a:t>
            </a:r>
          </a:p>
        </p:txBody>
      </p:sp>
      <p:sp>
        <p:nvSpPr>
          <p:cNvPr id="3" name="文本框 2">
            <a:extLst>
              <a:ext uri="{FF2B5EF4-FFF2-40B4-BE49-F238E27FC236}">
                <a16:creationId xmlns:a16="http://schemas.microsoft.com/office/drawing/2014/main" id="{47DE1E9E-17A6-4C99-B085-73A54B9C1954}"/>
              </a:ext>
            </a:extLst>
          </p:cNvPr>
          <p:cNvSpPr txBox="1"/>
          <p:nvPr/>
        </p:nvSpPr>
        <p:spPr>
          <a:xfrm>
            <a:off x="852060" y="490591"/>
            <a:ext cx="3719451"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抗疫中的制度优势</a:t>
            </a:r>
          </a:p>
        </p:txBody>
      </p:sp>
      <p:grpSp>
        <p:nvGrpSpPr>
          <p:cNvPr id="13" name="组合 12">
            <a:extLst>
              <a:ext uri="{FF2B5EF4-FFF2-40B4-BE49-F238E27FC236}">
                <a16:creationId xmlns:a16="http://schemas.microsoft.com/office/drawing/2014/main" id="{E9F96A3C-8766-42EE-93F2-E75AE349A230}"/>
              </a:ext>
            </a:extLst>
          </p:cNvPr>
          <p:cNvGrpSpPr/>
          <p:nvPr/>
        </p:nvGrpSpPr>
        <p:grpSpPr>
          <a:xfrm>
            <a:off x="73270" y="102868"/>
            <a:ext cx="8343104" cy="1323254"/>
            <a:chOff x="73270" y="102868"/>
            <a:chExt cx="8343104" cy="1323254"/>
          </a:xfrm>
        </p:grpSpPr>
        <p:sp>
          <p:nvSpPr>
            <p:cNvPr id="17" name="文本框 16">
              <a:extLst>
                <a:ext uri="{FF2B5EF4-FFF2-40B4-BE49-F238E27FC236}">
                  <a16:creationId xmlns:a16="http://schemas.microsoft.com/office/drawing/2014/main" id="{C89D5E13-2037-4E07-A17D-1651442C620E}"/>
                </a:ext>
              </a:extLst>
            </p:cNvPr>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抗疫中的制度优势</a:t>
              </a:r>
            </a:p>
          </p:txBody>
        </p:sp>
        <p:pic>
          <p:nvPicPr>
            <p:cNvPr id="18" name="图片 17" descr="电脑萤幕画面&#10;&#10;描述已自动生成">
              <a:extLst>
                <a:ext uri="{FF2B5EF4-FFF2-40B4-BE49-F238E27FC236}">
                  <a16:creationId xmlns:a16="http://schemas.microsoft.com/office/drawing/2014/main" id="{CF9FE4A3-8B55-4D2E-9E80-CF73A529FE7C}"/>
                </a:ext>
              </a:extLst>
            </p:cNvPr>
            <p:cNvPicPr>
              <a:picLocks noChangeAspect="1"/>
            </p:cNvPicPr>
            <p:nvPr/>
          </p:nvPicPr>
          <p:blipFill>
            <a:blip r:embed="rId4"/>
            <a:stretch>
              <a:fillRect/>
            </a:stretch>
          </p:blipFill>
          <p:spPr>
            <a:xfrm flipH="1">
              <a:off x="73270" y="172328"/>
              <a:ext cx="8343104" cy="1253794"/>
            </a:xfrm>
            <a:prstGeom prst="rect">
              <a:avLst/>
            </a:prstGeom>
          </p:spPr>
        </p:pic>
        <p:sp>
          <p:nvSpPr>
            <p:cNvPr id="19" name="文本框 18">
              <a:extLst>
                <a:ext uri="{FF2B5EF4-FFF2-40B4-BE49-F238E27FC236}">
                  <a16:creationId xmlns:a16="http://schemas.microsoft.com/office/drawing/2014/main" id="{C9E50BF1-1203-4257-83CF-1A37CB6FE712}"/>
                </a:ext>
              </a:extLst>
            </p:cNvPr>
            <p:cNvSpPr txBox="1"/>
            <p:nvPr/>
          </p:nvSpPr>
          <p:spPr>
            <a:xfrm>
              <a:off x="852060" y="629948"/>
              <a:ext cx="3719451" cy="338554"/>
            </a:xfrm>
            <a:prstGeom prst="rect">
              <a:avLst/>
            </a:prstGeom>
            <a:noFill/>
          </p:spPr>
          <p:txBody>
            <a:bodyPr wrap="square" rtlCol="0">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抗美援朝时期爱国主义教育的基本经验</a:t>
              </a:r>
            </a:p>
          </p:txBody>
        </p:sp>
      </p:grpSp>
    </p:spTree>
    <p:extLst>
      <p:ext uri="{BB962C8B-B14F-4D97-AF65-F5344CB8AC3E}">
        <p14:creationId xmlns:p14="http://schemas.microsoft.com/office/powerpoint/2010/main" val="6525549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地图上有字&#10;&#10;描述已自动生成"/>
          <p:cNvPicPr>
            <a:picLocks noChangeAspect="1"/>
          </p:cNvPicPr>
          <p:nvPr/>
        </p:nvPicPr>
        <p:blipFill>
          <a:blip r:embed="rId2"/>
          <a:srcRect/>
          <a:stretch>
            <a:fillRect/>
          </a:stretch>
        </p:blipFill>
        <p:spPr>
          <a:xfrm>
            <a:off x="0" y="1"/>
            <a:ext cx="12192000" cy="6593682"/>
          </a:xfrm>
          <a:custGeom>
            <a:avLst/>
            <a:gdLst>
              <a:gd name="connsiteX0" fmla="*/ 780720 w 12192000"/>
              <a:gd name="connsiteY0" fmla="*/ 2857498 h 5715000"/>
              <a:gd name="connsiteX1" fmla="*/ 780720 w 12192000"/>
              <a:gd name="connsiteY1" fmla="*/ 4350694 h 5715000"/>
              <a:gd name="connsiteX2" fmla="*/ 2635322 w 12192000"/>
              <a:gd name="connsiteY2" fmla="*/ 4350694 h 5715000"/>
              <a:gd name="connsiteX3" fmla="*/ 2635322 w 12192000"/>
              <a:gd name="connsiteY3" fmla="*/ 2857498 h 5715000"/>
              <a:gd name="connsiteX4" fmla="*/ 0 w 12192000"/>
              <a:gd name="connsiteY4" fmla="*/ 0 h 5715000"/>
              <a:gd name="connsiteX5" fmla="*/ 12192000 w 12192000"/>
              <a:gd name="connsiteY5" fmla="*/ 0 h 5715000"/>
              <a:gd name="connsiteX6" fmla="*/ 12192000 w 12192000"/>
              <a:gd name="connsiteY6" fmla="*/ 5715000 h 5715000"/>
              <a:gd name="connsiteX7" fmla="*/ 0 w 12192000"/>
              <a:gd name="connsiteY7" fmla="*/ 5715000 h 571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15000">
                <a:moveTo>
                  <a:pt x="780720" y="2857498"/>
                </a:moveTo>
                <a:lnTo>
                  <a:pt x="780720" y="4350694"/>
                </a:lnTo>
                <a:lnTo>
                  <a:pt x="2635322" y="4350694"/>
                </a:lnTo>
                <a:lnTo>
                  <a:pt x="2635322" y="2857498"/>
                </a:lnTo>
                <a:close/>
                <a:moveTo>
                  <a:pt x="0" y="0"/>
                </a:moveTo>
                <a:lnTo>
                  <a:pt x="12192000" y="0"/>
                </a:lnTo>
                <a:lnTo>
                  <a:pt x="12192000" y="5715000"/>
                </a:lnTo>
                <a:lnTo>
                  <a:pt x="0" y="5715000"/>
                </a:lnTo>
                <a:close/>
              </a:path>
            </a:pathLst>
          </a:custGeom>
        </p:spPr>
      </p:pic>
      <p:sp>
        <p:nvSpPr>
          <p:cNvPr id="6" name="矩形 5"/>
          <p:cNvSpPr/>
          <p:nvPr/>
        </p:nvSpPr>
        <p:spPr>
          <a:xfrm>
            <a:off x="0" y="0"/>
            <a:ext cx="12192000" cy="68580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抗疫中的制度优势</a:t>
            </a:r>
          </a:p>
        </p:txBody>
      </p:sp>
      <p:pic>
        <p:nvPicPr>
          <p:cNvPr id="14" name="Picture 3"/>
          <p:cNvPicPr>
            <a:picLocks noChangeAspect="1" noChangeArrowheads="1"/>
          </p:cNvPicPr>
          <p:nvPr/>
        </p:nvPicPr>
        <p:blipFill>
          <a:blip r:embed="rId3"/>
          <a:stretch>
            <a:fillRect/>
          </a:stretch>
        </p:blipFill>
        <p:spPr bwMode="auto">
          <a:xfrm>
            <a:off x="0" y="6031149"/>
            <a:ext cx="12192000" cy="826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80ABA5C1-BF19-4458-B492-EF5A3A5962A2}"/>
              </a:ext>
            </a:extLst>
          </p:cNvPr>
          <p:cNvSpPr txBox="1"/>
          <p:nvPr/>
        </p:nvSpPr>
        <p:spPr>
          <a:xfrm>
            <a:off x="985421" y="2363461"/>
            <a:ext cx="4882719" cy="369332"/>
          </a:xfrm>
          <a:prstGeom prst="rect">
            <a:avLst/>
          </a:prstGeom>
          <a:noFill/>
        </p:spPr>
        <p:txBody>
          <a:bodyPr wrap="square" rtlCol="0">
            <a:spAutoFit/>
          </a:bodyPr>
          <a:lstStyle/>
          <a:p>
            <a:r>
              <a:rPr lang="zh-CN" altLang="zh-CN" sz="18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抗疫斗争充分展现我们党无比坚强的领导力</a:t>
            </a:r>
          </a:p>
        </p:txBody>
      </p:sp>
      <p:sp>
        <p:nvSpPr>
          <p:cNvPr id="11" name="燕尾形 3">
            <a:extLst>
              <a:ext uri="{FF2B5EF4-FFF2-40B4-BE49-F238E27FC236}">
                <a16:creationId xmlns:a16="http://schemas.microsoft.com/office/drawing/2014/main" id="{733DAB44-E2C9-4925-A067-A84CD085AC7B}"/>
              </a:ext>
            </a:extLst>
          </p:cNvPr>
          <p:cNvSpPr/>
          <p:nvPr/>
        </p:nvSpPr>
        <p:spPr>
          <a:xfrm>
            <a:off x="621730" y="3161334"/>
            <a:ext cx="4180113" cy="535331"/>
          </a:xfrm>
          <a:prstGeom prst="chevron">
            <a:avLst/>
          </a:prstGeom>
          <a:solidFill>
            <a:srgbClr val="C00000"/>
          </a:solidFill>
          <a:ln w="285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400" b="1" kern="100" dirty="0">
                <a:effectLst/>
                <a:latin typeface="微软雅黑" panose="020B0503020204020204" pitchFamily="34" charset="-122"/>
                <a:ea typeface="微软雅黑" panose="020B0503020204020204" pitchFamily="34" charset="-122"/>
                <a:cs typeface="Times New Roman" panose="02020603050405020304" pitchFamily="18" charset="0"/>
              </a:rPr>
              <a:t>坚持爱国主义教育与各项实际工作相结合</a:t>
            </a:r>
            <a:endParaRPr lang="zh-CN"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id="{98672573-51B6-4D29-85CF-601C07D4C228}"/>
              </a:ext>
            </a:extLst>
          </p:cNvPr>
          <p:cNvSpPr/>
          <p:nvPr/>
        </p:nvSpPr>
        <p:spPr>
          <a:xfrm>
            <a:off x="5535995" y="1426122"/>
            <a:ext cx="6000749" cy="4768678"/>
          </a:xfrm>
          <a:prstGeom prst="rect">
            <a:avLst/>
          </a:prstGeom>
        </p:spPr>
        <p:txBody>
          <a:bodyPr wrap="square">
            <a:spAutoFit/>
          </a:bodyPr>
          <a:lstStyle/>
          <a:p>
            <a:pPr indent="457200">
              <a:lnSpc>
                <a:spcPct val="150000"/>
              </a:lnSpc>
            </a:pPr>
            <a:r>
              <a:rPr lang="zh-CN" altLang="en-US"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抗美援朝时期的爱国主义教育始终坚持与各项实际工作相结合，使爱国主义精神外化为人民群众的行动力量，不仅促进了国民经济的恢复和发展，也为抗美援朝战争提供了物质保障。</a:t>
            </a:r>
          </a:p>
          <a:p>
            <a:pPr indent="457200">
              <a:lnSpc>
                <a:spcPct val="150000"/>
              </a:lnSpc>
            </a:pPr>
            <a:r>
              <a:rPr lang="zh-CN" altLang="en-US"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在工厂中，工人们喊出了“工厂就是战场，机器就是枪炮，多出一件产品就是增强一份杀敌力量”的口号，他们把生产竞赛比作战场杀敌，极大地提高了劳动生产率，涌现出像“马恒昌小组”“高炉卫士”孟泰、“汗水浇矿山”马万水等先进集体和标兵人物。</a:t>
            </a:r>
          </a:p>
          <a:p>
            <a:pPr indent="457200">
              <a:lnSpc>
                <a:spcPct val="150000"/>
              </a:lnSpc>
            </a:pPr>
            <a:r>
              <a:rPr lang="zh-CN" altLang="en-US"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在农业战线上，宣传和教育农民个人生产和抗美援朝的联系，提高了农民的政治觉悟，他们积极参加爱国丰产竞赛，“爱国丰产竞赛运动的开 展，大大激发了农民群众的生产积极性，使</a:t>
            </a:r>
            <a:r>
              <a:rPr lang="en-US" altLang="zh-CN"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1951</a:t>
            </a:r>
            <a:r>
              <a:rPr lang="zh-CN" altLang="en-US"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年 的粮食、棉花等农作物的产量都超过了</a:t>
            </a:r>
            <a:r>
              <a:rPr lang="en-US" altLang="zh-CN"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1950</a:t>
            </a:r>
            <a:r>
              <a:rPr lang="zh-CN" altLang="en-US"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年的水平。”</a:t>
            </a:r>
          </a:p>
          <a:p>
            <a:pPr indent="457200">
              <a:lnSpc>
                <a:spcPct val="150000"/>
              </a:lnSpc>
            </a:pPr>
            <a:r>
              <a:rPr lang="zh-CN" altLang="en-US"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在工商界，“着重地宣传工商界的踊跃纳税、反对偷漏税、协助政府稳定市场物价、反对投机倒把的任务”，既保证了国民经济的正常运转，又增加了国家财政收入。</a:t>
            </a:r>
          </a:p>
          <a:p>
            <a:pPr indent="457200">
              <a:lnSpc>
                <a:spcPct val="150000"/>
              </a:lnSpc>
            </a:pPr>
            <a:r>
              <a:rPr lang="zh-CN" altLang="en-US"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在学校中，除了保证正常的授课任务之外，还“把抗美援朝的爱国教育与正课的教育结合起来”，使学生们在学习中接受爱国主义的熏陶和感染。</a:t>
            </a:r>
          </a:p>
          <a:p>
            <a:pPr indent="457200">
              <a:lnSpc>
                <a:spcPct val="150000"/>
              </a:lnSpc>
            </a:pPr>
            <a:r>
              <a:rPr lang="zh-CN" altLang="en-US" sz="12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这样，爱国生产竞赛辅之以增产节约的方针，既提高了人民群众的生产积极性，也形成了全社会的节约风尚，使爱国主义教育融入到每个人的工作、学习和生活中，既保证了抗美援朝的最终胜利，也带动了国家政治、经济、文化等方面的长远发展。</a:t>
            </a:r>
          </a:p>
        </p:txBody>
      </p:sp>
      <p:sp>
        <p:nvSpPr>
          <p:cNvPr id="3" name="文本框 2">
            <a:extLst>
              <a:ext uri="{FF2B5EF4-FFF2-40B4-BE49-F238E27FC236}">
                <a16:creationId xmlns:a16="http://schemas.microsoft.com/office/drawing/2014/main" id="{47DE1E9E-17A6-4C99-B085-73A54B9C1954}"/>
              </a:ext>
            </a:extLst>
          </p:cNvPr>
          <p:cNvSpPr txBox="1"/>
          <p:nvPr/>
        </p:nvSpPr>
        <p:spPr>
          <a:xfrm>
            <a:off x="852060" y="490591"/>
            <a:ext cx="3719451"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抗疫中的制度优势</a:t>
            </a:r>
          </a:p>
        </p:txBody>
      </p:sp>
      <p:grpSp>
        <p:nvGrpSpPr>
          <p:cNvPr id="13" name="组合 12">
            <a:extLst>
              <a:ext uri="{FF2B5EF4-FFF2-40B4-BE49-F238E27FC236}">
                <a16:creationId xmlns:a16="http://schemas.microsoft.com/office/drawing/2014/main" id="{E9F96A3C-8766-42EE-93F2-E75AE349A230}"/>
              </a:ext>
            </a:extLst>
          </p:cNvPr>
          <p:cNvGrpSpPr/>
          <p:nvPr/>
        </p:nvGrpSpPr>
        <p:grpSpPr>
          <a:xfrm>
            <a:off x="73270" y="102868"/>
            <a:ext cx="8343104" cy="1323254"/>
            <a:chOff x="73270" y="102868"/>
            <a:chExt cx="8343104" cy="1323254"/>
          </a:xfrm>
        </p:grpSpPr>
        <p:sp>
          <p:nvSpPr>
            <p:cNvPr id="17" name="文本框 16">
              <a:extLst>
                <a:ext uri="{FF2B5EF4-FFF2-40B4-BE49-F238E27FC236}">
                  <a16:creationId xmlns:a16="http://schemas.microsoft.com/office/drawing/2014/main" id="{C89D5E13-2037-4E07-A17D-1651442C620E}"/>
                </a:ext>
              </a:extLst>
            </p:cNvPr>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抗疫中的制度优势</a:t>
              </a:r>
            </a:p>
          </p:txBody>
        </p:sp>
        <p:pic>
          <p:nvPicPr>
            <p:cNvPr id="18" name="图片 17" descr="电脑萤幕画面&#10;&#10;描述已自动生成">
              <a:extLst>
                <a:ext uri="{FF2B5EF4-FFF2-40B4-BE49-F238E27FC236}">
                  <a16:creationId xmlns:a16="http://schemas.microsoft.com/office/drawing/2014/main" id="{CF9FE4A3-8B55-4D2E-9E80-CF73A529FE7C}"/>
                </a:ext>
              </a:extLst>
            </p:cNvPr>
            <p:cNvPicPr>
              <a:picLocks noChangeAspect="1"/>
            </p:cNvPicPr>
            <p:nvPr/>
          </p:nvPicPr>
          <p:blipFill>
            <a:blip r:embed="rId4"/>
            <a:stretch>
              <a:fillRect/>
            </a:stretch>
          </p:blipFill>
          <p:spPr>
            <a:xfrm flipH="1">
              <a:off x="73270" y="172328"/>
              <a:ext cx="8343104" cy="1253794"/>
            </a:xfrm>
            <a:prstGeom prst="rect">
              <a:avLst/>
            </a:prstGeom>
          </p:spPr>
        </p:pic>
        <p:sp>
          <p:nvSpPr>
            <p:cNvPr id="19" name="文本框 18">
              <a:extLst>
                <a:ext uri="{FF2B5EF4-FFF2-40B4-BE49-F238E27FC236}">
                  <a16:creationId xmlns:a16="http://schemas.microsoft.com/office/drawing/2014/main" id="{C9E50BF1-1203-4257-83CF-1A37CB6FE712}"/>
                </a:ext>
              </a:extLst>
            </p:cNvPr>
            <p:cNvSpPr txBox="1"/>
            <p:nvPr/>
          </p:nvSpPr>
          <p:spPr>
            <a:xfrm>
              <a:off x="852060" y="629948"/>
              <a:ext cx="3719451" cy="338554"/>
            </a:xfrm>
            <a:prstGeom prst="rect">
              <a:avLst/>
            </a:prstGeom>
            <a:noFill/>
          </p:spPr>
          <p:txBody>
            <a:bodyPr wrap="square" rtlCol="0">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抗美援朝时期爱国主义教育的基本经验</a:t>
              </a:r>
            </a:p>
          </p:txBody>
        </p:sp>
      </p:grpSp>
    </p:spTree>
    <p:extLst>
      <p:ext uri="{BB962C8B-B14F-4D97-AF65-F5344CB8AC3E}">
        <p14:creationId xmlns:p14="http://schemas.microsoft.com/office/powerpoint/2010/main" val="10555432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地图上有字&#10;&#10;描述已自动生成"/>
          <p:cNvPicPr>
            <a:picLocks noChangeAspect="1"/>
          </p:cNvPicPr>
          <p:nvPr/>
        </p:nvPicPr>
        <p:blipFill>
          <a:blip r:embed="rId2"/>
          <a:srcRect/>
          <a:stretch>
            <a:fillRect/>
          </a:stretch>
        </p:blipFill>
        <p:spPr>
          <a:xfrm>
            <a:off x="0" y="1"/>
            <a:ext cx="12192000" cy="6593682"/>
          </a:xfrm>
          <a:custGeom>
            <a:avLst/>
            <a:gdLst>
              <a:gd name="connsiteX0" fmla="*/ 780720 w 12192000"/>
              <a:gd name="connsiteY0" fmla="*/ 2857498 h 5715000"/>
              <a:gd name="connsiteX1" fmla="*/ 780720 w 12192000"/>
              <a:gd name="connsiteY1" fmla="*/ 4350694 h 5715000"/>
              <a:gd name="connsiteX2" fmla="*/ 2635322 w 12192000"/>
              <a:gd name="connsiteY2" fmla="*/ 4350694 h 5715000"/>
              <a:gd name="connsiteX3" fmla="*/ 2635322 w 12192000"/>
              <a:gd name="connsiteY3" fmla="*/ 2857498 h 5715000"/>
              <a:gd name="connsiteX4" fmla="*/ 0 w 12192000"/>
              <a:gd name="connsiteY4" fmla="*/ 0 h 5715000"/>
              <a:gd name="connsiteX5" fmla="*/ 12192000 w 12192000"/>
              <a:gd name="connsiteY5" fmla="*/ 0 h 5715000"/>
              <a:gd name="connsiteX6" fmla="*/ 12192000 w 12192000"/>
              <a:gd name="connsiteY6" fmla="*/ 5715000 h 5715000"/>
              <a:gd name="connsiteX7" fmla="*/ 0 w 12192000"/>
              <a:gd name="connsiteY7" fmla="*/ 5715000 h 571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15000">
                <a:moveTo>
                  <a:pt x="780720" y="2857498"/>
                </a:moveTo>
                <a:lnTo>
                  <a:pt x="780720" y="4350694"/>
                </a:lnTo>
                <a:lnTo>
                  <a:pt x="2635322" y="4350694"/>
                </a:lnTo>
                <a:lnTo>
                  <a:pt x="2635322" y="2857498"/>
                </a:lnTo>
                <a:close/>
                <a:moveTo>
                  <a:pt x="0" y="0"/>
                </a:moveTo>
                <a:lnTo>
                  <a:pt x="12192000" y="0"/>
                </a:lnTo>
                <a:lnTo>
                  <a:pt x="12192000" y="5715000"/>
                </a:lnTo>
                <a:lnTo>
                  <a:pt x="0" y="5715000"/>
                </a:lnTo>
                <a:close/>
              </a:path>
            </a:pathLst>
          </a:custGeom>
        </p:spPr>
      </p:pic>
      <p:sp>
        <p:nvSpPr>
          <p:cNvPr id="6" name="矩形 5"/>
          <p:cNvSpPr/>
          <p:nvPr/>
        </p:nvSpPr>
        <p:spPr>
          <a:xfrm>
            <a:off x="0" y="0"/>
            <a:ext cx="12192000" cy="68580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抗疫中的制度优势</a:t>
            </a:r>
          </a:p>
        </p:txBody>
      </p:sp>
      <p:pic>
        <p:nvPicPr>
          <p:cNvPr id="14" name="Picture 3"/>
          <p:cNvPicPr>
            <a:picLocks noChangeAspect="1" noChangeArrowheads="1"/>
          </p:cNvPicPr>
          <p:nvPr/>
        </p:nvPicPr>
        <p:blipFill>
          <a:blip r:embed="rId3"/>
          <a:stretch>
            <a:fillRect/>
          </a:stretch>
        </p:blipFill>
        <p:spPr bwMode="auto">
          <a:xfrm>
            <a:off x="0" y="6031149"/>
            <a:ext cx="12192000" cy="826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80ABA5C1-BF19-4458-B492-EF5A3A5962A2}"/>
              </a:ext>
            </a:extLst>
          </p:cNvPr>
          <p:cNvSpPr txBox="1"/>
          <p:nvPr/>
        </p:nvSpPr>
        <p:spPr>
          <a:xfrm>
            <a:off x="985421" y="2363461"/>
            <a:ext cx="4882719" cy="369332"/>
          </a:xfrm>
          <a:prstGeom prst="rect">
            <a:avLst/>
          </a:prstGeom>
          <a:noFill/>
        </p:spPr>
        <p:txBody>
          <a:bodyPr wrap="square" rtlCol="0">
            <a:spAutoFit/>
          </a:bodyPr>
          <a:lstStyle/>
          <a:p>
            <a:r>
              <a:rPr lang="zh-CN" altLang="zh-CN" sz="18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抗疫斗争充分展现我们党无比坚强的领导力</a:t>
            </a:r>
          </a:p>
        </p:txBody>
      </p:sp>
      <p:sp>
        <p:nvSpPr>
          <p:cNvPr id="11" name="燕尾形 3">
            <a:extLst>
              <a:ext uri="{FF2B5EF4-FFF2-40B4-BE49-F238E27FC236}">
                <a16:creationId xmlns:a16="http://schemas.microsoft.com/office/drawing/2014/main" id="{733DAB44-E2C9-4925-A067-A84CD085AC7B}"/>
              </a:ext>
            </a:extLst>
          </p:cNvPr>
          <p:cNvSpPr/>
          <p:nvPr/>
        </p:nvSpPr>
        <p:spPr>
          <a:xfrm>
            <a:off x="621730" y="3161334"/>
            <a:ext cx="4180113" cy="535331"/>
          </a:xfrm>
          <a:prstGeom prst="chevron">
            <a:avLst/>
          </a:prstGeom>
          <a:solidFill>
            <a:srgbClr val="C00000"/>
          </a:solidFill>
          <a:ln w="285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400" b="1" kern="100" dirty="0">
                <a:effectLst/>
                <a:latin typeface="微软雅黑" panose="020B0503020204020204" pitchFamily="34" charset="-122"/>
                <a:ea typeface="微软雅黑" panose="020B0503020204020204" pitchFamily="34" charset="-122"/>
                <a:cs typeface="Times New Roman" panose="02020603050405020304" pitchFamily="18" charset="0"/>
              </a:rPr>
              <a:t>坚持爱国主义教育与国内其他运动相结合</a:t>
            </a:r>
            <a:endParaRPr lang="zh-CN"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id="{98672573-51B6-4D29-85CF-601C07D4C228}"/>
              </a:ext>
            </a:extLst>
          </p:cNvPr>
          <p:cNvSpPr/>
          <p:nvPr/>
        </p:nvSpPr>
        <p:spPr>
          <a:xfrm>
            <a:off x="5569521" y="1742576"/>
            <a:ext cx="6000749" cy="4111510"/>
          </a:xfrm>
          <a:prstGeom prst="rect">
            <a:avLst/>
          </a:prstGeom>
        </p:spPr>
        <p:txBody>
          <a:bodyPr wrap="square">
            <a:spAutoFit/>
          </a:bodyPr>
          <a:lstStyle/>
          <a:p>
            <a:pPr indent="457200">
              <a:lnSpc>
                <a:spcPct val="150000"/>
              </a:lnSpc>
            </a:pP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建国初期，抗美援朝、土地改革和镇压反革 命被称为党和国家的三大中心任务，这三大任务相 辅相成、相互促进，共同处理和解决了民主革命时 期的遗留问题，巩固了新生的社会主义政权，为国 民经济的恢复和发展奠定了重要基础。</a:t>
            </a:r>
          </a:p>
          <a:p>
            <a:pPr indent="457200">
              <a:lnSpc>
                <a:spcPct val="150000"/>
              </a:lnSpc>
            </a:pP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在抗美援朝的大背景下，坚持爱国主义教育与国内其他运动相结合，有助于广大农民认识到“保护土地改革的胜利果实就是抗美援朝”，也有助于全国人民领会到 “镇压反革命就是保家卫国”，从而使抗美援朝、 土地改革和镇压反革命三大任务协同推进。 人们普遍认识到美帝国主义是反革命分子的帮凶，抗美援朝和镇压反革命都是巩固社会主义政权的必然要求，不仅促进了镇压反革命运动的迅速推进，更为抗美援朝提供了政治保证。 </a:t>
            </a:r>
          </a:p>
        </p:txBody>
      </p:sp>
      <p:sp>
        <p:nvSpPr>
          <p:cNvPr id="3" name="文本框 2">
            <a:extLst>
              <a:ext uri="{FF2B5EF4-FFF2-40B4-BE49-F238E27FC236}">
                <a16:creationId xmlns:a16="http://schemas.microsoft.com/office/drawing/2014/main" id="{47DE1E9E-17A6-4C99-B085-73A54B9C1954}"/>
              </a:ext>
            </a:extLst>
          </p:cNvPr>
          <p:cNvSpPr txBox="1"/>
          <p:nvPr/>
        </p:nvSpPr>
        <p:spPr>
          <a:xfrm>
            <a:off x="852060" y="490591"/>
            <a:ext cx="3719451"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抗疫中的制度优势</a:t>
            </a:r>
          </a:p>
        </p:txBody>
      </p:sp>
      <p:grpSp>
        <p:nvGrpSpPr>
          <p:cNvPr id="13" name="组合 12">
            <a:extLst>
              <a:ext uri="{FF2B5EF4-FFF2-40B4-BE49-F238E27FC236}">
                <a16:creationId xmlns:a16="http://schemas.microsoft.com/office/drawing/2014/main" id="{E9F96A3C-8766-42EE-93F2-E75AE349A230}"/>
              </a:ext>
            </a:extLst>
          </p:cNvPr>
          <p:cNvGrpSpPr/>
          <p:nvPr/>
        </p:nvGrpSpPr>
        <p:grpSpPr>
          <a:xfrm>
            <a:off x="73270" y="102868"/>
            <a:ext cx="8343104" cy="1323254"/>
            <a:chOff x="73270" y="102868"/>
            <a:chExt cx="8343104" cy="1323254"/>
          </a:xfrm>
        </p:grpSpPr>
        <p:sp>
          <p:nvSpPr>
            <p:cNvPr id="17" name="文本框 16">
              <a:extLst>
                <a:ext uri="{FF2B5EF4-FFF2-40B4-BE49-F238E27FC236}">
                  <a16:creationId xmlns:a16="http://schemas.microsoft.com/office/drawing/2014/main" id="{C89D5E13-2037-4E07-A17D-1651442C620E}"/>
                </a:ext>
              </a:extLst>
            </p:cNvPr>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抗疫中的制度优势</a:t>
              </a:r>
            </a:p>
          </p:txBody>
        </p:sp>
        <p:pic>
          <p:nvPicPr>
            <p:cNvPr id="18" name="图片 17" descr="电脑萤幕画面&#10;&#10;描述已自动生成">
              <a:extLst>
                <a:ext uri="{FF2B5EF4-FFF2-40B4-BE49-F238E27FC236}">
                  <a16:creationId xmlns:a16="http://schemas.microsoft.com/office/drawing/2014/main" id="{CF9FE4A3-8B55-4D2E-9E80-CF73A529FE7C}"/>
                </a:ext>
              </a:extLst>
            </p:cNvPr>
            <p:cNvPicPr>
              <a:picLocks noChangeAspect="1"/>
            </p:cNvPicPr>
            <p:nvPr/>
          </p:nvPicPr>
          <p:blipFill>
            <a:blip r:embed="rId4"/>
            <a:stretch>
              <a:fillRect/>
            </a:stretch>
          </p:blipFill>
          <p:spPr>
            <a:xfrm flipH="1">
              <a:off x="73270" y="172328"/>
              <a:ext cx="8343104" cy="1253794"/>
            </a:xfrm>
            <a:prstGeom prst="rect">
              <a:avLst/>
            </a:prstGeom>
          </p:spPr>
        </p:pic>
        <p:sp>
          <p:nvSpPr>
            <p:cNvPr id="19" name="文本框 18">
              <a:extLst>
                <a:ext uri="{FF2B5EF4-FFF2-40B4-BE49-F238E27FC236}">
                  <a16:creationId xmlns:a16="http://schemas.microsoft.com/office/drawing/2014/main" id="{C9E50BF1-1203-4257-83CF-1A37CB6FE712}"/>
                </a:ext>
              </a:extLst>
            </p:cNvPr>
            <p:cNvSpPr txBox="1"/>
            <p:nvPr/>
          </p:nvSpPr>
          <p:spPr>
            <a:xfrm>
              <a:off x="852060" y="629948"/>
              <a:ext cx="3719451" cy="338554"/>
            </a:xfrm>
            <a:prstGeom prst="rect">
              <a:avLst/>
            </a:prstGeom>
            <a:noFill/>
          </p:spPr>
          <p:txBody>
            <a:bodyPr wrap="square" rtlCol="0">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抗美援朝时期爱国主义教育的基本经验</a:t>
              </a:r>
            </a:p>
          </p:txBody>
        </p:sp>
      </p:grpSp>
    </p:spTree>
    <p:extLst>
      <p:ext uri="{BB962C8B-B14F-4D97-AF65-F5344CB8AC3E}">
        <p14:creationId xmlns:p14="http://schemas.microsoft.com/office/powerpoint/2010/main" val="2186121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图片包含 游戏机, 红色, 船, 桌子&#10;&#10;描述已自动生成"/>
          <p:cNvPicPr>
            <a:picLocks noChangeAspect="1"/>
          </p:cNvPicPr>
          <p:nvPr/>
        </p:nvPicPr>
        <p:blipFill rotWithShape="1">
          <a:blip r:embed="rId2"/>
          <a:srcRect l="-32769"/>
          <a:stretch>
            <a:fillRect/>
          </a:stretch>
        </p:blipFill>
        <p:spPr>
          <a:xfrm>
            <a:off x="-4072270" y="0"/>
            <a:ext cx="16264270" cy="6971635"/>
          </a:xfrm>
          <a:prstGeom prst="rect">
            <a:avLst/>
          </a:prstGeom>
        </p:spPr>
      </p:pic>
      <p:sp>
        <p:nvSpPr>
          <p:cNvPr id="4" name="文本框 3"/>
          <p:cNvSpPr txBox="1"/>
          <p:nvPr/>
        </p:nvSpPr>
        <p:spPr>
          <a:xfrm>
            <a:off x="4059865" y="1245387"/>
            <a:ext cx="1031051" cy="1107996"/>
          </a:xfrm>
          <a:prstGeom prst="rect">
            <a:avLst/>
          </a:prstGeom>
          <a:noFill/>
        </p:spPr>
        <p:txBody>
          <a:bodyPr wrap="none" rtlCol="0">
            <a:spAutoFit/>
          </a:bodyPr>
          <a:lstStyle/>
          <a:p>
            <a:r>
              <a:rPr lang="zh-CN" altLang="en-US" sz="6600">
                <a:solidFill>
                  <a:srgbClr val="C7000B"/>
                </a:solidFill>
                <a:latin typeface="汉仪菱心体简" panose="02010609000101010101" pitchFamily="49" charset="-122"/>
                <a:ea typeface="汉仪菱心体简" panose="02010609000101010101" pitchFamily="49" charset="-122"/>
              </a:rPr>
              <a:t>第</a:t>
            </a:r>
            <a:endParaRPr lang="zh-CN" altLang="en-US" sz="6600" dirty="0">
              <a:solidFill>
                <a:srgbClr val="C7000B"/>
              </a:solidFill>
              <a:latin typeface="汉仪菱心体简" panose="02010609000101010101" pitchFamily="49" charset="-122"/>
              <a:ea typeface="汉仪菱心体简" panose="02010609000101010101" pitchFamily="49" charset="-122"/>
            </a:endParaRPr>
          </a:p>
        </p:txBody>
      </p:sp>
      <p:sp>
        <p:nvSpPr>
          <p:cNvPr id="6" name="文本框 5"/>
          <p:cNvSpPr txBox="1"/>
          <p:nvPr/>
        </p:nvSpPr>
        <p:spPr>
          <a:xfrm>
            <a:off x="4898065" y="1245387"/>
            <a:ext cx="184731" cy="1107996"/>
          </a:xfrm>
          <a:prstGeom prst="rect">
            <a:avLst/>
          </a:prstGeom>
          <a:noFill/>
        </p:spPr>
        <p:txBody>
          <a:bodyPr wrap="none" rtlCol="0">
            <a:spAutoFit/>
          </a:bodyPr>
          <a:lstStyle/>
          <a:p>
            <a:endParaRPr lang="zh-CN" altLang="en-US" sz="6600" dirty="0">
              <a:solidFill>
                <a:srgbClr val="C7000B"/>
              </a:solidFill>
              <a:latin typeface="汉仪菱心体简" panose="02010609000101010101" pitchFamily="49" charset="-122"/>
              <a:ea typeface="汉仪菱心体简" panose="02010609000101010101" pitchFamily="49" charset="-122"/>
            </a:endParaRPr>
          </a:p>
        </p:txBody>
      </p:sp>
      <p:sp>
        <p:nvSpPr>
          <p:cNvPr id="7" name="文本框 6"/>
          <p:cNvSpPr txBox="1"/>
          <p:nvPr/>
        </p:nvSpPr>
        <p:spPr>
          <a:xfrm>
            <a:off x="4939400" y="634954"/>
            <a:ext cx="1069524" cy="2215991"/>
          </a:xfrm>
          <a:prstGeom prst="rect">
            <a:avLst/>
          </a:prstGeom>
          <a:noFill/>
        </p:spPr>
        <p:txBody>
          <a:bodyPr wrap="none" rtlCol="0">
            <a:spAutoFit/>
          </a:bodyPr>
          <a:lstStyle/>
          <a:p>
            <a:r>
              <a:rPr lang="en-US" altLang="zh-CN" sz="13800" i="1" dirty="0">
                <a:solidFill>
                  <a:srgbClr val="C7000B"/>
                </a:solidFill>
                <a:effectLst>
                  <a:outerShdw blurRad="50800" dist="38100" dir="2700000" algn="tl" rotWithShape="0">
                    <a:prstClr val="black">
                      <a:alpha val="40000"/>
                    </a:prstClr>
                  </a:outerShdw>
                </a:effectLst>
                <a:latin typeface="汉仪菱心体简" panose="02010609000101010101" pitchFamily="49" charset="-122"/>
                <a:ea typeface="汉仪菱心体简" panose="02010609000101010101" pitchFamily="49" charset="-122"/>
              </a:rPr>
              <a:t>4</a:t>
            </a:r>
            <a:endParaRPr lang="zh-CN" altLang="en-US" sz="13800" dirty="0">
              <a:solidFill>
                <a:srgbClr val="C7000B"/>
              </a:solidFill>
              <a:effectLst>
                <a:outerShdw blurRad="50800" dist="38100" dir="2700000" algn="tl" rotWithShape="0">
                  <a:prstClr val="black">
                    <a:alpha val="40000"/>
                  </a:prstClr>
                </a:outerShdw>
              </a:effectLst>
              <a:latin typeface="汉仪菱心体简" panose="02010609000101010101" pitchFamily="49" charset="-122"/>
              <a:ea typeface="汉仪菱心体简" panose="02010609000101010101" pitchFamily="49" charset="-122"/>
            </a:endParaRPr>
          </a:p>
        </p:txBody>
      </p:sp>
      <p:sp>
        <p:nvSpPr>
          <p:cNvPr id="8" name="文本框 7"/>
          <p:cNvSpPr txBox="1"/>
          <p:nvPr/>
        </p:nvSpPr>
        <p:spPr>
          <a:xfrm>
            <a:off x="6356978" y="1245387"/>
            <a:ext cx="184731" cy="1107996"/>
          </a:xfrm>
          <a:prstGeom prst="rect">
            <a:avLst/>
          </a:prstGeom>
          <a:noFill/>
        </p:spPr>
        <p:txBody>
          <a:bodyPr wrap="none" rtlCol="0">
            <a:spAutoFit/>
          </a:bodyPr>
          <a:lstStyle/>
          <a:p>
            <a:endParaRPr lang="zh-CN" altLang="en-US" sz="6600" dirty="0">
              <a:solidFill>
                <a:srgbClr val="C7000B"/>
              </a:solidFill>
              <a:latin typeface="汉仪菱心体简" panose="02010609000101010101" pitchFamily="49" charset="-122"/>
              <a:ea typeface="汉仪菱心体简" panose="02010609000101010101" pitchFamily="49" charset="-122"/>
            </a:endParaRPr>
          </a:p>
        </p:txBody>
      </p:sp>
      <p:sp>
        <p:nvSpPr>
          <p:cNvPr id="9" name="文本框 8"/>
          <p:cNvSpPr txBox="1"/>
          <p:nvPr/>
        </p:nvSpPr>
        <p:spPr>
          <a:xfrm>
            <a:off x="6124942" y="1245387"/>
            <a:ext cx="1031051" cy="1107996"/>
          </a:xfrm>
          <a:prstGeom prst="rect">
            <a:avLst/>
          </a:prstGeom>
          <a:noFill/>
        </p:spPr>
        <p:txBody>
          <a:bodyPr wrap="none" rtlCol="0">
            <a:spAutoFit/>
          </a:bodyPr>
          <a:lstStyle/>
          <a:p>
            <a:r>
              <a:rPr lang="zh-CN" altLang="en-US" sz="6600" dirty="0">
                <a:solidFill>
                  <a:srgbClr val="C7000B"/>
                </a:solidFill>
                <a:latin typeface="汉仪菱心体简" panose="02010609000101010101" pitchFamily="49" charset="-122"/>
                <a:ea typeface="汉仪菱心体简" panose="02010609000101010101" pitchFamily="49" charset="-122"/>
              </a:rPr>
              <a:t>部</a:t>
            </a:r>
          </a:p>
        </p:txBody>
      </p:sp>
      <p:sp>
        <p:nvSpPr>
          <p:cNvPr id="10" name="文本框 9"/>
          <p:cNvSpPr txBox="1"/>
          <p:nvPr/>
        </p:nvSpPr>
        <p:spPr>
          <a:xfrm>
            <a:off x="7040978" y="1245387"/>
            <a:ext cx="1031051" cy="1107996"/>
          </a:xfrm>
          <a:prstGeom prst="rect">
            <a:avLst/>
          </a:prstGeom>
          <a:noFill/>
        </p:spPr>
        <p:txBody>
          <a:bodyPr wrap="none" rtlCol="0">
            <a:spAutoFit/>
          </a:bodyPr>
          <a:lstStyle/>
          <a:p>
            <a:r>
              <a:rPr lang="zh-CN" altLang="en-US" sz="6600" dirty="0">
                <a:solidFill>
                  <a:srgbClr val="C7000B"/>
                </a:solidFill>
                <a:latin typeface="汉仪菱心体简" panose="02010609000101010101" pitchFamily="49" charset="-122"/>
                <a:ea typeface="汉仪菱心体简" panose="02010609000101010101" pitchFamily="49" charset="-122"/>
              </a:rPr>
              <a:t>分</a:t>
            </a:r>
          </a:p>
        </p:txBody>
      </p:sp>
      <p:sp>
        <p:nvSpPr>
          <p:cNvPr id="11" name="文本框 10"/>
          <p:cNvSpPr txBox="1"/>
          <p:nvPr/>
        </p:nvSpPr>
        <p:spPr>
          <a:xfrm>
            <a:off x="4059865" y="2545728"/>
            <a:ext cx="6830302" cy="1107996"/>
          </a:xfrm>
          <a:prstGeom prst="rect">
            <a:avLst/>
          </a:prstGeom>
          <a:noFill/>
        </p:spPr>
        <p:txBody>
          <a:bodyPr wrap="square" rtlCol="0">
            <a:spAutoFit/>
          </a:bodyPr>
          <a:lstStyle/>
          <a:p>
            <a:r>
              <a:rPr lang="zh-CN" altLang="en-US" sz="6600" b="1" dirty="0">
                <a:solidFill>
                  <a:srgbClr val="C00000"/>
                </a:solidFill>
                <a:effectLst>
                  <a:outerShdw blurRad="38100" dist="38100" dir="2700000" algn="tl">
                    <a:srgbClr val="000000">
                      <a:alpha val="43137"/>
                    </a:srgbClr>
                  </a:outerShdw>
                </a:effectLst>
                <a:latin typeface="阿里巴巴普惠体 M" panose="00020600040101010101" pitchFamily="18" charset="-122"/>
                <a:ea typeface="阿里巴巴普惠体 M" panose="00020600040101010101" pitchFamily="18" charset="-122"/>
                <a:cs typeface="阿里巴巴普惠体 M" panose="00020600040101010101" pitchFamily="18" charset="-122"/>
              </a:rPr>
              <a:t>今天如何爱国</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地图上有字&#10;&#10;描述已自动生成"/>
          <p:cNvPicPr>
            <a:picLocks noChangeAspect="1"/>
          </p:cNvPicPr>
          <p:nvPr/>
        </p:nvPicPr>
        <p:blipFill>
          <a:blip r:embed="rId2"/>
          <a:srcRect/>
          <a:stretch>
            <a:fillRect/>
          </a:stretch>
        </p:blipFill>
        <p:spPr>
          <a:xfrm>
            <a:off x="0" y="1"/>
            <a:ext cx="12192000" cy="6593682"/>
          </a:xfrm>
          <a:custGeom>
            <a:avLst/>
            <a:gdLst>
              <a:gd name="connsiteX0" fmla="*/ 780720 w 12192000"/>
              <a:gd name="connsiteY0" fmla="*/ 2857498 h 5715000"/>
              <a:gd name="connsiteX1" fmla="*/ 780720 w 12192000"/>
              <a:gd name="connsiteY1" fmla="*/ 4350694 h 5715000"/>
              <a:gd name="connsiteX2" fmla="*/ 2635322 w 12192000"/>
              <a:gd name="connsiteY2" fmla="*/ 4350694 h 5715000"/>
              <a:gd name="connsiteX3" fmla="*/ 2635322 w 12192000"/>
              <a:gd name="connsiteY3" fmla="*/ 2857498 h 5715000"/>
              <a:gd name="connsiteX4" fmla="*/ 0 w 12192000"/>
              <a:gd name="connsiteY4" fmla="*/ 0 h 5715000"/>
              <a:gd name="connsiteX5" fmla="*/ 12192000 w 12192000"/>
              <a:gd name="connsiteY5" fmla="*/ 0 h 5715000"/>
              <a:gd name="connsiteX6" fmla="*/ 12192000 w 12192000"/>
              <a:gd name="connsiteY6" fmla="*/ 5715000 h 5715000"/>
              <a:gd name="connsiteX7" fmla="*/ 0 w 12192000"/>
              <a:gd name="connsiteY7" fmla="*/ 5715000 h 571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15000">
                <a:moveTo>
                  <a:pt x="780720" y="2857498"/>
                </a:moveTo>
                <a:lnTo>
                  <a:pt x="780720" y="4350694"/>
                </a:lnTo>
                <a:lnTo>
                  <a:pt x="2635322" y="4350694"/>
                </a:lnTo>
                <a:lnTo>
                  <a:pt x="2635322" y="2857498"/>
                </a:lnTo>
                <a:close/>
                <a:moveTo>
                  <a:pt x="0" y="0"/>
                </a:moveTo>
                <a:lnTo>
                  <a:pt x="12192000" y="0"/>
                </a:lnTo>
                <a:lnTo>
                  <a:pt x="12192000" y="5715000"/>
                </a:lnTo>
                <a:lnTo>
                  <a:pt x="0" y="5715000"/>
                </a:lnTo>
                <a:close/>
              </a:path>
            </a:pathLst>
          </a:custGeom>
        </p:spPr>
      </p:pic>
      <p:sp>
        <p:nvSpPr>
          <p:cNvPr id="6" name="矩形 5"/>
          <p:cNvSpPr/>
          <p:nvPr/>
        </p:nvSpPr>
        <p:spPr>
          <a:xfrm>
            <a:off x="0" y="0"/>
            <a:ext cx="12192000" cy="68580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Picture 3"/>
          <p:cNvPicPr>
            <a:picLocks noChangeAspect="1" noChangeArrowheads="1"/>
          </p:cNvPicPr>
          <p:nvPr/>
        </p:nvPicPr>
        <p:blipFill>
          <a:blip r:embed="rId3"/>
          <a:stretch>
            <a:fillRect/>
          </a:stretch>
        </p:blipFill>
        <p:spPr bwMode="auto">
          <a:xfrm>
            <a:off x="0" y="6031149"/>
            <a:ext cx="12192000" cy="826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80ABA5C1-BF19-4458-B492-EF5A3A5962A2}"/>
              </a:ext>
            </a:extLst>
          </p:cNvPr>
          <p:cNvSpPr txBox="1"/>
          <p:nvPr/>
        </p:nvSpPr>
        <p:spPr>
          <a:xfrm>
            <a:off x="985421" y="2363461"/>
            <a:ext cx="4882719" cy="369332"/>
          </a:xfrm>
          <a:prstGeom prst="rect">
            <a:avLst/>
          </a:prstGeom>
          <a:noFill/>
        </p:spPr>
        <p:txBody>
          <a:bodyPr wrap="square" rtlCol="0">
            <a:spAutoFit/>
          </a:bodyPr>
          <a:lstStyle/>
          <a:p>
            <a:r>
              <a:rPr lang="zh-CN" altLang="zh-CN" sz="18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抗疫斗争充分展现我们党无比坚强的领导力</a:t>
            </a:r>
          </a:p>
        </p:txBody>
      </p:sp>
      <p:sp>
        <p:nvSpPr>
          <p:cNvPr id="15" name="矩形 14">
            <a:extLst>
              <a:ext uri="{FF2B5EF4-FFF2-40B4-BE49-F238E27FC236}">
                <a16:creationId xmlns:a16="http://schemas.microsoft.com/office/drawing/2014/main" id="{98672573-51B6-4D29-85CF-601C07D4C228}"/>
              </a:ext>
            </a:extLst>
          </p:cNvPr>
          <p:cNvSpPr/>
          <p:nvPr/>
        </p:nvSpPr>
        <p:spPr>
          <a:xfrm>
            <a:off x="2867765" y="2363461"/>
            <a:ext cx="6000749" cy="1526187"/>
          </a:xfrm>
          <a:prstGeom prst="rect">
            <a:avLst/>
          </a:prstGeom>
        </p:spPr>
        <p:txBody>
          <a:bodyPr wrap="square">
            <a:spAutoFit/>
          </a:bodyPr>
          <a:lstStyle/>
          <a:p>
            <a:pPr indent="457200">
              <a:lnSpc>
                <a:spcPct val="150000"/>
              </a:lnSpc>
            </a:pP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爱国，是人世间最深层、最持久的情感。</a:t>
            </a:r>
          </a:p>
          <a:p>
            <a:pPr indent="457200">
              <a:lnSpc>
                <a:spcPct val="150000"/>
              </a:lnSpc>
            </a:pP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爱国从来不是抽象的，它包含着丰富的内容，而且在每个时代都有不同的要求。今天，身处中华民族伟大复兴的关键时期，面对世界百年未有之大变局，我们该如何爱国？</a:t>
            </a:r>
          </a:p>
        </p:txBody>
      </p:sp>
      <p:grpSp>
        <p:nvGrpSpPr>
          <p:cNvPr id="4" name="组合 3">
            <a:extLst>
              <a:ext uri="{FF2B5EF4-FFF2-40B4-BE49-F238E27FC236}">
                <a16:creationId xmlns:a16="http://schemas.microsoft.com/office/drawing/2014/main" id="{A2C548E8-44E2-4808-9C31-9EFDFD803117}"/>
              </a:ext>
            </a:extLst>
          </p:cNvPr>
          <p:cNvGrpSpPr/>
          <p:nvPr/>
        </p:nvGrpSpPr>
        <p:grpSpPr>
          <a:xfrm>
            <a:off x="73270" y="102868"/>
            <a:ext cx="8343104" cy="1323254"/>
            <a:chOff x="73270" y="102868"/>
            <a:chExt cx="8343104" cy="1323254"/>
          </a:xfrm>
        </p:grpSpPr>
        <p:sp>
          <p:nvSpPr>
            <p:cNvPr id="10" name="文本框 9"/>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抗疫中的制度优势</a:t>
              </a:r>
            </a:p>
          </p:txBody>
        </p:sp>
        <p:pic>
          <p:nvPicPr>
            <p:cNvPr id="16" name="图片 15" descr="电脑萤幕画面&#10;&#10;描述已自动生成">
              <a:extLst>
                <a:ext uri="{FF2B5EF4-FFF2-40B4-BE49-F238E27FC236}">
                  <a16:creationId xmlns:a16="http://schemas.microsoft.com/office/drawing/2014/main" id="{58DF1C9A-628E-4505-AC6D-EE0657D3C988}"/>
                </a:ext>
              </a:extLst>
            </p:cNvPr>
            <p:cNvPicPr>
              <a:picLocks noChangeAspect="1"/>
            </p:cNvPicPr>
            <p:nvPr/>
          </p:nvPicPr>
          <p:blipFill>
            <a:blip r:embed="rId4"/>
            <a:stretch>
              <a:fillRect/>
            </a:stretch>
          </p:blipFill>
          <p:spPr>
            <a:xfrm flipH="1">
              <a:off x="73270" y="172328"/>
              <a:ext cx="8343104" cy="1253794"/>
            </a:xfrm>
            <a:prstGeom prst="rect">
              <a:avLst/>
            </a:prstGeom>
          </p:spPr>
        </p:pic>
        <p:sp>
          <p:nvSpPr>
            <p:cNvPr id="3" name="文本框 2">
              <a:extLst>
                <a:ext uri="{FF2B5EF4-FFF2-40B4-BE49-F238E27FC236}">
                  <a16:creationId xmlns:a16="http://schemas.microsoft.com/office/drawing/2014/main" id="{47DE1E9E-17A6-4C99-B085-73A54B9C1954}"/>
                </a:ext>
              </a:extLst>
            </p:cNvPr>
            <p:cNvSpPr txBox="1"/>
            <p:nvPr/>
          </p:nvSpPr>
          <p:spPr>
            <a:xfrm>
              <a:off x="852060" y="490591"/>
              <a:ext cx="3719451"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今天如何爱国</a:t>
              </a:r>
            </a:p>
          </p:txBody>
        </p:sp>
      </p:grpSp>
    </p:spTree>
    <p:extLst>
      <p:ext uri="{BB962C8B-B14F-4D97-AF65-F5344CB8AC3E}">
        <p14:creationId xmlns:p14="http://schemas.microsoft.com/office/powerpoint/2010/main" val="31291062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地图上有字&#10;&#10;描述已自动生成"/>
          <p:cNvPicPr>
            <a:picLocks noChangeAspect="1"/>
          </p:cNvPicPr>
          <p:nvPr/>
        </p:nvPicPr>
        <p:blipFill>
          <a:blip r:embed="rId2"/>
          <a:srcRect/>
          <a:stretch>
            <a:fillRect/>
          </a:stretch>
        </p:blipFill>
        <p:spPr>
          <a:xfrm>
            <a:off x="0" y="1"/>
            <a:ext cx="12192000" cy="6593682"/>
          </a:xfrm>
          <a:custGeom>
            <a:avLst/>
            <a:gdLst>
              <a:gd name="connsiteX0" fmla="*/ 780720 w 12192000"/>
              <a:gd name="connsiteY0" fmla="*/ 2857498 h 5715000"/>
              <a:gd name="connsiteX1" fmla="*/ 780720 w 12192000"/>
              <a:gd name="connsiteY1" fmla="*/ 4350694 h 5715000"/>
              <a:gd name="connsiteX2" fmla="*/ 2635322 w 12192000"/>
              <a:gd name="connsiteY2" fmla="*/ 4350694 h 5715000"/>
              <a:gd name="connsiteX3" fmla="*/ 2635322 w 12192000"/>
              <a:gd name="connsiteY3" fmla="*/ 2857498 h 5715000"/>
              <a:gd name="connsiteX4" fmla="*/ 0 w 12192000"/>
              <a:gd name="connsiteY4" fmla="*/ 0 h 5715000"/>
              <a:gd name="connsiteX5" fmla="*/ 12192000 w 12192000"/>
              <a:gd name="connsiteY5" fmla="*/ 0 h 5715000"/>
              <a:gd name="connsiteX6" fmla="*/ 12192000 w 12192000"/>
              <a:gd name="connsiteY6" fmla="*/ 5715000 h 5715000"/>
              <a:gd name="connsiteX7" fmla="*/ 0 w 12192000"/>
              <a:gd name="connsiteY7" fmla="*/ 5715000 h 571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15000">
                <a:moveTo>
                  <a:pt x="780720" y="2857498"/>
                </a:moveTo>
                <a:lnTo>
                  <a:pt x="780720" y="4350694"/>
                </a:lnTo>
                <a:lnTo>
                  <a:pt x="2635322" y="4350694"/>
                </a:lnTo>
                <a:lnTo>
                  <a:pt x="2635322" y="2857498"/>
                </a:lnTo>
                <a:close/>
                <a:moveTo>
                  <a:pt x="0" y="0"/>
                </a:moveTo>
                <a:lnTo>
                  <a:pt x="12192000" y="0"/>
                </a:lnTo>
                <a:lnTo>
                  <a:pt x="12192000" y="5715000"/>
                </a:lnTo>
                <a:lnTo>
                  <a:pt x="0" y="5715000"/>
                </a:lnTo>
                <a:close/>
              </a:path>
            </a:pathLst>
          </a:custGeom>
        </p:spPr>
      </p:pic>
      <p:sp>
        <p:nvSpPr>
          <p:cNvPr id="6" name="矩形 5"/>
          <p:cNvSpPr/>
          <p:nvPr/>
        </p:nvSpPr>
        <p:spPr>
          <a:xfrm>
            <a:off x="0" y="0"/>
            <a:ext cx="12192000" cy="68580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Picture 3"/>
          <p:cNvPicPr>
            <a:picLocks noChangeAspect="1" noChangeArrowheads="1"/>
          </p:cNvPicPr>
          <p:nvPr/>
        </p:nvPicPr>
        <p:blipFill>
          <a:blip r:embed="rId3"/>
          <a:stretch>
            <a:fillRect/>
          </a:stretch>
        </p:blipFill>
        <p:spPr bwMode="auto">
          <a:xfrm>
            <a:off x="0" y="6031149"/>
            <a:ext cx="12192000" cy="826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80ABA5C1-BF19-4458-B492-EF5A3A5962A2}"/>
              </a:ext>
            </a:extLst>
          </p:cNvPr>
          <p:cNvSpPr txBox="1"/>
          <p:nvPr/>
        </p:nvSpPr>
        <p:spPr>
          <a:xfrm>
            <a:off x="985421" y="2363461"/>
            <a:ext cx="4882719" cy="369332"/>
          </a:xfrm>
          <a:prstGeom prst="rect">
            <a:avLst/>
          </a:prstGeom>
          <a:noFill/>
        </p:spPr>
        <p:txBody>
          <a:bodyPr wrap="square" rtlCol="0">
            <a:spAutoFit/>
          </a:bodyPr>
          <a:lstStyle/>
          <a:p>
            <a:r>
              <a:rPr lang="zh-CN" altLang="zh-CN" sz="18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抗疫斗争充分展现我们党无比坚强的领导力</a:t>
            </a:r>
          </a:p>
        </p:txBody>
      </p:sp>
      <p:sp>
        <p:nvSpPr>
          <p:cNvPr id="15" name="矩形 14">
            <a:extLst>
              <a:ext uri="{FF2B5EF4-FFF2-40B4-BE49-F238E27FC236}">
                <a16:creationId xmlns:a16="http://schemas.microsoft.com/office/drawing/2014/main" id="{98672573-51B6-4D29-85CF-601C07D4C228}"/>
              </a:ext>
            </a:extLst>
          </p:cNvPr>
          <p:cNvSpPr/>
          <p:nvPr/>
        </p:nvSpPr>
        <p:spPr>
          <a:xfrm>
            <a:off x="3095625" y="2111908"/>
            <a:ext cx="6000749" cy="2634183"/>
          </a:xfrm>
          <a:prstGeom prst="rect">
            <a:avLst/>
          </a:prstGeom>
        </p:spPr>
        <p:txBody>
          <a:bodyPr wrap="square">
            <a:spAutoFit/>
          </a:bodyPr>
          <a:lstStyle/>
          <a:p>
            <a:pPr indent="457200">
              <a:lnSpc>
                <a:spcPct val="150000"/>
              </a:lnSpc>
            </a:pP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具有强烈的爱国情怀，是对我国科技人员第一位的要求。科学没有国界，科学家有祖国。广大科技人员要牢固树立创新科技、服务国家、造福人民的思想，把科技成果应用在实现国家现代化的伟大事业中，把人生理想融入为实现中华民族伟大复兴的中国梦的奋斗中。</a:t>
            </a:r>
          </a:p>
          <a:p>
            <a:pPr indent="457200">
              <a:lnSpc>
                <a:spcPct val="150000"/>
              </a:lnSpc>
            </a:pP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　　</a:t>
            </a:r>
            <a:r>
              <a:rPr lang="en-US" altLang="zh-CN"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——2013</a:t>
            </a: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年</a:t>
            </a:r>
            <a:r>
              <a:rPr lang="en-US" altLang="zh-CN"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7</a:t>
            </a: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月</a:t>
            </a:r>
            <a:r>
              <a:rPr lang="en-US" altLang="zh-CN"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17</a:t>
            </a: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日，习近平在中国科学院考察工作时的讲话</a:t>
            </a:r>
          </a:p>
        </p:txBody>
      </p:sp>
      <p:grpSp>
        <p:nvGrpSpPr>
          <p:cNvPr id="4" name="组合 3">
            <a:extLst>
              <a:ext uri="{FF2B5EF4-FFF2-40B4-BE49-F238E27FC236}">
                <a16:creationId xmlns:a16="http://schemas.microsoft.com/office/drawing/2014/main" id="{A2C548E8-44E2-4808-9C31-9EFDFD803117}"/>
              </a:ext>
            </a:extLst>
          </p:cNvPr>
          <p:cNvGrpSpPr/>
          <p:nvPr/>
        </p:nvGrpSpPr>
        <p:grpSpPr>
          <a:xfrm>
            <a:off x="73270" y="102868"/>
            <a:ext cx="8343104" cy="1323254"/>
            <a:chOff x="73270" y="102868"/>
            <a:chExt cx="8343104" cy="1323254"/>
          </a:xfrm>
        </p:grpSpPr>
        <p:sp>
          <p:nvSpPr>
            <p:cNvPr id="10" name="文本框 9"/>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抗疫中的制度优势</a:t>
              </a:r>
            </a:p>
          </p:txBody>
        </p:sp>
        <p:pic>
          <p:nvPicPr>
            <p:cNvPr id="16" name="图片 15" descr="电脑萤幕画面&#10;&#10;描述已自动生成">
              <a:extLst>
                <a:ext uri="{FF2B5EF4-FFF2-40B4-BE49-F238E27FC236}">
                  <a16:creationId xmlns:a16="http://schemas.microsoft.com/office/drawing/2014/main" id="{58DF1C9A-628E-4505-AC6D-EE0657D3C988}"/>
                </a:ext>
              </a:extLst>
            </p:cNvPr>
            <p:cNvPicPr>
              <a:picLocks noChangeAspect="1"/>
            </p:cNvPicPr>
            <p:nvPr/>
          </p:nvPicPr>
          <p:blipFill>
            <a:blip r:embed="rId4"/>
            <a:stretch>
              <a:fillRect/>
            </a:stretch>
          </p:blipFill>
          <p:spPr>
            <a:xfrm flipH="1">
              <a:off x="73270" y="172328"/>
              <a:ext cx="8343104" cy="1253794"/>
            </a:xfrm>
            <a:prstGeom prst="rect">
              <a:avLst/>
            </a:prstGeom>
          </p:spPr>
        </p:pic>
        <p:sp>
          <p:nvSpPr>
            <p:cNvPr id="3" name="文本框 2">
              <a:extLst>
                <a:ext uri="{FF2B5EF4-FFF2-40B4-BE49-F238E27FC236}">
                  <a16:creationId xmlns:a16="http://schemas.microsoft.com/office/drawing/2014/main" id="{47DE1E9E-17A6-4C99-B085-73A54B9C1954}"/>
                </a:ext>
              </a:extLst>
            </p:cNvPr>
            <p:cNvSpPr txBox="1"/>
            <p:nvPr/>
          </p:nvSpPr>
          <p:spPr>
            <a:xfrm>
              <a:off x="852060" y="490591"/>
              <a:ext cx="3719451" cy="707886"/>
            </a:xfrm>
            <a:prstGeom prst="rect">
              <a:avLst/>
            </a:prstGeom>
            <a:noFill/>
          </p:spPr>
          <p:txBody>
            <a:bodyPr wrap="square"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牢固树立创新科技、服务国家、造福人民的思想</a:t>
              </a:r>
            </a:p>
          </p:txBody>
        </p:sp>
      </p:grpSp>
    </p:spTree>
    <p:extLst>
      <p:ext uri="{BB962C8B-B14F-4D97-AF65-F5344CB8AC3E}">
        <p14:creationId xmlns:p14="http://schemas.microsoft.com/office/powerpoint/2010/main" val="15148077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地图上有字&#10;&#10;描述已自动生成"/>
          <p:cNvPicPr>
            <a:picLocks noChangeAspect="1"/>
          </p:cNvPicPr>
          <p:nvPr/>
        </p:nvPicPr>
        <p:blipFill>
          <a:blip r:embed="rId2"/>
          <a:srcRect/>
          <a:stretch>
            <a:fillRect/>
          </a:stretch>
        </p:blipFill>
        <p:spPr>
          <a:xfrm>
            <a:off x="0" y="1"/>
            <a:ext cx="12192000" cy="6593682"/>
          </a:xfrm>
          <a:custGeom>
            <a:avLst/>
            <a:gdLst>
              <a:gd name="connsiteX0" fmla="*/ 780720 w 12192000"/>
              <a:gd name="connsiteY0" fmla="*/ 2857498 h 5715000"/>
              <a:gd name="connsiteX1" fmla="*/ 780720 w 12192000"/>
              <a:gd name="connsiteY1" fmla="*/ 4350694 h 5715000"/>
              <a:gd name="connsiteX2" fmla="*/ 2635322 w 12192000"/>
              <a:gd name="connsiteY2" fmla="*/ 4350694 h 5715000"/>
              <a:gd name="connsiteX3" fmla="*/ 2635322 w 12192000"/>
              <a:gd name="connsiteY3" fmla="*/ 2857498 h 5715000"/>
              <a:gd name="connsiteX4" fmla="*/ 0 w 12192000"/>
              <a:gd name="connsiteY4" fmla="*/ 0 h 5715000"/>
              <a:gd name="connsiteX5" fmla="*/ 12192000 w 12192000"/>
              <a:gd name="connsiteY5" fmla="*/ 0 h 5715000"/>
              <a:gd name="connsiteX6" fmla="*/ 12192000 w 12192000"/>
              <a:gd name="connsiteY6" fmla="*/ 5715000 h 5715000"/>
              <a:gd name="connsiteX7" fmla="*/ 0 w 12192000"/>
              <a:gd name="connsiteY7" fmla="*/ 5715000 h 571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15000">
                <a:moveTo>
                  <a:pt x="780720" y="2857498"/>
                </a:moveTo>
                <a:lnTo>
                  <a:pt x="780720" y="4350694"/>
                </a:lnTo>
                <a:lnTo>
                  <a:pt x="2635322" y="4350694"/>
                </a:lnTo>
                <a:lnTo>
                  <a:pt x="2635322" y="2857498"/>
                </a:lnTo>
                <a:close/>
                <a:moveTo>
                  <a:pt x="0" y="0"/>
                </a:moveTo>
                <a:lnTo>
                  <a:pt x="12192000" y="0"/>
                </a:lnTo>
                <a:lnTo>
                  <a:pt x="12192000" y="5715000"/>
                </a:lnTo>
                <a:lnTo>
                  <a:pt x="0" y="5715000"/>
                </a:lnTo>
                <a:close/>
              </a:path>
            </a:pathLst>
          </a:custGeom>
        </p:spPr>
      </p:pic>
      <p:sp>
        <p:nvSpPr>
          <p:cNvPr id="6" name="矩形 5"/>
          <p:cNvSpPr/>
          <p:nvPr/>
        </p:nvSpPr>
        <p:spPr>
          <a:xfrm>
            <a:off x="0" y="0"/>
            <a:ext cx="12192000" cy="68580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Picture 3"/>
          <p:cNvPicPr>
            <a:picLocks noChangeAspect="1" noChangeArrowheads="1"/>
          </p:cNvPicPr>
          <p:nvPr/>
        </p:nvPicPr>
        <p:blipFill>
          <a:blip r:embed="rId3"/>
          <a:stretch>
            <a:fillRect/>
          </a:stretch>
        </p:blipFill>
        <p:spPr bwMode="auto">
          <a:xfrm>
            <a:off x="0" y="6031149"/>
            <a:ext cx="12192000" cy="826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80ABA5C1-BF19-4458-B492-EF5A3A5962A2}"/>
              </a:ext>
            </a:extLst>
          </p:cNvPr>
          <p:cNvSpPr txBox="1"/>
          <p:nvPr/>
        </p:nvSpPr>
        <p:spPr>
          <a:xfrm>
            <a:off x="985421" y="2363461"/>
            <a:ext cx="4882719" cy="369332"/>
          </a:xfrm>
          <a:prstGeom prst="rect">
            <a:avLst/>
          </a:prstGeom>
          <a:noFill/>
        </p:spPr>
        <p:txBody>
          <a:bodyPr wrap="square" rtlCol="0">
            <a:spAutoFit/>
          </a:bodyPr>
          <a:lstStyle/>
          <a:p>
            <a:r>
              <a:rPr lang="zh-CN" altLang="zh-CN" sz="18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抗疫斗争充分展现我们党无比坚强的领导力</a:t>
            </a:r>
          </a:p>
        </p:txBody>
      </p:sp>
      <p:sp>
        <p:nvSpPr>
          <p:cNvPr id="15" name="矩形 14">
            <a:extLst>
              <a:ext uri="{FF2B5EF4-FFF2-40B4-BE49-F238E27FC236}">
                <a16:creationId xmlns:a16="http://schemas.microsoft.com/office/drawing/2014/main" id="{98672573-51B6-4D29-85CF-601C07D4C228}"/>
              </a:ext>
            </a:extLst>
          </p:cNvPr>
          <p:cNvSpPr/>
          <p:nvPr/>
        </p:nvSpPr>
        <p:spPr>
          <a:xfrm>
            <a:off x="2867765" y="2363461"/>
            <a:ext cx="6000749" cy="2264851"/>
          </a:xfrm>
          <a:prstGeom prst="rect">
            <a:avLst/>
          </a:prstGeom>
        </p:spPr>
        <p:txBody>
          <a:bodyPr wrap="square">
            <a:spAutoFit/>
          </a:bodyPr>
          <a:lstStyle/>
          <a:p>
            <a:pPr indent="457200">
              <a:lnSpc>
                <a:spcPct val="150000"/>
              </a:lnSpc>
            </a:pP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希望广大留学人员继承和发扬留学报国的光荣传统，做爱国主义的坚守者和传播者，秉持“先天下之忧而忧，后天下之乐而乐”的人生理想，始终把国家富强、民族振兴、人民幸福作为努力志向，自觉使个人成功的果实结在爱国主义这棵常青树上。</a:t>
            </a:r>
          </a:p>
          <a:p>
            <a:pPr indent="457200">
              <a:lnSpc>
                <a:spcPct val="150000"/>
              </a:lnSpc>
            </a:pP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　　</a:t>
            </a:r>
            <a:r>
              <a:rPr lang="en-US" altLang="zh-CN"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——2013</a:t>
            </a: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年</a:t>
            </a:r>
            <a:r>
              <a:rPr lang="en-US" altLang="zh-CN"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10</a:t>
            </a: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月</a:t>
            </a:r>
            <a:r>
              <a:rPr lang="en-US" altLang="zh-CN"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21</a:t>
            </a: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日，习近平在欧美同学会成立</a:t>
            </a:r>
            <a:r>
              <a:rPr lang="en-US" altLang="zh-CN"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100</a:t>
            </a: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周年庆祝大会上的讲话</a:t>
            </a:r>
          </a:p>
        </p:txBody>
      </p:sp>
      <p:grpSp>
        <p:nvGrpSpPr>
          <p:cNvPr id="4" name="组合 3">
            <a:extLst>
              <a:ext uri="{FF2B5EF4-FFF2-40B4-BE49-F238E27FC236}">
                <a16:creationId xmlns:a16="http://schemas.microsoft.com/office/drawing/2014/main" id="{A2C548E8-44E2-4808-9C31-9EFDFD803117}"/>
              </a:ext>
            </a:extLst>
          </p:cNvPr>
          <p:cNvGrpSpPr/>
          <p:nvPr/>
        </p:nvGrpSpPr>
        <p:grpSpPr>
          <a:xfrm>
            <a:off x="73270" y="102868"/>
            <a:ext cx="8343104" cy="1323254"/>
            <a:chOff x="73270" y="102868"/>
            <a:chExt cx="8343104" cy="1323254"/>
          </a:xfrm>
        </p:grpSpPr>
        <p:sp>
          <p:nvSpPr>
            <p:cNvPr id="10" name="文本框 9"/>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抗疫中的制度优势</a:t>
              </a:r>
            </a:p>
          </p:txBody>
        </p:sp>
        <p:pic>
          <p:nvPicPr>
            <p:cNvPr id="16" name="图片 15" descr="电脑萤幕画面&#10;&#10;描述已自动生成">
              <a:extLst>
                <a:ext uri="{FF2B5EF4-FFF2-40B4-BE49-F238E27FC236}">
                  <a16:creationId xmlns:a16="http://schemas.microsoft.com/office/drawing/2014/main" id="{58DF1C9A-628E-4505-AC6D-EE0657D3C988}"/>
                </a:ext>
              </a:extLst>
            </p:cNvPr>
            <p:cNvPicPr>
              <a:picLocks noChangeAspect="1"/>
            </p:cNvPicPr>
            <p:nvPr/>
          </p:nvPicPr>
          <p:blipFill>
            <a:blip r:embed="rId4"/>
            <a:stretch>
              <a:fillRect/>
            </a:stretch>
          </p:blipFill>
          <p:spPr>
            <a:xfrm flipH="1">
              <a:off x="73270" y="172328"/>
              <a:ext cx="8343104" cy="1253794"/>
            </a:xfrm>
            <a:prstGeom prst="rect">
              <a:avLst/>
            </a:prstGeom>
          </p:spPr>
        </p:pic>
        <p:sp>
          <p:nvSpPr>
            <p:cNvPr id="3" name="文本框 2">
              <a:extLst>
                <a:ext uri="{FF2B5EF4-FFF2-40B4-BE49-F238E27FC236}">
                  <a16:creationId xmlns:a16="http://schemas.microsoft.com/office/drawing/2014/main" id="{47DE1E9E-17A6-4C99-B085-73A54B9C1954}"/>
                </a:ext>
              </a:extLst>
            </p:cNvPr>
            <p:cNvSpPr txBox="1"/>
            <p:nvPr/>
          </p:nvSpPr>
          <p:spPr>
            <a:xfrm>
              <a:off x="852060" y="599170"/>
              <a:ext cx="3595653" cy="400110"/>
            </a:xfrm>
            <a:prstGeom prst="rect">
              <a:avLst/>
            </a:prstGeom>
            <a:noFill/>
          </p:spPr>
          <p:txBody>
            <a:bodyPr wrap="square"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做爱国主义的坚守者和传播者</a:t>
              </a:r>
            </a:p>
          </p:txBody>
        </p:sp>
      </p:grpSp>
    </p:spTree>
    <p:extLst>
      <p:ext uri="{BB962C8B-B14F-4D97-AF65-F5344CB8AC3E}">
        <p14:creationId xmlns:p14="http://schemas.microsoft.com/office/powerpoint/2010/main" val="16288702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地图上有字&#10;&#10;描述已自动生成"/>
          <p:cNvPicPr>
            <a:picLocks noChangeAspect="1"/>
          </p:cNvPicPr>
          <p:nvPr/>
        </p:nvPicPr>
        <p:blipFill>
          <a:blip r:embed="rId2"/>
          <a:srcRect/>
          <a:stretch>
            <a:fillRect/>
          </a:stretch>
        </p:blipFill>
        <p:spPr>
          <a:xfrm>
            <a:off x="0" y="1"/>
            <a:ext cx="12192000" cy="6593682"/>
          </a:xfrm>
          <a:custGeom>
            <a:avLst/>
            <a:gdLst>
              <a:gd name="connsiteX0" fmla="*/ 780720 w 12192000"/>
              <a:gd name="connsiteY0" fmla="*/ 2857498 h 5715000"/>
              <a:gd name="connsiteX1" fmla="*/ 780720 w 12192000"/>
              <a:gd name="connsiteY1" fmla="*/ 4350694 h 5715000"/>
              <a:gd name="connsiteX2" fmla="*/ 2635322 w 12192000"/>
              <a:gd name="connsiteY2" fmla="*/ 4350694 h 5715000"/>
              <a:gd name="connsiteX3" fmla="*/ 2635322 w 12192000"/>
              <a:gd name="connsiteY3" fmla="*/ 2857498 h 5715000"/>
              <a:gd name="connsiteX4" fmla="*/ 0 w 12192000"/>
              <a:gd name="connsiteY4" fmla="*/ 0 h 5715000"/>
              <a:gd name="connsiteX5" fmla="*/ 12192000 w 12192000"/>
              <a:gd name="connsiteY5" fmla="*/ 0 h 5715000"/>
              <a:gd name="connsiteX6" fmla="*/ 12192000 w 12192000"/>
              <a:gd name="connsiteY6" fmla="*/ 5715000 h 5715000"/>
              <a:gd name="connsiteX7" fmla="*/ 0 w 12192000"/>
              <a:gd name="connsiteY7" fmla="*/ 5715000 h 571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15000">
                <a:moveTo>
                  <a:pt x="780720" y="2857498"/>
                </a:moveTo>
                <a:lnTo>
                  <a:pt x="780720" y="4350694"/>
                </a:lnTo>
                <a:lnTo>
                  <a:pt x="2635322" y="4350694"/>
                </a:lnTo>
                <a:lnTo>
                  <a:pt x="2635322" y="2857498"/>
                </a:lnTo>
                <a:close/>
                <a:moveTo>
                  <a:pt x="0" y="0"/>
                </a:moveTo>
                <a:lnTo>
                  <a:pt x="12192000" y="0"/>
                </a:lnTo>
                <a:lnTo>
                  <a:pt x="12192000" y="5715000"/>
                </a:lnTo>
                <a:lnTo>
                  <a:pt x="0" y="5715000"/>
                </a:lnTo>
                <a:close/>
              </a:path>
            </a:pathLst>
          </a:custGeom>
        </p:spPr>
      </p:pic>
      <p:sp>
        <p:nvSpPr>
          <p:cNvPr id="6" name="矩形 5"/>
          <p:cNvSpPr/>
          <p:nvPr/>
        </p:nvSpPr>
        <p:spPr>
          <a:xfrm>
            <a:off x="0" y="0"/>
            <a:ext cx="12192000" cy="68580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Picture 3"/>
          <p:cNvPicPr>
            <a:picLocks noChangeAspect="1" noChangeArrowheads="1"/>
          </p:cNvPicPr>
          <p:nvPr/>
        </p:nvPicPr>
        <p:blipFill>
          <a:blip r:embed="rId3"/>
          <a:stretch>
            <a:fillRect/>
          </a:stretch>
        </p:blipFill>
        <p:spPr bwMode="auto">
          <a:xfrm>
            <a:off x="0" y="6031149"/>
            <a:ext cx="12192000" cy="826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80ABA5C1-BF19-4458-B492-EF5A3A5962A2}"/>
              </a:ext>
            </a:extLst>
          </p:cNvPr>
          <p:cNvSpPr txBox="1"/>
          <p:nvPr/>
        </p:nvSpPr>
        <p:spPr>
          <a:xfrm>
            <a:off x="985421" y="2363461"/>
            <a:ext cx="4882719" cy="369332"/>
          </a:xfrm>
          <a:prstGeom prst="rect">
            <a:avLst/>
          </a:prstGeom>
          <a:noFill/>
        </p:spPr>
        <p:txBody>
          <a:bodyPr wrap="square" rtlCol="0">
            <a:spAutoFit/>
          </a:bodyPr>
          <a:lstStyle/>
          <a:p>
            <a:r>
              <a:rPr lang="zh-CN" altLang="zh-CN" sz="18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抗疫斗争充分展现我们党无比坚强的领导力</a:t>
            </a:r>
          </a:p>
        </p:txBody>
      </p:sp>
      <p:sp>
        <p:nvSpPr>
          <p:cNvPr id="15" name="矩形 14">
            <a:extLst>
              <a:ext uri="{FF2B5EF4-FFF2-40B4-BE49-F238E27FC236}">
                <a16:creationId xmlns:a16="http://schemas.microsoft.com/office/drawing/2014/main" id="{98672573-51B6-4D29-85CF-601C07D4C228}"/>
              </a:ext>
            </a:extLst>
          </p:cNvPr>
          <p:cNvSpPr/>
          <p:nvPr/>
        </p:nvSpPr>
        <p:spPr>
          <a:xfrm>
            <a:off x="3095625" y="2481240"/>
            <a:ext cx="6000749" cy="1895519"/>
          </a:xfrm>
          <a:prstGeom prst="rect">
            <a:avLst/>
          </a:prstGeom>
        </p:spPr>
        <p:txBody>
          <a:bodyPr wrap="square">
            <a:spAutoFit/>
          </a:bodyPr>
          <a:lstStyle/>
          <a:p>
            <a:pPr indent="457200">
              <a:lnSpc>
                <a:spcPct val="150000"/>
              </a:lnSpc>
            </a:pP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弘扬爱国主义精神，必须尊重和传承中华民族历史和文化。对祖国悠久历史、深厚文化的理解和接受，是人们爱国主义情感培育和发展的重要条件。</a:t>
            </a:r>
          </a:p>
          <a:p>
            <a:pPr indent="457200">
              <a:lnSpc>
                <a:spcPct val="150000"/>
              </a:lnSpc>
            </a:pP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　　</a:t>
            </a:r>
            <a:r>
              <a:rPr lang="en-US" altLang="zh-CN"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——2015</a:t>
            </a: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年</a:t>
            </a:r>
            <a:r>
              <a:rPr lang="en-US" altLang="zh-CN"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12</a:t>
            </a: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月</a:t>
            </a:r>
            <a:r>
              <a:rPr lang="en-US" altLang="zh-CN"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30</a:t>
            </a: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日，习近平在十八届中共中央政治局第二十九次集体学习时的讲话</a:t>
            </a:r>
          </a:p>
        </p:txBody>
      </p:sp>
      <p:grpSp>
        <p:nvGrpSpPr>
          <p:cNvPr id="4" name="组合 3">
            <a:extLst>
              <a:ext uri="{FF2B5EF4-FFF2-40B4-BE49-F238E27FC236}">
                <a16:creationId xmlns:a16="http://schemas.microsoft.com/office/drawing/2014/main" id="{A2C548E8-44E2-4808-9C31-9EFDFD803117}"/>
              </a:ext>
            </a:extLst>
          </p:cNvPr>
          <p:cNvGrpSpPr/>
          <p:nvPr/>
        </p:nvGrpSpPr>
        <p:grpSpPr>
          <a:xfrm>
            <a:off x="73270" y="102868"/>
            <a:ext cx="8343104" cy="1323254"/>
            <a:chOff x="73270" y="102868"/>
            <a:chExt cx="8343104" cy="1323254"/>
          </a:xfrm>
        </p:grpSpPr>
        <p:sp>
          <p:nvSpPr>
            <p:cNvPr id="10" name="文本框 9"/>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抗疫中的制度优势</a:t>
              </a:r>
            </a:p>
          </p:txBody>
        </p:sp>
        <p:pic>
          <p:nvPicPr>
            <p:cNvPr id="16" name="图片 15" descr="电脑萤幕画面&#10;&#10;描述已自动生成">
              <a:extLst>
                <a:ext uri="{FF2B5EF4-FFF2-40B4-BE49-F238E27FC236}">
                  <a16:creationId xmlns:a16="http://schemas.microsoft.com/office/drawing/2014/main" id="{58DF1C9A-628E-4505-AC6D-EE0657D3C988}"/>
                </a:ext>
              </a:extLst>
            </p:cNvPr>
            <p:cNvPicPr>
              <a:picLocks noChangeAspect="1"/>
            </p:cNvPicPr>
            <p:nvPr/>
          </p:nvPicPr>
          <p:blipFill>
            <a:blip r:embed="rId4"/>
            <a:stretch>
              <a:fillRect/>
            </a:stretch>
          </p:blipFill>
          <p:spPr>
            <a:xfrm flipH="1">
              <a:off x="73270" y="172328"/>
              <a:ext cx="8343104" cy="1253794"/>
            </a:xfrm>
            <a:prstGeom prst="rect">
              <a:avLst/>
            </a:prstGeom>
          </p:spPr>
        </p:pic>
        <p:sp>
          <p:nvSpPr>
            <p:cNvPr id="3" name="文本框 2">
              <a:extLst>
                <a:ext uri="{FF2B5EF4-FFF2-40B4-BE49-F238E27FC236}">
                  <a16:creationId xmlns:a16="http://schemas.microsoft.com/office/drawing/2014/main" id="{47DE1E9E-17A6-4C99-B085-73A54B9C1954}"/>
                </a:ext>
              </a:extLst>
            </p:cNvPr>
            <p:cNvSpPr txBox="1"/>
            <p:nvPr/>
          </p:nvSpPr>
          <p:spPr>
            <a:xfrm>
              <a:off x="852060" y="490591"/>
              <a:ext cx="3719451" cy="830997"/>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尊重和传承中华民族历史和文化</a:t>
              </a:r>
            </a:p>
          </p:txBody>
        </p:sp>
      </p:grpSp>
    </p:spTree>
    <p:extLst>
      <p:ext uri="{BB962C8B-B14F-4D97-AF65-F5344CB8AC3E}">
        <p14:creationId xmlns:p14="http://schemas.microsoft.com/office/powerpoint/2010/main" val="22859409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地图上有字&#10;&#10;描述已自动生成"/>
          <p:cNvPicPr>
            <a:picLocks noChangeAspect="1"/>
          </p:cNvPicPr>
          <p:nvPr/>
        </p:nvPicPr>
        <p:blipFill>
          <a:blip r:embed="rId2"/>
          <a:srcRect/>
          <a:stretch>
            <a:fillRect/>
          </a:stretch>
        </p:blipFill>
        <p:spPr>
          <a:xfrm>
            <a:off x="0" y="1"/>
            <a:ext cx="12192000" cy="6593682"/>
          </a:xfrm>
          <a:custGeom>
            <a:avLst/>
            <a:gdLst>
              <a:gd name="connsiteX0" fmla="*/ 780720 w 12192000"/>
              <a:gd name="connsiteY0" fmla="*/ 2857498 h 5715000"/>
              <a:gd name="connsiteX1" fmla="*/ 780720 w 12192000"/>
              <a:gd name="connsiteY1" fmla="*/ 4350694 h 5715000"/>
              <a:gd name="connsiteX2" fmla="*/ 2635322 w 12192000"/>
              <a:gd name="connsiteY2" fmla="*/ 4350694 h 5715000"/>
              <a:gd name="connsiteX3" fmla="*/ 2635322 w 12192000"/>
              <a:gd name="connsiteY3" fmla="*/ 2857498 h 5715000"/>
              <a:gd name="connsiteX4" fmla="*/ 0 w 12192000"/>
              <a:gd name="connsiteY4" fmla="*/ 0 h 5715000"/>
              <a:gd name="connsiteX5" fmla="*/ 12192000 w 12192000"/>
              <a:gd name="connsiteY5" fmla="*/ 0 h 5715000"/>
              <a:gd name="connsiteX6" fmla="*/ 12192000 w 12192000"/>
              <a:gd name="connsiteY6" fmla="*/ 5715000 h 5715000"/>
              <a:gd name="connsiteX7" fmla="*/ 0 w 12192000"/>
              <a:gd name="connsiteY7" fmla="*/ 5715000 h 571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15000">
                <a:moveTo>
                  <a:pt x="780720" y="2857498"/>
                </a:moveTo>
                <a:lnTo>
                  <a:pt x="780720" y="4350694"/>
                </a:lnTo>
                <a:lnTo>
                  <a:pt x="2635322" y="4350694"/>
                </a:lnTo>
                <a:lnTo>
                  <a:pt x="2635322" y="2857498"/>
                </a:lnTo>
                <a:close/>
                <a:moveTo>
                  <a:pt x="0" y="0"/>
                </a:moveTo>
                <a:lnTo>
                  <a:pt x="12192000" y="0"/>
                </a:lnTo>
                <a:lnTo>
                  <a:pt x="12192000" y="5715000"/>
                </a:lnTo>
                <a:lnTo>
                  <a:pt x="0" y="5715000"/>
                </a:lnTo>
                <a:close/>
              </a:path>
            </a:pathLst>
          </a:custGeom>
        </p:spPr>
      </p:pic>
      <p:sp>
        <p:nvSpPr>
          <p:cNvPr id="6" name="矩形 5"/>
          <p:cNvSpPr/>
          <p:nvPr/>
        </p:nvSpPr>
        <p:spPr>
          <a:xfrm>
            <a:off x="0" y="0"/>
            <a:ext cx="12192000" cy="68580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Picture 3"/>
          <p:cNvPicPr>
            <a:picLocks noChangeAspect="1" noChangeArrowheads="1"/>
          </p:cNvPicPr>
          <p:nvPr/>
        </p:nvPicPr>
        <p:blipFill>
          <a:blip r:embed="rId3"/>
          <a:stretch>
            <a:fillRect/>
          </a:stretch>
        </p:blipFill>
        <p:spPr bwMode="auto">
          <a:xfrm>
            <a:off x="0" y="6031149"/>
            <a:ext cx="12192000" cy="826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80ABA5C1-BF19-4458-B492-EF5A3A5962A2}"/>
              </a:ext>
            </a:extLst>
          </p:cNvPr>
          <p:cNvSpPr txBox="1"/>
          <p:nvPr/>
        </p:nvSpPr>
        <p:spPr>
          <a:xfrm>
            <a:off x="985421" y="2363461"/>
            <a:ext cx="4882719" cy="369332"/>
          </a:xfrm>
          <a:prstGeom prst="rect">
            <a:avLst/>
          </a:prstGeom>
          <a:noFill/>
        </p:spPr>
        <p:txBody>
          <a:bodyPr wrap="square" rtlCol="0">
            <a:spAutoFit/>
          </a:bodyPr>
          <a:lstStyle/>
          <a:p>
            <a:r>
              <a:rPr lang="zh-CN" altLang="zh-CN" sz="18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抗疫斗争充分展现我们党无比坚强的领导力</a:t>
            </a:r>
          </a:p>
        </p:txBody>
      </p:sp>
      <p:sp>
        <p:nvSpPr>
          <p:cNvPr id="15" name="矩形 14">
            <a:extLst>
              <a:ext uri="{FF2B5EF4-FFF2-40B4-BE49-F238E27FC236}">
                <a16:creationId xmlns:a16="http://schemas.microsoft.com/office/drawing/2014/main" id="{98672573-51B6-4D29-85CF-601C07D4C228}"/>
              </a:ext>
            </a:extLst>
          </p:cNvPr>
          <p:cNvSpPr/>
          <p:nvPr/>
        </p:nvSpPr>
        <p:spPr>
          <a:xfrm>
            <a:off x="2867765" y="1744385"/>
            <a:ext cx="6000749" cy="4111510"/>
          </a:xfrm>
          <a:prstGeom prst="rect">
            <a:avLst/>
          </a:prstGeom>
        </p:spPr>
        <p:txBody>
          <a:bodyPr wrap="square">
            <a:spAutoFit/>
          </a:bodyPr>
          <a:lstStyle/>
          <a:p>
            <a:pPr indent="457200">
              <a:lnSpc>
                <a:spcPct val="150000"/>
              </a:lnSpc>
            </a:pP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要爱国，忠于祖国，忠于人民。爱国，是人世间最深层、最持久的情感，是一个人立德之源、立功之本。孙中山先生说，做人最大的事情，“就是要知道怎么样爱国”。我们常讲，做人要有气节、要有人格。气节也好，人格也好，爱国是第一位的。我们是中华儿女，要了解中华民族历史，秉承中华文化基因，有民族自豪感和文化自信心。要时时想到国家，处处想到人民，做到“利于国者爱之，害于国者恶之”。爱国，不能停留在口号上，而是要把自己的理想同祖国的前途、把自己的人生同民族的命运紧密联系在一起，扎根人民，奉献国家。</a:t>
            </a:r>
          </a:p>
          <a:p>
            <a:pPr indent="457200">
              <a:lnSpc>
                <a:spcPct val="150000"/>
              </a:lnSpc>
            </a:pP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　　</a:t>
            </a:r>
            <a:r>
              <a:rPr lang="en-US" altLang="zh-CN"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——2018</a:t>
            </a: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年</a:t>
            </a:r>
            <a:r>
              <a:rPr lang="en-US" altLang="zh-CN"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5</a:t>
            </a: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月</a:t>
            </a:r>
            <a:r>
              <a:rPr lang="en-US" altLang="zh-CN"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2</a:t>
            </a: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日，习近平在北京大学师生座谈会上的讲话</a:t>
            </a:r>
          </a:p>
        </p:txBody>
      </p:sp>
      <p:grpSp>
        <p:nvGrpSpPr>
          <p:cNvPr id="4" name="组合 3">
            <a:extLst>
              <a:ext uri="{FF2B5EF4-FFF2-40B4-BE49-F238E27FC236}">
                <a16:creationId xmlns:a16="http://schemas.microsoft.com/office/drawing/2014/main" id="{A2C548E8-44E2-4808-9C31-9EFDFD803117}"/>
              </a:ext>
            </a:extLst>
          </p:cNvPr>
          <p:cNvGrpSpPr/>
          <p:nvPr/>
        </p:nvGrpSpPr>
        <p:grpSpPr>
          <a:xfrm>
            <a:off x="73270" y="102868"/>
            <a:ext cx="8343104" cy="1323254"/>
            <a:chOff x="73270" y="102868"/>
            <a:chExt cx="8343104" cy="1323254"/>
          </a:xfrm>
        </p:grpSpPr>
        <p:sp>
          <p:nvSpPr>
            <p:cNvPr id="10" name="文本框 9"/>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抗疫中的制度优势</a:t>
              </a:r>
            </a:p>
          </p:txBody>
        </p:sp>
        <p:pic>
          <p:nvPicPr>
            <p:cNvPr id="16" name="图片 15" descr="电脑萤幕画面&#10;&#10;描述已自动生成">
              <a:extLst>
                <a:ext uri="{FF2B5EF4-FFF2-40B4-BE49-F238E27FC236}">
                  <a16:creationId xmlns:a16="http://schemas.microsoft.com/office/drawing/2014/main" id="{58DF1C9A-628E-4505-AC6D-EE0657D3C988}"/>
                </a:ext>
              </a:extLst>
            </p:cNvPr>
            <p:cNvPicPr>
              <a:picLocks noChangeAspect="1"/>
            </p:cNvPicPr>
            <p:nvPr/>
          </p:nvPicPr>
          <p:blipFill>
            <a:blip r:embed="rId4"/>
            <a:stretch>
              <a:fillRect/>
            </a:stretch>
          </p:blipFill>
          <p:spPr>
            <a:xfrm flipH="1">
              <a:off x="73270" y="172328"/>
              <a:ext cx="8343104" cy="1253794"/>
            </a:xfrm>
            <a:prstGeom prst="rect">
              <a:avLst/>
            </a:prstGeom>
          </p:spPr>
        </p:pic>
        <p:sp>
          <p:nvSpPr>
            <p:cNvPr id="3" name="文本框 2">
              <a:extLst>
                <a:ext uri="{FF2B5EF4-FFF2-40B4-BE49-F238E27FC236}">
                  <a16:creationId xmlns:a16="http://schemas.microsoft.com/office/drawing/2014/main" id="{47DE1E9E-17A6-4C99-B085-73A54B9C1954}"/>
                </a:ext>
              </a:extLst>
            </p:cNvPr>
            <p:cNvSpPr txBox="1"/>
            <p:nvPr/>
          </p:nvSpPr>
          <p:spPr>
            <a:xfrm>
              <a:off x="852060" y="490591"/>
              <a:ext cx="3719451"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忠于祖国，忠于人民</a:t>
              </a:r>
            </a:p>
          </p:txBody>
        </p:sp>
      </p:grpSp>
    </p:spTree>
    <p:extLst>
      <p:ext uri="{BB962C8B-B14F-4D97-AF65-F5344CB8AC3E}">
        <p14:creationId xmlns:p14="http://schemas.microsoft.com/office/powerpoint/2010/main" val="19088561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地图上有字&#10;&#10;描述已自动生成"/>
          <p:cNvPicPr>
            <a:picLocks noChangeAspect="1"/>
          </p:cNvPicPr>
          <p:nvPr/>
        </p:nvPicPr>
        <p:blipFill>
          <a:blip r:embed="rId2"/>
          <a:srcRect/>
          <a:stretch>
            <a:fillRect/>
          </a:stretch>
        </p:blipFill>
        <p:spPr>
          <a:xfrm>
            <a:off x="0" y="1"/>
            <a:ext cx="12192000" cy="6593682"/>
          </a:xfrm>
          <a:custGeom>
            <a:avLst/>
            <a:gdLst>
              <a:gd name="connsiteX0" fmla="*/ 780720 w 12192000"/>
              <a:gd name="connsiteY0" fmla="*/ 2857498 h 5715000"/>
              <a:gd name="connsiteX1" fmla="*/ 780720 w 12192000"/>
              <a:gd name="connsiteY1" fmla="*/ 4350694 h 5715000"/>
              <a:gd name="connsiteX2" fmla="*/ 2635322 w 12192000"/>
              <a:gd name="connsiteY2" fmla="*/ 4350694 h 5715000"/>
              <a:gd name="connsiteX3" fmla="*/ 2635322 w 12192000"/>
              <a:gd name="connsiteY3" fmla="*/ 2857498 h 5715000"/>
              <a:gd name="connsiteX4" fmla="*/ 0 w 12192000"/>
              <a:gd name="connsiteY4" fmla="*/ 0 h 5715000"/>
              <a:gd name="connsiteX5" fmla="*/ 12192000 w 12192000"/>
              <a:gd name="connsiteY5" fmla="*/ 0 h 5715000"/>
              <a:gd name="connsiteX6" fmla="*/ 12192000 w 12192000"/>
              <a:gd name="connsiteY6" fmla="*/ 5715000 h 5715000"/>
              <a:gd name="connsiteX7" fmla="*/ 0 w 12192000"/>
              <a:gd name="connsiteY7" fmla="*/ 5715000 h 571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15000">
                <a:moveTo>
                  <a:pt x="780720" y="2857498"/>
                </a:moveTo>
                <a:lnTo>
                  <a:pt x="780720" y="4350694"/>
                </a:lnTo>
                <a:lnTo>
                  <a:pt x="2635322" y="4350694"/>
                </a:lnTo>
                <a:lnTo>
                  <a:pt x="2635322" y="2857498"/>
                </a:lnTo>
                <a:close/>
                <a:moveTo>
                  <a:pt x="0" y="0"/>
                </a:moveTo>
                <a:lnTo>
                  <a:pt x="12192000" y="0"/>
                </a:lnTo>
                <a:lnTo>
                  <a:pt x="12192000" y="5715000"/>
                </a:lnTo>
                <a:lnTo>
                  <a:pt x="0" y="5715000"/>
                </a:lnTo>
                <a:close/>
              </a:path>
            </a:pathLst>
          </a:custGeom>
        </p:spPr>
      </p:pic>
      <p:sp>
        <p:nvSpPr>
          <p:cNvPr id="6" name="矩形 5"/>
          <p:cNvSpPr/>
          <p:nvPr/>
        </p:nvSpPr>
        <p:spPr>
          <a:xfrm>
            <a:off x="0" y="0"/>
            <a:ext cx="12192000" cy="68580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Picture 3"/>
          <p:cNvPicPr>
            <a:picLocks noChangeAspect="1" noChangeArrowheads="1"/>
          </p:cNvPicPr>
          <p:nvPr/>
        </p:nvPicPr>
        <p:blipFill>
          <a:blip r:embed="rId3"/>
          <a:stretch>
            <a:fillRect/>
          </a:stretch>
        </p:blipFill>
        <p:spPr bwMode="auto">
          <a:xfrm>
            <a:off x="0" y="6031149"/>
            <a:ext cx="12192000" cy="826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80ABA5C1-BF19-4458-B492-EF5A3A5962A2}"/>
              </a:ext>
            </a:extLst>
          </p:cNvPr>
          <p:cNvSpPr txBox="1"/>
          <p:nvPr/>
        </p:nvSpPr>
        <p:spPr>
          <a:xfrm>
            <a:off x="985421" y="2363461"/>
            <a:ext cx="4882719" cy="369332"/>
          </a:xfrm>
          <a:prstGeom prst="rect">
            <a:avLst/>
          </a:prstGeom>
          <a:noFill/>
        </p:spPr>
        <p:txBody>
          <a:bodyPr wrap="square" rtlCol="0">
            <a:spAutoFit/>
          </a:bodyPr>
          <a:lstStyle/>
          <a:p>
            <a:r>
              <a:rPr lang="zh-CN" altLang="zh-CN" sz="18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抗疫斗争充分展现我们党无比坚强的领导力</a:t>
            </a:r>
          </a:p>
        </p:txBody>
      </p:sp>
      <p:sp>
        <p:nvSpPr>
          <p:cNvPr id="15" name="矩形 14">
            <a:extLst>
              <a:ext uri="{FF2B5EF4-FFF2-40B4-BE49-F238E27FC236}">
                <a16:creationId xmlns:a16="http://schemas.microsoft.com/office/drawing/2014/main" id="{98672573-51B6-4D29-85CF-601C07D4C228}"/>
              </a:ext>
            </a:extLst>
          </p:cNvPr>
          <p:cNvSpPr/>
          <p:nvPr/>
        </p:nvSpPr>
        <p:spPr>
          <a:xfrm>
            <a:off x="2867765" y="2363461"/>
            <a:ext cx="6000749" cy="2264851"/>
          </a:xfrm>
          <a:prstGeom prst="rect">
            <a:avLst/>
          </a:prstGeom>
        </p:spPr>
        <p:txBody>
          <a:bodyPr wrap="square">
            <a:spAutoFit/>
          </a:bodyPr>
          <a:lstStyle/>
          <a:p>
            <a:pPr indent="457200">
              <a:lnSpc>
                <a:spcPct val="150000"/>
              </a:lnSpc>
            </a:pP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新时代中国青年要听党话、跟党走，胸怀忧国忧民之心、爱国爱民之情，不断奉献祖国、奉献人民，以一生的真情投入、一辈子的顽强奋斗来体现爱国主义情怀，让爱国主义的伟大旗帜始终在心中高高飘扬！</a:t>
            </a:r>
          </a:p>
          <a:p>
            <a:pPr indent="457200">
              <a:lnSpc>
                <a:spcPct val="150000"/>
              </a:lnSpc>
            </a:pP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　　</a:t>
            </a:r>
            <a:r>
              <a:rPr lang="en-US" altLang="zh-CN"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——2019</a:t>
            </a: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年</a:t>
            </a:r>
            <a:r>
              <a:rPr lang="en-US" altLang="zh-CN"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4</a:t>
            </a: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月</a:t>
            </a:r>
            <a:r>
              <a:rPr lang="en-US" altLang="zh-CN"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30</a:t>
            </a: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日，习近平在纪念五四运动</a:t>
            </a:r>
            <a:r>
              <a:rPr lang="en-US" altLang="zh-CN"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100</a:t>
            </a: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周年大会上的讲话</a:t>
            </a:r>
          </a:p>
        </p:txBody>
      </p:sp>
      <p:grpSp>
        <p:nvGrpSpPr>
          <p:cNvPr id="4" name="组合 3">
            <a:extLst>
              <a:ext uri="{FF2B5EF4-FFF2-40B4-BE49-F238E27FC236}">
                <a16:creationId xmlns:a16="http://schemas.microsoft.com/office/drawing/2014/main" id="{A2C548E8-44E2-4808-9C31-9EFDFD803117}"/>
              </a:ext>
            </a:extLst>
          </p:cNvPr>
          <p:cNvGrpSpPr/>
          <p:nvPr/>
        </p:nvGrpSpPr>
        <p:grpSpPr>
          <a:xfrm>
            <a:off x="73270" y="102868"/>
            <a:ext cx="8343104" cy="1323254"/>
            <a:chOff x="73270" y="102868"/>
            <a:chExt cx="8343104" cy="1323254"/>
          </a:xfrm>
        </p:grpSpPr>
        <p:sp>
          <p:nvSpPr>
            <p:cNvPr id="10" name="文本框 9"/>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抗疫中的制度优势</a:t>
              </a:r>
            </a:p>
          </p:txBody>
        </p:sp>
        <p:pic>
          <p:nvPicPr>
            <p:cNvPr id="16" name="图片 15" descr="电脑萤幕画面&#10;&#10;描述已自动生成">
              <a:extLst>
                <a:ext uri="{FF2B5EF4-FFF2-40B4-BE49-F238E27FC236}">
                  <a16:creationId xmlns:a16="http://schemas.microsoft.com/office/drawing/2014/main" id="{58DF1C9A-628E-4505-AC6D-EE0657D3C988}"/>
                </a:ext>
              </a:extLst>
            </p:cNvPr>
            <p:cNvPicPr>
              <a:picLocks noChangeAspect="1"/>
            </p:cNvPicPr>
            <p:nvPr/>
          </p:nvPicPr>
          <p:blipFill>
            <a:blip r:embed="rId4"/>
            <a:stretch>
              <a:fillRect/>
            </a:stretch>
          </p:blipFill>
          <p:spPr>
            <a:xfrm flipH="1">
              <a:off x="73270" y="172328"/>
              <a:ext cx="8343104" cy="1253794"/>
            </a:xfrm>
            <a:prstGeom prst="rect">
              <a:avLst/>
            </a:prstGeom>
          </p:spPr>
        </p:pic>
        <p:sp>
          <p:nvSpPr>
            <p:cNvPr id="3" name="文本框 2">
              <a:extLst>
                <a:ext uri="{FF2B5EF4-FFF2-40B4-BE49-F238E27FC236}">
                  <a16:creationId xmlns:a16="http://schemas.microsoft.com/office/drawing/2014/main" id="{47DE1E9E-17A6-4C99-B085-73A54B9C1954}"/>
                </a:ext>
              </a:extLst>
            </p:cNvPr>
            <p:cNvSpPr txBox="1"/>
            <p:nvPr/>
          </p:nvSpPr>
          <p:spPr>
            <a:xfrm>
              <a:off x="852060" y="490591"/>
              <a:ext cx="3719451" cy="461665"/>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不断奉献祖国、奉献人民</a:t>
              </a:r>
            </a:p>
          </p:txBody>
        </p:sp>
      </p:grpSp>
    </p:spTree>
    <p:extLst>
      <p:ext uri="{BB962C8B-B14F-4D97-AF65-F5344CB8AC3E}">
        <p14:creationId xmlns:p14="http://schemas.microsoft.com/office/powerpoint/2010/main" val="31220767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地图上有字&#10;&#10;描述已自动生成"/>
          <p:cNvPicPr>
            <a:picLocks noChangeAspect="1"/>
          </p:cNvPicPr>
          <p:nvPr/>
        </p:nvPicPr>
        <p:blipFill>
          <a:blip r:embed="rId2"/>
          <a:srcRect/>
          <a:stretch>
            <a:fillRect/>
          </a:stretch>
        </p:blipFill>
        <p:spPr>
          <a:xfrm>
            <a:off x="0" y="1"/>
            <a:ext cx="12192000" cy="6593682"/>
          </a:xfrm>
          <a:custGeom>
            <a:avLst/>
            <a:gdLst>
              <a:gd name="connsiteX0" fmla="*/ 780720 w 12192000"/>
              <a:gd name="connsiteY0" fmla="*/ 2857498 h 5715000"/>
              <a:gd name="connsiteX1" fmla="*/ 780720 w 12192000"/>
              <a:gd name="connsiteY1" fmla="*/ 4350694 h 5715000"/>
              <a:gd name="connsiteX2" fmla="*/ 2635322 w 12192000"/>
              <a:gd name="connsiteY2" fmla="*/ 4350694 h 5715000"/>
              <a:gd name="connsiteX3" fmla="*/ 2635322 w 12192000"/>
              <a:gd name="connsiteY3" fmla="*/ 2857498 h 5715000"/>
              <a:gd name="connsiteX4" fmla="*/ 0 w 12192000"/>
              <a:gd name="connsiteY4" fmla="*/ 0 h 5715000"/>
              <a:gd name="connsiteX5" fmla="*/ 12192000 w 12192000"/>
              <a:gd name="connsiteY5" fmla="*/ 0 h 5715000"/>
              <a:gd name="connsiteX6" fmla="*/ 12192000 w 12192000"/>
              <a:gd name="connsiteY6" fmla="*/ 5715000 h 5715000"/>
              <a:gd name="connsiteX7" fmla="*/ 0 w 12192000"/>
              <a:gd name="connsiteY7" fmla="*/ 5715000 h 571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15000">
                <a:moveTo>
                  <a:pt x="780720" y="2857498"/>
                </a:moveTo>
                <a:lnTo>
                  <a:pt x="780720" y="4350694"/>
                </a:lnTo>
                <a:lnTo>
                  <a:pt x="2635322" y="4350694"/>
                </a:lnTo>
                <a:lnTo>
                  <a:pt x="2635322" y="2857498"/>
                </a:lnTo>
                <a:close/>
                <a:moveTo>
                  <a:pt x="0" y="0"/>
                </a:moveTo>
                <a:lnTo>
                  <a:pt x="12192000" y="0"/>
                </a:lnTo>
                <a:lnTo>
                  <a:pt x="12192000" y="5715000"/>
                </a:lnTo>
                <a:lnTo>
                  <a:pt x="0" y="5715000"/>
                </a:lnTo>
                <a:close/>
              </a:path>
            </a:pathLst>
          </a:custGeom>
        </p:spPr>
      </p:pic>
      <p:sp>
        <p:nvSpPr>
          <p:cNvPr id="6" name="矩形 5"/>
          <p:cNvSpPr/>
          <p:nvPr/>
        </p:nvSpPr>
        <p:spPr>
          <a:xfrm>
            <a:off x="0" y="0"/>
            <a:ext cx="12192000" cy="68580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Picture 3"/>
          <p:cNvPicPr>
            <a:picLocks noChangeAspect="1" noChangeArrowheads="1"/>
          </p:cNvPicPr>
          <p:nvPr/>
        </p:nvPicPr>
        <p:blipFill>
          <a:blip r:embed="rId3"/>
          <a:stretch>
            <a:fillRect/>
          </a:stretch>
        </p:blipFill>
        <p:spPr bwMode="auto">
          <a:xfrm>
            <a:off x="0" y="6031149"/>
            <a:ext cx="12192000" cy="826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80ABA5C1-BF19-4458-B492-EF5A3A5962A2}"/>
              </a:ext>
            </a:extLst>
          </p:cNvPr>
          <p:cNvSpPr txBox="1"/>
          <p:nvPr/>
        </p:nvSpPr>
        <p:spPr>
          <a:xfrm>
            <a:off x="985421" y="2363461"/>
            <a:ext cx="4882719" cy="369332"/>
          </a:xfrm>
          <a:prstGeom prst="rect">
            <a:avLst/>
          </a:prstGeom>
          <a:noFill/>
        </p:spPr>
        <p:txBody>
          <a:bodyPr wrap="square" rtlCol="0">
            <a:spAutoFit/>
          </a:bodyPr>
          <a:lstStyle/>
          <a:p>
            <a:r>
              <a:rPr lang="zh-CN" altLang="zh-CN" sz="18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抗疫斗争充分展现我们党无比坚强的领导力</a:t>
            </a:r>
          </a:p>
        </p:txBody>
      </p:sp>
      <p:sp>
        <p:nvSpPr>
          <p:cNvPr id="15" name="矩形 14">
            <a:extLst>
              <a:ext uri="{FF2B5EF4-FFF2-40B4-BE49-F238E27FC236}">
                <a16:creationId xmlns:a16="http://schemas.microsoft.com/office/drawing/2014/main" id="{98672573-51B6-4D29-85CF-601C07D4C228}"/>
              </a:ext>
            </a:extLst>
          </p:cNvPr>
          <p:cNvSpPr/>
          <p:nvPr/>
        </p:nvSpPr>
        <p:spPr>
          <a:xfrm>
            <a:off x="2867765" y="2363461"/>
            <a:ext cx="6000749" cy="1895519"/>
          </a:xfrm>
          <a:prstGeom prst="rect">
            <a:avLst/>
          </a:prstGeom>
        </p:spPr>
        <p:txBody>
          <a:bodyPr wrap="square">
            <a:spAutoFit/>
          </a:bodyPr>
          <a:lstStyle/>
          <a:p>
            <a:pPr indent="457200">
              <a:lnSpc>
                <a:spcPct val="150000"/>
              </a:lnSpc>
            </a:pP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在各族群众中加强社会主义核心价值观教育，牢固树立正确的祖国观、民族观、文化观、历史观，对构筑各民族共有精神家园、铸牢中华民族共同体意识至关重要。</a:t>
            </a:r>
          </a:p>
          <a:p>
            <a:pPr indent="457200">
              <a:lnSpc>
                <a:spcPct val="150000"/>
              </a:lnSpc>
            </a:pP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　　</a:t>
            </a:r>
            <a:r>
              <a:rPr lang="en-US" altLang="zh-CN"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——2019</a:t>
            </a: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年</a:t>
            </a:r>
            <a:r>
              <a:rPr lang="en-US" altLang="zh-CN"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9</a:t>
            </a: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月</a:t>
            </a:r>
            <a:r>
              <a:rPr lang="en-US" altLang="zh-CN"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27</a:t>
            </a:r>
            <a:r>
              <a:rPr lang="zh-CN" altLang="en-US" sz="1600" dirty="0">
                <a:solidFill>
                  <a:srgbClr val="191919"/>
                </a:solidFill>
                <a:latin typeface="微软雅黑" panose="020B0503020204020204" pitchFamily="34" charset="-122"/>
                <a:ea typeface="微软雅黑" panose="020B0503020204020204" pitchFamily="34" charset="-122"/>
                <a:cs typeface="阿里巴巴普惠体 M" panose="00020600040101010101" pitchFamily="18" charset="-122"/>
              </a:rPr>
              <a:t>日，习近平在全国民族团结进步表彰大会上的讲话</a:t>
            </a:r>
          </a:p>
        </p:txBody>
      </p:sp>
      <p:grpSp>
        <p:nvGrpSpPr>
          <p:cNvPr id="4" name="组合 3">
            <a:extLst>
              <a:ext uri="{FF2B5EF4-FFF2-40B4-BE49-F238E27FC236}">
                <a16:creationId xmlns:a16="http://schemas.microsoft.com/office/drawing/2014/main" id="{A2C548E8-44E2-4808-9C31-9EFDFD803117}"/>
              </a:ext>
            </a:extLst>
          </p:cNvPr>
          <p:cNvGrpSpPr/>
          <p:nvPr/>
        </p:nvGrpSpPr>
        <p:grpSpPr>
          <a:xfrm>
            <a:off x="73270" y="102868"/>
            <a:ext cx="8343104" cy="1323254"/>
            <a:chOff x="73270" y="102868"/>
            <a:chExt cx="8343104" cy="1323254"/>
          </a:xfrm>
        </p:grpSpPr>
        <p:sp>
          <p:nvSpPr>
            <p:cNvPr id="10" name="文本框 9"/>
            <p:cNvSpPr txBox="1"/>
            <p:nvPr/>
          </p:nvSpPr>
          <p:spPr>
            <a:xfrm>
              <a:off x="73270" y="102868"/>
              <a:ext cx="4765060" cy="646331"/>
            </a:xfrm>
            <a:prstGeom prst="rect">
              <a:avLst/>
            </a:prstGeom>
            <a:noFill/>
          </p:spPr>
          <p:txBody>
            <a:bodyPr wrap="square" rtlCol="0">
              <a:spAutoFit/>
            </a:bodyPr>
            <a:lstStyle/>
            <a:p>
              <a:r>
                <a:rPr lang="zh-CN" altLang="en-US" sz="3600" dirty="0">
                  <a:solidFill>
                    <a:schemeClr val="bg1"/>
                  </a:solidFill>
                  <a:latin typeface="汉仪菱心体简" panose="02010609000101010101" pitchFamily="49" charset="-122"/>
                  <a:ea typeface="汉仪菱心体简" panose="02010609000101010101" pitchFamily="49" charset="-122"/>
                </a:rPr>
                <a:t>抗疫中的制度优势</a:t>
              </a:r>
            </a:p>
          </p:txBody>
        </p:sp>
        <p:pic>
          <p:nvPicPr>
            <p:cNvPr id="16" name="图片 15" descr="电脑萤幕画面&#10;&#10;描述已自动生成">
              <a:extLst>
                <a:ext uri="{FF2B5EF4-FFF2-40B4-BE49-F238E27FC236}">
                  <a16:creationId xmlns:a16="http://schemas.microsoft.com/office/drawing/2014/main" id="{58DF1C9A-628E-4505-AC6D-EE0657D3C988}"/>
                </a:ext>
              </a:extLst>
            </p:cNvPr>
            <p:cNvPicPr>
              <a:picLocks noChangeAspect="1"/>
            </p:cNvPicPr>
            <p:nvPr/>
          </p:nvPicPr>
          <p:blipFill>
            <a:blip r:embed="rId4"/>
            <a:stretch>
              <a:fillRect/>
            </a:stretch>
          </p:blipFill>
          <p:spPr>
            <a:xfrm flipH="1">
              <a:off x="73270" y="172328"/>
              <a:ext cx="8343104" cy="1253794"/>
            </a:xfrm>
            <a:prstGeom prst="rect">
              <a:avLst/>
            </a:prstGeom>
          </p:spPr>
        </p:pic>
        <p:sp>
          <p:nvSpPr>
            <p:cNvPr id="3" name="文本框 2">
              <a:extLst>
                <a:ext uri="{FF2B5EF4-FFF2-40B4-BE49-F238E27FC236}">
                  <a16:creationId xmlns:a16="http://schemas.microsoft.com/office/drawing/2014/main" id="{47DE1E9E-17A6-4C99-B085-73A54B9C1954}"/>
                </a:ext>
              </a:extLst>
            </p:cNvPr>
            <p:cNvSpPr txBox="1"/>
            <p:nvPr/>
          </p:nvSpPr>
          <p:spPr>
            <a:xfrm>
              <a:off x="852061" y="490591"/>
              <a:ext cx="2707886" cy="646331"/>
            </a:xfrm>
            <a:prstGeom prst="rect">
              <a:avLst/>
            </a:prstGeom>
            <a:noFill/>
          </p:spPr>
          <p:txBody>
            <a:bodyPr wrap="squar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牢固树立正确的祖国观、民族观、文化观、历史观</a:t>
              </a:r>
            </a:p>
          </p:txBody>
        </p:sp>
      </p:grpSp>
    </p:spTree>
    <p:extLst>
      <p:ext uri="{BB962C8B-B14F-4D97-AF65-F5344CB8AC3E}">
        <p14:creationId xmlns:p14="http://schemas.microsoft.com/office/powerpoint/2010/main" val="40243311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地图上有字&#10;&#10;描述已自动生成"/>
          <p:cNvPicPr>
            <a:picLocks noChangeAspect="1"/>
          </p:cNvPicPr>
          <p:nvPr/>
        </p:nvPicPr>
        <p:blipFill>
          <a:blip r:embed="rId2"/>
          <a:srcRect/>
          <a:stretch>
            <a:fillRect/>
          </a:stretch>
        </p:blipFill>
        <p:spPr>
          <a:xfrm>
            <a:off x="-699797" y="0"/>
            <a:ext cx="12891797" cy="6857999"/>
          </a:xfrm>
          <a:custGeom>
            <a:avLst/>
            <a:gdLst>
              <a:gd name="connsiteX0" fmla="*/ 780720 w 12192000"/>
              <a:gd name="connsiteY0" fmla="*/ 2857498 h 5715000"/>
              <a:gd name="connsiteX1" fmla="*/ 780720 w 12192000"/>
              <a:gd name="connsiteY1" fmla="*/ 4350694 h 5715000"/>
              <a:gd name="connsiteX2" fmla="*/ 2635322 w 12192000"/>
              <a:gd name="connsiteY2" fmla="*/ 4350694 h 5715000"/>
              <a:gd name="connsiteX3" fmla="*/ 2635322 w 12192000"/>
              <a:gd name="connsiteY3" fmla="*/ 2857498 h 5715000"/>
              <a:gd name="connsiteX4" fmla="*/ 0 w 12192000"/>
              <a:gd name="connsiteY4" fmla="*/ 0 h 5715000"/>
              <a:gd name="connsiteX5" fmla="*/ 12192000 w 12192000"/>
              <a:gd name="connsiteY5" fmla="*/ 0 h 5715000"/>
              <a:gd name="connsiteX6" fmla="*/ 12192000 w 12192000"/>
              <a:gd name="connsiteY6" fmla="*/ 5715000 h 5715000"/>
              <a:gd name="connsiteX7" fmla="*/ 0 w 12192000"/>
              <a:gd name="connsiteY7" fmla="*/ 5715000 h 571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15000">
                <a:moveTo>
                  <a:pt x="780720" y="2857498"/>
                </a:moveTo>
                <a:lnTo>
                  <a:pt x="780720" y="4350694"/>
                </a:lnTo>
                <a:lnTo>
                  <a:pt x="2635322" y="4350694"/>
                </a:lnTo>
                <a:lnTo>
                  <a:pt x="2635322" y="2857498"/>
                </a:lnTo>
                <a:close/>
                <a:moveTo>
                  <a:pt x="0" y="0"/>
                </a:moveTo>
                <a:lnTo>
                  <a:pt x="12192000" y="0"/>
                </a:lnTo>
                <a:lnTo>
                  <a:pt x="12192000" y="5715000"/>
                </a:lnTo>
                <a:lnTo>
                  <a:pt x="0" y="5715000"/>
                </a:lnTo>
                <a:close/>
              </a:path>
            </a:pathLst>
          </a:custGeom>
        </p:spPr>
      </p:pic>
      <p:pic>
        <p:nvPicPr>
          <p:cNvPr id="7" name="图片 6" descr="卡通人物&#10;&#10;描述已自动生成"/>
          <p:cNvPicPr>
            <a:picLocks noChangeAspect="1"/>
          </p:cNvPicPr>
          <p:nvPr/>
        </p:nvPicPr>
        <p:blipFill rotWithShape="1">
          <a:blip r:embed="rId3"/>
          <a:srcRect/>
          <a:stretch>
            <a:fillRect/>
          </a:stretch>
        </p:blipFill>
        <p:spPr>
          <a:xfrm>
            <a:off x="5129791" y="1494669"/>
            <a:ext cx="5082497" cy="1863561"/>
          </a:xfrm>
          <a:prstGeom prst="rect">
            <a:avLst/>
          </a:prstGeom>
        </p:spPr>
      </p:pic>
      <p:pic>
        <p:nvPicPr>
          <p:cNvPr id="12" name="图片 11" descr="电脑萤幕画面&#10;&#10;描述已自动生成"/>
          <p:cNvPicPr>
            <a:picLocks noChangeAspect="1"/>
          </p:cNvPicPr>
          <p:nvPr/>
        </p:nvPicPr>
        <p:blipFill>
          <a:blip r:embed="rId4"/>
          <a:stretch>
            <a:fillRect/>
          </a:stretch>
        </p:blipFill>
        <p:spPr>
          <a:xfrm flipH="1">
            <a:off x="673244" y="3521247"/>
            <a:ext cx="8343104" cy="1253794"/>
          </a:xfrm>
          <a:prstGeom prst="rect">
            <a:avLst/>
          </a:prstGeom>
        </p:spPr>
      </p:pic>
      <p:sp>
        <p:nvSpPr>
          <p:cNvPr id="13" name="文本框 12"/>
          <p:cNvSpPr txBox="1"/>
          <p:nvPr/>
        </p:nvSpPr>
        <p:spPr>
          <a:xfrm>
            <a:off x="1633760" y="3694673"/>
            <a:ext cx="3010033" cy="769441"/>
          </a:xfrm>
          <a:prstGeom prst="rect">
            <a:avLst/>
          </a:prstGeom>
          <a:noFill/>
        </p:spPr>
        <p:txBody>
          <a:bodyPr wrap="square" rtlCol="0">
            <a:spAutoFit/>
          </a:bodyPr>
          <a:lstStyle/>
          <a:p>
            <a:r>
              <a:rPr lang="zh-CN" altLang="en-US" sz="4400" dirty="0">
                <a:solidFill>
                  <a:schemeClr val="bg1"/>
                </a:solidFill>
                <a:latin typeface="汉仪菱心体简" panose="02010609000101010101" pitchFamily="49" charset="-122"/>
                <a:ea typeface="汉仪菱心体简" panose="02010609000101010101" pitchFamily="49" charset="-122"/>
              </a:rPr>
              <a:t>感谢观看</a:t>
            </a:r>
          </a:p>
        </p:txBody>
      </p:sp>
      <p:pic>
        <p:nvPicPr>
          <p:cNvPr id="9" name="图片 8" descr="卡通人物&#10;&#10;描述已自动生成"/>
          <p:cNvPicPr>
            <a:picLocks noChangeAspect="1"/>
          </p:cNvPicPr>
          <p:nvPr/>
        </p:nvPicPr>
        <p:blipFill rotWithShape="1">
          <a:blip r:embed="rId5"/>
          <a:srcRect/>
          <a:stretch>
            <a:fillRect/>
          </a:stretch>
        </p:blipFill>
        <p:spPr>
          <a:xfrm>
            <a:off x="2823457" y="124370"/>
            <a:ext cx="6326221" cy="1863561"/>
          </a:xfrm>
          <a:prstGeom prst="rect">
            <a:avLst/>
          </a:prstGeom>
        </p:spPr>
      </p:pic>
    </p:spTree>
  </p:cSld>
  <p:clrMapOvr>
    <a:masterClrMapping/>
  </p:clrMapOvr>
</p:sld>
</file>

<file path=ppt/theme/theme1.xml><?xml version="1.0" encoding="utf-8"?>
<a:theme xmlns:a="http://schemas.openxmlformats.org/drawingml/2006/main" name="Office 主题​​">
  <a:themeElements>
    <a:clrScheme name="红色">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TotalTime>
  <Words>5163</Words>
  <Application>Microsoft Office PowerPoint</Application>
  <PresentationFormat>宽屏</PresentationFormat>
  <Paragraphs>234</Paragraphs>
  <Slides>37</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37</vt:i4>
      </vt:variant>
    </vt:vector>
  </HeadingPairs>
  <TitlesOfParts>
    <vt:vector size="47" baseType="lpstr">
      <vt:lpstr>阿里巴巴普惠体 M</vt:lpstr>
      <vt:lpstr>等线</vt:lpstr>
      <vt:lpstr>等线 Light</vt:lpstr>
      <vt:lpstr>方正粗黑宋简体</vt:lpstr>
      <vt:lpstr>汉仪菱心体简</vt:lpstr>
      <vt:lpstr>微软雅黑</vt:lpstr>
      <vt:lpstr>中山行书百年纪念版</vt:lpstr>
      <vt:lpstr>Arial</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黄 昊鸿</dc:creator>
  <cp:lastModifiedBy>覃 超伟</cp:lastModifiedBy>
  <cp:revision>42</cp:revision>
  <dcterms:created xsi:type="dcterms:W3CDTF">2019-11-07T14:28:00Z</dcterms:created>
  <dcterms:modified xsi:type="dcterms:W3CDTF">2020-12-29T12:22:33Z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2052-11.1.0.10228</vt:lpwstr>
  </property>
  <property fmtid="{D5CDD505-2E9C-101B-9397-08002B2CF9AE}" pid="3" name="KSOSaveFontToCloudKey">
    <vt:lpwstr>287344173_cloud</vt:lpwstr>
  </property>
</Properties>
</file>